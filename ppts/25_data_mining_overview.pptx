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Default Extension="jpg" ContentType="image/jpg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</p:sldIdLst>
  <p:sldSz cx="11531600" cy="6489700"/>
  <p:notesSz cx="11531600" cy="64897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64870" y="2011807"/>
            <a:ext cx="9801860" cy="13628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29740" y="3634232"/>
            <a:ext cx="8072120" cy="16224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85D60"/>
                </a:solidFill>
                <a:latin typeface="Arial"/>
                <a:cs typeface="Arial"/>
              </a:defRPr>
            </a:lvl1pPr>
          </a:lstStyle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5"/>
              <a:t>#</a:t>
            </a:fld>
            <a:r>
              <a:rPr dirty="0" spc="5"/>
              <a:t> </a:t>
            </a:r>
            <a:r>
              <a:rPr dirty="0" spc="160"/>
              <a:t>/</a:t>
            </a:r>
            <a:r>
              <a:rPr dirty="0" spc="-165"/>
              <a:t> </a:t>
            </a:r>
            <a:r>
              <a:rPr dirty="0" spc="5"/>
              <a:t>33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C2132D"/>
                </a:solidFill>
                <a:latin typeface="Courier New"/>
                <a:cs typeface="Courier New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585D60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85D60"/>
                </a:solidFill>
                <a:latin typeface="Arial"/>
                <a:cs typeface="Arial"/>
              </a:defRPr>
            </a:lvl1pPr>
          </a:lstStyle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5"/>
              <a:t>#</a:t>
            </a:fld>
            <a:r>
              <a:rPr dirty="0" spc="5"/>
              <a:t> </a:t>
            </a:r>
            <a:r>
              <a:rPr dirty="0" spc="160"/>
              <a:t>/</a:t>
            </a:r>
            <a:r>
              <a:rPr dirty="0" spc="-165"/>
              <a:t> </a:t>
            </a:r>
            <a:r>
              <a:rPr dirty="0" spc="5"/>
              <a:t>33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C2132D"/>
                </a:solidFill>
                <a:latin typeface="Courier New"/>
                <a:cs typeface="Courier New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76580" y="1492631"/>
            <a:ext cx="5016246" cy="42832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938774" y="1492631"/>
            <a:ext cx="5016246" cy="42832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85D60"/>
                </a:solidFill>
                <a:latin typeface="Arial"/>
                <a:cs typeface="Arial"/>
              </a:defRPr>
            </a:lvl1pPr>
          </a:lstStyle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5"/>
              <a:t>#</a:t>
            </a:fld>
            <a:r>
              <a:rPr dirty="0" spc="5"/>
              <a:t> </a:t>
            </a:r>
            <a:r>
              <a:rPr dirty="0" spc="160"/>
              <a:t>/</a:t>
            </a:r>
            <a:r>
              <a:rPr dirty="0" spc="-165"/>
              <a:t> </a:t>
            </a:r>
            <a:r>
              <a:rPr dirty="0" spc="5"/>
              <a:t>33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1525250" cy="6486525"/>
          </a:xfrm>
          <a:custGeom>
            <a:avLst/>
            <a:gdLst/>
            <a:ahLst/>
            <a:cxnLst/>
            <a:rect l="l" t="t" r="r" b="b"/>
            <a:pathLst>
              <a:path w="11525250" h="6486525">
                <a:moveTo>
                  <a:pt x="0" y="0"/>
                </a:moveTo>
                <a:lnTo>
                  <a:pt x="11525249" y="0"/>
                </a:lnTo>
                <a:lnTo>
                  <a:pt x="11525249" y="6486524"/>
                </a:lnTo>
                <a:lnTo>
                  <a:pt x="0" y="6486524"/>
                </a:lnTo>
                <a:lnTo>
                  <a:pt x="0" y="0"/>
                </a:lnTo>
                <a:close/>
              </a:path>
            </a:pathLst>
          </a:custGeom>
          <a:solidFill>
            <a:srgbClr val="C21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C2132D"/>
                </a:solidFill>
                <a:latin typeface="Courier New"/>
                <a:cs typeface="Courier New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85D60"/>
                </a:solidFill>
                <a:latin typeface="Arial"/>
                <a:cs typeface="Arial"/>
              </a:defRPr>
            </a:lvl1pPr>
          </a:lstStyle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5"/>
              <a:t>#</a:t>
            </a:fld>
            <a:r>
              <a:rPr dirty="0" spc="5"/>
              <a:t> </a:t>
            </a:r>
            <a:r>
              <a:rPr dirty="0" spc="160"/>
              <a:t>/</a:t>
            </a:r>
            <a:r>
              <a:rPr dirty="0" spc="-165"/>
              <a:t> </a:t>
            </a:r>
            <a:r>
              <a:rPr dirty="0" spc="5"/>
              <a:t>33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1525250" cy="6486525"/>
          </a:xfrm>
          <a:custGeom>
            <a:avLst/>
            <a:gdLst/>
            <a:ahLst/>
            <a:cxnLst/>
            <a:rect l="l" t="t" r="r" b="b"/>
            <a:pathLst>
              <a:path w="11525250" h="6486525">
                <a:moveTo>
                  <a:pt x="0" y="0"/>
                </a:moveTo>
                <a:lnTo>
                  <a:pt x="11525249" y="0"/>
                </a:lnTo>
                <a:lnTo>
                  <a:pt x="11525249" y="6486524"/>
                </a:lnTo>
                <a:lnTo>
                  <a:pt x="0" y="6486524"/>
                </a:lnTo>
                <a:lnTo>
                  <a:pt x="0" y="0"/>
                </a:lnTo>
                <a:close/>
              </a:path>
            </a:pathLst>
          </a:custGeom>
          <a:solidFill>
            <a:srgbClr val="C21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694944" y="2502408"/>
            <a:ext cx="10137775" cy="1039494"/>
          </a:xfrm>
          <a:custGeom>
            <a:avLst/>
            <a:gdLst/>
            <a:ahLst/>
            <a:cxnLst/>
            <a:rect l="l" t="t" r="r" b="b"/>
            <a:pathLst>
              <a:path w="10137775" h="1039495">
                <a:moveTo>
                  <a:pt x="0" y="0"/>
                </a:moveTo>
                <a:lnTo>
                  <a:pt x="10137648" y="0"/>
                </a:lnTo>
                <a:lnTo>
                  <a:pt x="10137648" y="1039368"/>
                </a:lnTo>
                <a:lnTo>
                  <a:pt x="0" y="103936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k object 18"/>
          <p:cNvSpPr/>
          <p:nvPr/>
        </p:nvSpPr>
        <p:spPr>
          <a:xfrm>
            <a:off x="3011424" y="3023616"/>
            <a:ext cx="5480685" cy="1039494"/>
          </a:xfrm>
          <a:custGeom>
            <a:avLst/>
            <a:gdLst/>
            <a:ahLst/>
            <a:cxnLst/>
            <a:rect l="l" t="t" r="r" b="b"/>
            <a:pathLst>
              <a:path w="5480684" h="1039495">
                <a:moveTo>
                  <a:pt x="0" y="0"/>
                </a:moveTo>
                <a:lnTo>
                  <a:pt x="5480304" y="0"/>
                </a:lnTo>
                <a:lnTo>
                  <a:pt x="5480304" y="1039368"/>
                </a:lnTo>
                <a:lnTo>
                  <a:pt x="0" y="103936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85D60"/>
                </a:solidFill>
                <a:latin typeface="Arial"/>
                <a:cs typeface="Arial"/>
              </a:defRPr>
            </a:lvl1pPr>
          </a:lstStyle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5"/>
              <a:t>#</a:t>
            </a:fld>
            <a:r>
              <a:rPr dirty="0" spc="5"/>
              <a:t> </a:t>
            </a:r>
            <a:r>
              <a:rPr dirty="0" spc="160"/>
              <a:t>/</a:t>
            </a:r>
            <a:r>
              <a:rPr dirty="0" spc="-165"/>
              <a:t> </a:t>
            </a:r>
            <a:r>
              <a:rPr dirty="0" spc="5"/>
              <a:t>33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39052" y="320675"/>
            <a:ext cx="10653494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C2132D"/>
                </a:solidFill>
                <a:latin typeface="Courier New"/>
                <a:cs typeface="Courier New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37855" y="2080895"/>
            <a:ext cx="9655889" cy="37115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585D60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920744" y="6035421"/>
            <a:ext cx="3690112" cy="3244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76580" y="6035421"/>
            <a:ext cx="2652268" cy="3244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0853587" y="6218137"/>
            <a:ext cx="532129" cy="204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585D60"/>
                </a:solidFill>
                <a:latin typeface="Arial"/>
                <a:cs typeface="Arial"/>
              </a:defRPr>
            </a:lvl1pPr>
          </a:lstStyle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5"/>
              <a:t>#</a:t>
            </a:fld>
            <a:r>
              <a:rPr dirty="0" spc="5"/>
              <a:t> </a:t>
            </a:r>
            <a:r>
              <a:rPr dirty="0" spc="160"/>
              <a:t>/</a:t>
            </a:r>
            <a:r>
              <a:rPr dirty="0" spc="-165"/>
              <a:t> </a:t>
            </a:r>
            <a:r>
              <a:rPr dirty="0" spc="5"/>
              <a:t>33</a:t>
            </a:r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twitter.com/FadelMegahed" TargetMode="External"/><Relationship Id="rId3" Type="http://schemas.openxmlformats.org/officeDocument/2006/relationships/hyperlink" Target="https://github.com/fmegahed/" TargetMode="External"/><Relationship Id="rId4" Type="http://schemas.openxmlformats.org/officeDocument/2006/relationships/hyperlink" Target="mailto:fmegahed@miamioh.edu" TargetMode="External"/><Relationship Id="rId5" Type="http://schemas.openxmlformats.org/officeDocument/2006/relationships/hyperlink" Target="https://calendly.com/fmegahed" TargetMode="External"/><Relationship Id="rId6" Type="http://schemas.openxmlformats.org/officeDocument/2006/relationships/image" Target="../media/image1.png"/><Relationship Id="rId7" Type="http://schemas.openxmlformats.org/officeDocument/2006/relationships/image" Target="../media/image2.png"/><Relationship Id="rId8" Type="http://schemas.openxmlformats.org/officeDocument/2006/relationships/image" Target="../media/image3.png"/><Relationship Id="rId9" Type="http://schemas.openxmlformats.org/officeDocument/2006/relationships/image" Target="../media/image4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cs246.stanford.edu/" TargetMode="Externa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jp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jp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jp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.jpg"/><Relationship Id="rId3" Type="http://schemas.openxmlformats.org/officeDocument/2006/relationships/image" Target="../media/image13.jp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4.jpg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5.png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cs.unibo.it/~danilo.montesi/CBD/Beatriz/10.1.1.198.5133.pdf" TargetMode="External"/><Relationship Id="rId3" Type="http://schemas.openxmlformats.org/officeDocument/2006/relationships/image" Target="../media/image16.jpg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mmds.org/" TargetMode="External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mmds.org/" TargetMode="External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mmds.org/" TargetMode="External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mmds.org/" TargetMode="External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mmds.org/" TargetMode="External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hyperlink" Target="http://www.mmds.org/" TargetMode="External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525250" cy="6486525"/>
          </a:xfrm>
          <a:custGeom>
            <a:avLst/>
            <a:gdLst/>
            <a:ahLst/>
            <a:cxnLst/>
            <a:rect l="l" t="t" r="r" b="b"/>
            <a:pathLst>
              <a:path w="11525250" h="6486525">
                <a:moveTo>
                  <a:pt x="0" y="0"/>
                </a:moveTo>
                <a:lnTo>
                  <a:pt x="11525249" y="0"/>
                </a:lnTo>
                <a:lnTo>
                  <a:pt x="11525249" y="6486524"/>
                </a:lnTo>
                <a:lnTo>
                  <a:pt x="0" y="6486524"/>
                </a:lnTo>
                <a:lnTo>
                  <a:pt x="0" y="0"/>
                </a:lnTo>
                <a:close/>
              </a:path>
            </a:pathLst>
          </a:custGeom>
          <a:solidFill>
            <a:srgbClr val="C21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01700" y="1198165"/>
            <a:ext cx="8618220" cy="1139190"/>
          </a:xfrm>
          <a:prstGeom prst="rect"/>
        </p:spPr>
        <p:txBody>
          <a:bodyPr wrap="square" lIns="0" tIns="908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dirty="0" sz="3350" spc="5">
                <a:solidFill>
                  <a:srgbClr val="FFFFFF"/>
                </a:solidFill>
                <a:latin typeface="Trebuchet MS"/>
                <a:cs typeface="Trebuchet MS"/>
              </a:rPr>
              <a:t>ISA </a:t>
            </a:r>
            <a:r>
              <a:rPr dirty="0" sz="3350" spc="-180">
                <a:solidFill>
                  <a:srgbClr val="FFFFFF"/>
                </a:solidFill>
                <a:latin typeface="Trebuchet MS"/>
                <a:cs typeface="Trebuchet MS"/>
              </a:rPr>
              <a:t>401: </a:t>
            </a:r>
            <a:r>
              <a:rPr dirty="0" sz="3350" spc="-45">
                <a:solidFill>
                  <a:srgbClr val="FFFFFF"/>
                </a:solidFill>
                <a:latin typeface="Trebuchet MS"/>
                <a:cs typeface="Trebuchet MS"/>
              </a:rPr>
              <a:t>Business </a:t>
            </a:r>
            <a:r>
              <a:rPr dirty="0" sz="3350" spc="-190">
                <a:solidFill>
                  <a:srgbClr val="FFFFFF"/>
                </a:solidFill>
                <a:latin typeface="Trebuchet MS"/>
                <a:cs typeface="Trebuchet MS"/>
              </a:rPr>
              <a:t>Intelligence </a:t>
            </a:r>
            <a:r>
              <a:rPr dirty="0" sz="3350" spc="-530">
                <a:solidFill>
                  <a:srgbClr val="FFFFFF"/>
                </a:solidFill>
                <a:latin typeface="Trebuchet MS"/>
                <a:cs typeface="Trebuchet MS"/>
              </a:rPr>
              <a:t>&amp; </a:t>
            </a:r>
            <a:r>
              <a:rPr dirty="0" sz="3350" spc="-190">
                <a:solidFill>
                  <a:srgbClr val="FFFFFF"/>
                </a:solidFill>
                <a:latin typeface="Trebuchet MS"/>
                <a:cs typeface="Trebuchet MS"/>
              </a:rPr>
              <a:t>Data</a:t>
            </a:r>
            <a:r>
              <a:rPr dirty="0" sz="3350" spc="-484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350" spc="-145">
                <a:solidFill>
                  <a:srgbClr val="FFFFFF"/>
                </a:solidFill>
                <a:latin typeface="Trebuchet MS"/>
                <a:cs typeface="Trebuchet MS"/>
              </a:rPr>
              <a:t>Visualization</a:t>
            </a:r>
            <a:endParaRPr sz="33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25: A Short Introduction to Exploratory Data</a:t>
            </a:r>
            <a:r>
              <a:rPr dirty="0" sz="3000" spc="-39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Mining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2873375"/>
            <a:ext cx="4276725" cy="33115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Fadel M. Megahed,</a:t>
            </a:r>
            <a:r>
              <a:rPr dirty="0" sz="185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50" spc="15">
                <a:solidFill>
                  <a:srgbClr val="FFFFFF"/>
                </a:solidFill>
                <a:latin typeface="Arial"/>
                <a:cs typeface="Arial"/>
              </a:rPr>
              <a:t>PhD</a:t>
            </a:r>
            <a:endParaRPr sz="1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800">
              <a:latin typeface="Arial"/>
              <a:cs typeface="Arial"/>
            </a:endParaRPr>
          </a:p>
          <a:p>
            <a:pPr marL="12700" marR="20320">
              <a:lnSpc>
                <a:spcPts val="2100"/>
              </a:lnSpc>
            </a:pPr>
            <a:r>
              <a:rPr dirty="0" sz="1850" spc="15">
                <a:solidFill>
                  <a:srgbClr val="FFFFFF"/>
                </a:solidFill>
                <a:latin typeface="Arial"/>
                <a:cs typeface="Arial"/>
              </a:rPr>
              <a:t>Raymond </a:t>
            </a: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E. Glos Professor </a:t>
            </a:r>
            <a:r>
              <a:rPr dirty="0" sz="1850" spc="5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dirty="0" sz="1850" spc="-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Business  Farmer School of</a:t>
            </a:r>
            <a:r>
              <a:rPr dirty="0" sz="185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Business</a:t>
            </a:r>
            <a:endParaRPr sz="1850">
              <a:latin typeface="Arial"/>
              <a:cs typeface="Arial"/>
            </a:endParaRPr>
          </a:p>
          <a:p>
            <a:pPr marL="12700">
              <a:lnSpc>
                <a:spcPts val="1975"/>
              </a:lnSpc>
            </a:pP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Miami</a:t>
            </a:r>
            <a:r>
              <a:rPr dirty="0" sz="18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University</a:t>
            </a:r>
            <a:endParaRPr sz="1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750">
              <a:latin typeface="Arial"/>
              <a:cs typeface="Arial"/>
            </a:endParaRPr>
          </a:p>
          <a:p>
            <a:pPr marL="309245" marR="1287145" indent="6985">
              <a:lnSpc>
                <a:spcPct val="103000"/>
              </a:lnSpc>
            </a:pPr>
            <a:r>
              <a:rPr dirty="0" sz="1850" spc="10">
                <a:solidFill>
                  <a:srgbClr val="83D5D3"/>
                </a:solidFill>
                <a:latin typeface="Arial"/>
                <a:cs typeface="Arial"/>
                <a:hlinkClick r:id="rId2"/>
              </a:rPr>
              <a:t>@FadelMegahed </a:t>
            </a:r>
            <a:r>
              <a:rPr dirty="0" sz="1850" spc="10">
                <a:solidFill>
                  <a:srgbClr val="83D5D3"/>
                </a:solidFill>
                <a:latin typeface="Arial"/>
                <a:cs typeface="Arial"/>
              </a:rPr>
              <a:t> </a:t>
            </a:r>
            <a:r>
              <a:rPr dirty="0" sz="1850" spc="10">
                <a:solidFill>
                  <a:srgbClr val="83D5D3"/>
                </a:solidFill>
                <a:latin typeface="Arial"/>
                <a:cs typeface="Arial"/>
                <a:hlinkClick r:id="rId3"/>
              </a:rPr>
              <a:t>fmegahed </a:t>
            </a:r>
            <a:r>
              <a:rPr dirty="0" sz="1850" spc="10">
                <a:solidFill>
                  <a:srgbClr val="83D5D3"/>
                </a:solidFill>
                <a:latin typeface="Arial"/>
                <a:cs typeface="Arial"/>
              </a:rPr>
              <a:t> </a:t>
            </a:r>
            <a:r>
              <a:rPr dirty="0" sz="1850" spc="10">
                <a:solidFill>
                  <a:srgbClr val="83D5D3"/>
                </a:solidFill>
                <a:latin typeface="Arial"/>
                <a:cs typeface="Arial"/>
                <a:hlinkClick r:id="rId4"/>
              </a:rPr>
              <a:t>fmegahed@miamioh.edu</a:t>
            </a:r>
            <a:endParaRPr sz="1850">
              <a:latin typeface="Arial"/>
              <a:cs typeface="Arial"/>
            </a:endParaRPr>
          </a:p>
          <a:p>
            <a:pPr marL="243840">
              <a:lnSpc>
                <a:spcPct val="100000"/>
              </a:lnSpc>
              <a:spcBef>
                <a:spcPts val="105"/>
              </a:spcBef>
            </a:pPr>
            <a:r>
              <a:rPr dirty="0" sz="1850" spc="10">
                <a:solidFill>
                  <a:srgbClr val="83D5D3"/>
                </a:solidFill>
                <a:latin typeface="Arial"/>
                <a:cs typeface="Arial"/>
                <a:hlinkClick r:id="rId5"/>
              </a:rPr>
              <a:t>Automated Scheduler </a:t>
            </a:r>
            <a:r>
              <a:rPr dirty="0" sz="1850" spc="5">
                <a:solidFill>
                  <a:srgbClr val="83D5D3"/>
                </a:solidFill>
                <a:latin typeface="Arial"/>
                <a:cs typeface="Arial"/>
                <a:hlinkClick r:id="rId5"/>
              </a:rPr>
              <a:t>for Office</a:t>
            </a:r>
            <a:r>
              <a:rPr dirty="0" sz="1850" spc="-20">
                <a:solidFill>
                  <a:srgbClr val="83D5D3"/>
                </a:solidFill>
                <a:latin typeface="Arial"/>
                <a:cs typeface="Arial"/>
                <a:hlinkClick r:id="rId5"/>
              </a:rPr>
              <a:t> </a:t>
            </a:r>
            <a:r>
              <a:rPr dirty="0" sz="1850" spc="10">
                <a:solidFill>
                  <a:srgbClr val="83D5D3"/>
                </a:solidFill>
                <a:latin typeface="Arial"/>
                <a:cs typeface="Arial"/>
                <a:hlinkClick r:id="rId5"/>
              </a:rPr>
              <a:t>Hours</a:t>
            </a:r>
            <a:endParaRPr sz="1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6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Fall</a:t>
            </a:r>
            <a:r>
              <a:rPr dirty="0" sz="18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2025</a:t>
            </a:r>
            <a:endParaRPr sz="185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14400" y="4537212"/>
            <a:ext cx="238124" cy="1934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914400" y="4804320"/>
            <a:ext cx="230683" cy="2258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14429" y="5095881"/>
            <a:ext cx="237909" cy="23782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924888" y="5381624"/>
            <a:ext cx="165083" cy="23812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20700"/>
            <a:ext cx="8194040" cy="6540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4100" spc="-40">
                <a:latin typeface="Trebuchet MS"/>
                <a:cs typeface="Trebuchet MS"/>
              </a:rPr>
              <a:t>A </a:t>
            </a:r>
            <a:r>
              <a:rPr dirty="0" sz="4100" spc="-215">
                <a:latin typeface="Trebuchet MS"/>
                <a:cs typeface="Trebuchet MS"/>
              </a:rPr>
              <a:t>Recap </a:t>
            </a:r>
            <a:r>
              <a:rPr dirty="0" sz="4100" spc="-170">
                <a:latin typeface="Trebuchet MS"/>
                <a:cs typeface="Trebuchet MS"/>
              </a:rPr>
              <a:t>of </a:t>
            </a:r>
            <a:r>
              <a:rPr dirty="0" sz="4100" spc="-300">
                <a:latin typeface="Trebuchet MS"/>
                <a:cs typeface="Trebuchet MS"/>
              </a:rPr>
              <a:t>What </a:t>
            </a:r>
            <a:r>
              <a:rPr dirty="0" sz="4100" spc="-340">
                <a:latin typeface="Trebuchet MS"/>
                <a:cs typeface="Trebuchet MS"/>
              </a:rPr>
              <a:t>we </a:t>
            </a:r>
            <a:r>
              <a:rPr dirty="0" sz="4100" spc="-245">
                <a:latin typeface="Trebuchet MS"/>
                <a:cs typeface="Trebuchet MS"/>
              </a:rPr>
              <a:t>Learned </a:t>
            </a:r>
            <a:r>
              <a:rPr dirty="0" sz="4100" spc="-120">
                <a:latin typeface="Trebuchet MS"/>
                <a:cs typeface="Trebuchet MS"/>
              </a:rPr>
              <a:t>Last</a:t>
            </a:r>
            <a:r>
              <a:rPr dirty="0" sz="4100" spc="-760">
                <a:latin typeface="Trebuchet MS"/>
                <a:cs typeface="Trebuchet MS"/>
              </a:rPr>
              <a:t> </a:t>
            </a:r>
            <a:r>
              <a:rPr dirty="0" sz="4100" spc="-310">
                <a:latin typeface="Trebuchet MS"/>
                <a:cs typeface="Trebuchet MS"/>
              </a:rPr>
              <a:t>Week</a:t>
            </a:r>
            <a:endParaRPr sz="41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8754" y="1530350"/>
            <a:ext cx="5142230" cy="16046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 indent="-133985">
              <a:lnSpc>
                <a:spcPct val="100000"/>
              </a:lnSpc>
              <a:spcBef>
                <a:spcPts val="100"/>
              </a:spcBef>
              <a:buClr>
                <a:srgbClr val="C2132D"/>
              </a:buClr>
              <a:buFont typeface="Trebuchet MS"/>
              <a:buChar char="•"/>
              <a:tabLst>
                <a:tab pos="146685" algn="l"/>
              </a:tabLst>
            </a:pPr>
            <a:r>
              <a:rPr dirty="0" sz="1800" spc="-25">
                <a:solidFill>
                  <a:srgbClr val="585D60"/>
                </a:solidFill>
                <a:latin typeface="Arial"/>
                <a:cs typeface="Arial"/>
              </a:rPr>
              <a:t>Define a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“business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report” </a:t>
            </a:r>
            <a:r>
              <a:rPr dirty="0" sz="1800" spc="-85">
                <a:solidFill>
                  <a:srgbClr val="585D60"/>
                </a:solidFill>
                <a:latin typeface="Arial"/>
                <a:cs typeface="Arial"/>
              </a:rPr>
              <a:t>&amp; </a:t>
            </a:r>
            <a:r>
              <a:rPr dirty="0" sz="1800" spc="50">
                <a:solidFill>
                  <a:srgbClr val="585D60"/>
                </a:solidFill>
                <a:latin typeface="Arial"/>
                <a:cs typeface="Arial"/>
              </a:rPr>
              <a:t>its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main</a:t>
            </a:r>
            <a:r>
              <a:rPr dirty="0" sz="1800" spc="-33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5">
                <a:solidFill>
                  <a:srgbClr val="585D60"/>
                </a:solidFill>
                <a:latin typeface="Arial"/>
                <a:cs typeface="Arial"/>
              </a:rPr>
              <a:t>functions</a:t>
            </a:r>
            <a:endParaRPr sz="1800">
              <a:latin typeface="Arial"/>
              <a:cs typeface="Arial"/>
            </a:endParaRPr>
          </a:p>
          <a:p>
            <a:pPr marL="14605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Font typeface="Trebuchet MS"/>
              <a:buChar char="•"/>
              <a:tabLst>
                <a:tab pos="146685" algn="l"/>
              </a:tabLst>
            </a:pP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Understand</a:t>
            </a:r>
            <a:r>
              <a:rPr dirty="0" sz="1800" spc="-6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5">
                <a:solidFill>
                  <a:srgbClr val="585D60"/>
                </a:solidFill>
                <a:latin typeface="Arial"/>
                <a:cs typeface="Arial"/>
              </a:rPr>
              <a:t>importance</a:t>
            </a:r>
            <a:r>
              <a:rPr dirty="0" sz="1800" spc="-6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Arial"/>
                <a:cs typeface="Arial"/>
              </a:rPr>
              <a:t>of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5">
                <a:solidFill>
                  <a:srgbClr val="585D60"/>
                </a:solidFill>
                <a:latin typeface="Arial"/>
                <a:cs typeface="Arial"/>
              </a:rPr>
              <a:t>right</a:t>
            </a:r>
            <a:r>
              <a:rPr dirty="0" sz="1800" spc="-6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30">
                <a:solidFill>
                  <a:srgbClr val="585D60"/>
                </a:solidFill>
                <a:latin typeface="Arial"/>
                <a:cs typeface="Arial"/>
              </a:rPr>
              <a:t>KPIs</a:t>
            </a:r>
            <a:endParaRPr sz="1800">
              <a:latin typeface="Arial"/>
              <a:cs typeface="Arial"/>
            </a:endParaRPr>
          </a:p>
          <a:p>
            <a:pPr marL="146050" indent="-133985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Font typeface="Trebuchet MS"/>
              <a:buChar char="•"/>
              <a:tabLst>
                <a:tab pos="146685" algn="l"/>
              </a:tabLst>
            </a:pP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Automate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traditional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business</a:t>
            </a:r>
            <a:r>
              <a:rPr dirty="0" sz="1800" spc="-204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reports</a:t>
            </a:r>
            <a:endParaRPr sz="1800">
              <a:latin typeface="Arial"/>
              <a:cs typeface="Arial"/>
            </a:endParaRPr>
          </a:p>
          <a:p>
            <a:pPr marL="14605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Font typeface="Trebuchet MS"/>
              <a:buChar char="•"/>
              <a:tabLst>
                <a:tab pos="146685" algn="l"/>
              </a:tabLst>
            </a:pP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Dashboards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as real-time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business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reporting</a:t>
            </a:r>
            <a:r>
              <a:rPr dirty="0" sz="1800" spc="-254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5">
                <a:solidFill>
                  <a:srgbClr val="585D60"/>
                </a:solidFill>
                <a:latin typeface="Arial"/>
                <a:cs typeface="Arial"/>
              </a:rPr>
              <a:t>tools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964712" y="6207124"/>
            <a:ext cx="4210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5">
                <a:solidFill>
                  <a:srgbClr val="585D60"/>
                </a:solidFill>
                <a:latin typeface="Arial"/>
                <a:cs typeface="Arial"/>
              </a:rPr>
              <a:t>2 </a:t>
            </a:r>
            <a:r>
              <a:rPr dirty="0" sz="1200" spc="160">
                <a:solidFill>
                  <a:srgbClr val="585D60"/>
                </a:solidFill>
                <a:latin typeface="Arial"/>
                <a:cs typeface="Arial"/>
              </a:rPr>
              <a:t>/</a:t>
            </a:r>
            <a:r>
              <a:rPr dirty="0" sz="1200" spc="-16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585D60"/>
                </a:solidFill>
                <a:latin typeface="Arial"/>
                <a:cs typeface="Arial"/>
              </a:rPr>
              <a:t>33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20700"/>
            <a:ext cx="6960870" cy="6540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4100" spc="-155">
                <a:latin typeface="Trebuchet MS"/>
                <a:cs typeface="Trebuchet MS"/>
              </a:rPr>
              <a:t>Course </a:t>
            </a:r>
            <a:r>
              <a:rPr dirty="0" sz="4100" spc="-254">
                <a:latin typeface="Trebuchet MS"/>
                <a:cs typeface="Trebuchet MS"/>
              </a:rPr>
              <a:t>Objectives Covered </a:t>
            </a:r>
            <a:r>
              <a:rPr dirty="0" sz="4100" spc="45">
                <a:latin typeface="Trebuchet MS"/>
                <a:cs typeface="Trebuchet MS"/>
              </a:rPr>
              <a:t>so</a:t>
            </a:r>
            <a:r>
              <a:rPr dirty="0" sz="4100" spc="-520">
                <a:latin typeface="Trebuchet MS"/>
                <a:cs typeface="Trebuchet MS"/>
              </a:rPr>
              <a:t> </a:t>
            </a:r>
            <a:r>
              <a:rPr dirty="0" sz="4100" spc="-254">
                <a:latin typeface="Trebuchet MS"/>
                <a:cs typeface="Trebuchet MS"/>
              </a:rPr>
              <a:t>Far</a:t>
            </a:r>
            <a:endParaRPr sz="41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1700" y="1480819"/>
            <a:ext cx="9702800" cy="4435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 marR="252095">
              <a:lnSpc>
                <a:spcPct val="116300"/>
              </a:lnSpc>
              <a:spcBef>
                <a:spcPts val="135"/>
              </a:spcBef>
            </a:pPr>
            <a:r>
              <a:rPr dirty="0" sz="1800" spc="-30">
                <a:solidFill>
                  <a:srgbClr val="585D60"/>
                </a:solidFill>
                <a:latin typeface="Arial"/>
                <a:cs typeface="Arial"/>
              </a:rPr>
              <a:t>[Y]ou </a:t>
            </a:r>
            <a:r>
              <a:rPr dirty="0" sz="1800" spc="40">
                <a:solidFill>
                  <a:srgbClr val="585D60"/>
                </a:solidFill>
                <a:latin typeface="Arial"/>
                <a:cs typeface="Arial"/>
              </a:rPr>
              <a:t>will </a:t>
            </a:r>
            <a:r>
              <a:rPr dirty="0" sz="1800" spc="-20">
                <a:solidFill>
                  <a:srgbClr val="585D60"/>
                </a:solidFill>
                <a:latin typeface="Arial"/>
                <a:cs typeface="Arial"/>
              </a:rPr>
              <a:t>be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re-introduced </a:t>
            </a:r>
            <a:r>
              <a:rPr dirty="0" sz="1800" spc="45">
                <a:solidFill>
                  <a:srgbClr val="585D60"/>
                </a:solidFill>
                <a:latin typeface="Arial"/>
                <a:cs typeface="Arial"/>
              </a:rPr>
              <a:t>to </a:t>
            </a:r>
            <a:r>
              <a:rPr dirty="0" sz="1800" spc="-55" b="1">
                <a:solidFill>
                  <a:srgbClr val="C2132D"/>
                </a:solidFill>
                <a:latin typeface="Trebuchet MS"/>
                <a:cs typeface="Trebuchet MS"/>
              </a:rPr>
              <a:t>how </a:t>
            </a:r>
            <a:r>
              <a:rPr dirty="0" sz="1800" spc="-35" b="1">
                <a:solidFill>
                  <a:srgbClr val="C2132D"/>
                </a:solidFill>
                <a:latin typeface="Trebuchet MS"/>
                <a:cs typeface="Trebuchet MS"/>
              </a:rPr>
              <a:t>data </a:t>
            </a:r>
            <a:r>
              <a:rPr dirty="0" sz="1800" spc="-10" b="1">
                <a:solidFill>
                  <a:srgbClr val="C2132D"/>
                </a:solidFill>
                <a:latin typeface="Trebuchet MS"/>
                <a:cs typeface="Trebuchet MS"/>
              </a:rPr>
              <a:t>should </a:t>
            </a:r>
            <a:r>
              <a:rPr dirty="0" sz="1800" spc="-50" b="1">
                <a:solidFill>
                  <a:srgbClr val="C2132D"/>
                </a:solidFill>
                <a:latin typeface="Trebuchet MS"/>
                <a:cs typeface="Trebuchet MS"/>
              </a:rPr>
              <a:t>be </a:t>
            </a:r>
            <a:r>
              <a:rPr dirty="0" sz="1800" spc="-60" b="1">
                <a:solidFill>
                  <a:srgbClr val="C2132D"/>
                </a:solidFill>
                <a:latin typeface="Trebuchet MS"/>
                <a:cs typeface="Trebuchet MS"/>
              </a:rPr>
              <a:t>explored </a:t>
            </a:r>
            <a:r>
              <a:rPr dirty="0" sz="1800" spc="-30">
                <a:solidFill>
                  <a:srgbClr val="585D60"/>
                </a:solidFill>
                <a:latin typeface="Arial"/>
                <a:cs typeface="Arial"/>
              </a:rPr>
              <a:t>... </a:t>
            </a:r>
            <a:r>
              <a:rPr dirty="0" sz="1800" spc="-15">
                <a:solidFill>
                  <a:srgbClr val="585D60"/>
                </a:solidFill>
                <a:latin typeface="Arial"/>
                <a:cs typeface="Arial"/>
              </a:rPr>
              <a:t>Instead,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 </a:t>
            </a:r>
            <a:r>
              <a:rPr dirty="0" sz="1800" spc="40">
                <a:solidFill>
                  <a:srgbClr val="585D60"/>
                </a:solidFill>
                <a:latin typeface="Arial"/>
                <a:cs typeface="Arial"/>
              </a:rPr>
              <a:t>focus </a:t>
            </a:r>
            <a:r>
              <a:rPr dirty="0" sz="1800" spc="30">
                <a:solidFill>
                  <a:srgbClr val="585D60"/>
                </a:solidFill>
                <a:latin typeface="Arial"/>
                <a:cs typeface="Arial"/>
              </a:rPr>
              <a:t>is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on  understanding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underlying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methodology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and </a:t>
            </a:r>
            <a:r>
              <a:rPr dirty="0" sz="1800" spc="25">
                <a:solidFill>
                  <a:srgbClr val="585D60"/>
                </a:solidFill>
                <a:latin typeface="Arial"/>
                <a:cs typeface="Arial"/>
              </a:rPr>
              <a:t>mindset </a:t>
            </a:r>
            <a:r>
              <a:rPr dirty="0" sz="1800" spc="75">
                <a:solidFill>
                  <a:srgbClr val="585D60"/>
                </a:solidFill>
                <a:latin typeface="Arial"/>
                <a:cs typeface="Arial"/>
              </a:rPr>
              <a:t>of </a:t>
            </a:r>
            <a:r>
              <a:rPr dirty="0" sz="1800" spc="-55" b="1">
                <a:solidFill>
                  <a:srgbClr val="C2132D"/>
                </a:solidFill>
                <a:latin typeface="Trebuchet MS"/>
                <a:cs typeface="Trebuchet MS"/>
              </a:rPr>
              <a:t>how </a:t>
            </a:r>
            <a:r>
              <a:rPr dirty="0" sz="1800" spc="-35" b="1">
                <a:solidFill>
                  <a:srgbClr val="C2132D"/>
                </a:solidFill>
                <a:latin typeface="Trebuchet MS"/>
                <a:cs typeface="Trebuchet MS"/>
              </a:rPr>
              <a:t>data </a:t>
            </a:r>
            <a:r>
              <a:rPr dirty="0" sz="1800" spc="-10" b="1">
                <a:solidFill>
                  <a:srgbClr val="C2132D"/>
                </a:solidFill>
                <a:latin typeface="Trebuchet MS"/>
                <a:cs typeface="Trebuchet MS"/>
              </a:rPr>
              <a:t>should </a:t>
            </a:r>
            <a:r>
              <a:rPr dirty="0" sz="1800" spc="-50" b="1">
                <a:solidFill>
                  <a:srgbClr val="C2132D"/>
                </a:solidFill>
                <a:latin typeface="Trebuchet MS"/>
                <a:cs typeface="Trebuchet MS"/>
              </a:rPr>
              <a:t>be </a:t>
            </a:r>
            <a:r>
              <a:rPr dirty="0" sz="1800" spc="-55" b="1">
                <a:solidFill>
                  <a:srgbClr val="C2132D"/>
                </a:solidFill>
                <a:latin typeface="Trebuchet MS"/>
                <a:cs typeface="Trebuchet MS"/>
              </a:rPr>
              <a:t>approached,  </a:t>
            </a:r>
            <a:r>
              <a:rPr dirty="0" sz="1800" spc="-65" b="1">
                <a:solidFill>
                  <a:srgbClr val="C2132D"/>
                </a:solidFill>
                <a:latin typeface="Trebuchet MS"/>
                <a:cs typeface="Trebuchet MS"/>
              </a:rPr>
              <a:t>handled,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80" b="1">
                <a:solidFill>
                  <a:srgbClr val="C2132D"/>
                </a:solidFill>
                <a:latin typeface="Trebuchet MS"/>
                <a:cs typeface="Trebuchet MS"/>
              </a:rPr>
              <a:t>explored,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30" b="1">
                <a:solidFill>
                  <a:srgbClr val="C2132D"/>
                </a:solidFill>
                <a:latin typeface="Trebuchet MS"/>
                <a:cs typeface="Trebuchet MS"/>
              </a:rPr>
              <a:t>and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50" b="1">
                <a:solidFill>
                  <a:srgbClr val="C2132D"/>
                </a:solidFill>
                <a:latin typeface="Trebuchet MS"/>
                <a:cs typeface="Trebuchet MS"/>
              </a:rPr>
              <a:t>incorporated</a:t>
            </a:r>
            <a:r>
              <a:rPr dirty="0" sz="1800" spc="-8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10" b="1">
                <a:solidFill>
                  <a:srgbClr val="C2132D"/>
                </a:solidFill>
                <a:latin typeface="Trebuchet MS"/>
                <a:cs typeface="Trebuchet MS"/>
              </a:rPr>
              <a:t>back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65" b="1">
                <a:solidFill>
                  <a:srgbClr val="C2132D"/>
                </a:solidFill>
                <a:latin typeface="Trebuchet MS"/>
                <a:cs typeface="Trebuchet MS"/>
              </a:rPr>
              <a:t>into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80" b="1">
                <a:solidFill>
                  <a:srgbClr val="C2132D"/>
                </a:solidFill>
                <a:latin typeface="Trebuchet MS"/>
                <a:cs typeface="Trebuchet MS"/>
              </a:rPr>
              <a:t>the</a:t>
            </a:r>
            <a:r>
              <a:rPr dirty="0" sz="1800" spc="-8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25" b="1">
                <a:solidFill>
                  <a:srgbClr val="C2132D"/>
                </a:solidFill>
                <a:latin typeface="Trebuchet MS"/>
                <a:cs typeface="Trebuchet MS"/>
              </a:rPr>
              <a:t>domain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15" b="1">
                <a:solidFill>
                  <a:srgbClr val="C2132D"/>
                </a:solidFill>
                <a:latin typeface="Trebuchet MS"/>
                <a:cs typeface="Trebuchet MS"/>
              </a:rPr>
              <a:t>of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65" b="1">
                <a:solidFill>
                  <a:srgbClr val="C2132D"/>
                </a:solidFill>
                <a:latin typeface="Trebuchet MS"/>
                <a:cs typeface="Trebuchet MS"/>
              </a:rPr>
              <a:t>interest.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30">
                <a:solidFill>
                  <a:srgbClr val="585D60"/>
                </a:solidFill>
                <a:latin typeface="Arial"/>
                <a:cs typeface="Arial"/>
              </a:rPr>
              <a:t>...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You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30">
                <a:solidFill>
                  <a:srgbClr val="585D60"/>
                </a:solidFill>
                <a:latin typeface="Arial"/>
                <a:cs typeface="Arial"/>
              </a:rPr>
              <a:t>are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expected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to:</a:t>
            </a:r>
            <a:endParaRPr sz="1800">
              <a:latin typeface="Arial"/>
              <a:cs typeface="Arial"/>
            </a:endParaRPr>
          </a:p>
          <a:p>
            <a:pPr marL="327660" marR="15240" indent="-57785">
              <a:lnSpc>
                <a:spcPct val="114599"/>
              </a:lnSpc>
              <a:spcBef>
                <a:spcPts val="975"/>
              </a:spcBef>
            </a:pPr>
            <a:r>
              <a:rPr dirty="0" sz="1800" spc="5" b="1">
                <a:solidFill>
                  <a:srgbClr val="008000"/>
                </a:solidFill>
                <a:latin typeface="Trebuchet MS"/>
                <a:cs typeface="Trebuchet MS"/>
              </a:rPr>
              <a:t>Be</a:t>
            </a:r>
            <a:r>
              <a:rPr dirty="0" sz="1800" spc="-85" b="1">
                <a:solidFill>
                  <a:srgbClr val="008000"/>
                </a:solidFill>
                <a:latin typeface="Trebuchet MS"/>
                <a:cs typeface="Trebuchet MS"/>
              </a:rPr>
              <a:t> </a:t>
            </a:r>
            <a:r>
              <a:rPr dirty="0" sz="1800" spc="-25" b="1">
                <a:solidFill>
                  <a:srgbClr val="008000"/>
                </a:solidFill>
                <a:latin typeface="Trebuchet MS"/>
                <a:cs typeface="Trebuchet MS"/>
              </a:rPr>
              <a:t>capable</a:t>
            </a:r>
            <a:r>
              <a:rPr dirty="0" sz="1800" spc="-85" b="1">
                <a:solidFill>
                  <a:srgbClr val="008000"/>
                </a:solidFill>
                <a:latin typeface="Trebuchet MS"/>
                <a:cs typeface="Trebuchet MS"/>
              </a:rPr>
              <a:t> </a:t>
            </a:r>
            <a:r>
              <a:rPr dirty="0" sz="1800" spc="-15" b="1">
                <a:solidFill>
                  <a:srgbClr val="008000"/>
                </a:solidFill>
                <a:latin typeface="Trebuchet MS"/>
                <a:cs typeface="Trebuchet MS"/>
              </a:rPr>
              <a:t>of</a:t>
            </a:r>
            <a:r>
              <a:rPr dirty="0" sz="1800" spc="-85" b="1">
                <a:solidFill>
                  <a:srgbClr val="008000"/>
                </a:solidFill>
                <a:latin typeface="Trebuchet MS"/>
                <a:cs typeface="Trebuchet MS"/>
              </a:rPr>
              <a:t> </a:t>
            </a:r>
            <a:r>
              <a:rPr dirty="0" sz="1800" spc="-65" b="1">
                <a:solidFill>
                  <a:srgbClr val="008000"/>
                </a:solidFill>
                <a:latin typeface="Trebuchet MS"/>
                <a:cs typeface="Trebuchet MS"/>
              </a:rPr>
              <a:t>extracting,</a:t>
            </a:r>
            <a:r>
              <a:rPr dirty="0" sz="1800" spc="-85" b="1">
                <a:solidFill>
                  <a:srgbClr val="008000"/>
                </a:solidFill>
                <a:latin typeface="Trebuchet MS"/>
                <a:cs typeface="Trebuchet MS"/>
              </a:rPr>
              <a:t> </a:t>
            </a:r>
            <a:r>
              <a:rPr dirty="0" sz="1800" spc="-25" b="1">
                <a:solidFill>
                  <a:srgbClr val="008000"/>
                </a:solidFill>
                <a:latin typeface="Trebuchet MS"/>
                <a:cs typeface="Trebuchet MS"/>
              </a:rPr>
              <a:t>transforming</a:t>
            </a:r>
            <a:r>
              <a:rPr dirty="0" sz="1800" spc="-85" b="1">
                <a:solidFill>
                  <a:srgbClr val="008000"/>
                </a:solidFill>
                <a:latin typeface="Trebuchet MS"/>
                <a:cs typeface="Trebuchet MS"/>
              </a:rPr>
              <a:t> </a:t>
            </a:r>
            <a:r>
              <a:rPr dirty="0" sz="1800" spc="-30" b="1">
                <a:solidFill>
                  <a:srgbClr val="008000"/>
                </a:solidFill>
                <a:latin typeface="Trebuchet MS"/>
                <a:cs typeface="Trebuchet MS"/>
              </a:rPr>
              <a:t>and</a:t>
            </a:r>
            <a:r>
              <a:rPr dirty="0" sz="1800" spc="-85" b="1">
                <a:solidFill>
                  <a:srgbClr val="008000"/>
                </a:solidFill>
                <a:latin typeface="Trebuchet MS"/>
                <a:cs typeface="Trebuchet MS"/>
              </a:rPr>
              <a:t> </a:t>
            </a:r>
            <a:r>
              <a:rPr dirty="0" sz="1800" spc="-15" b="1">
                <a:solidFill>
                  <a:srgbClr val="008000"/>
                </a:solidFill>
                <a:latin typeface="Trebuchet MS"/>
                <a:cs typeface="Trebuchet MS"/>
              </a:rPr>
              <a:t>loading</a:t>
            </a:r>
            <a:r>
              <a:rPr dirty="0" sz="1800" spc="-85" b="1">
                <a:solidFill>
                  <a:srgbClr val="008000"/>
                </a:solidFill>
                <a:latin typeface="Trebuchet MS"/>
                <a:cs typeface="Trebuchet MS"/>
              </a:rPr>
              <a:t> </a:t>
            </a:r>
            <a:r>
              <a:rPr dirty="0" sz="1800" spc="-15" b="1">
                <a:solidFill>
                  <a:srgbClr val="008000"/>
                </a:solidFill>
                <a:latin typeface="Trebuchet MS"/>
                <a:cs typeface="Trebuchet MS"/>
              </a:rPr>
              <a:t>(ETL)</a:t>
            </a:r>
            <a:r>
              <a:rPr dirty="0" sz="1800" spc="-85" b="1">
                <a:solidFill>
                  <a:srgbClr val="008000"/>
                </a:solidFill>
                <a:latin typeface="Trebuchet MS"/>
                <a:cs typeface="Trebuchet MS"/>
              </a:rPr>
              <a:t> </a:t>
            </a:r>
            <a:r>
              <a:rPr dirty="0" sz="1800" spc="-35" b="1">
                <a:solidFill>
                  <a:srgbClr val="008000"/>
                </a:solidFill>
                <a:latin typeface="Trebuchet MS"/>
                <a:cs typeface="Trebuchet MS"/>
              </a:rPr>
              <a:t>data</a:t>
            </a:r>
            <a:r>
              <a:rPr dirty="0" sz="1800" spc="-85" b="1">
                <a:solidFill>
                  <a:srgbClr val="008000"/>
                </a:solidFill>
                <a:latin typeface="Trebuchet MS"/>
                <a:cs typeface="Trebuchet MS"/>
              </a:rPr>
              <a:t> </a:t>
            </a:r>
            <a:r>
              <a:rPr dirty="0" sz="1800" spc="20" b="1">
                <a:solidFill>
                  <a:srgbClr val="008000"/>
                </a:solidFill>
                <a:latin typeface="Trebuchet MS"/>
                <a:cs typeface="Trebuchet MS"/>
              </a:rPr>
              <a:t>using</a:t>
            </a:r>
            <a:r>
              <a:rPr dirty="0" sz="1800" spc="-85" b="1">
                <a:solidFill>
                  <a:srgbClr val="008000"/>
                </a:solidFill>
                <a:latin typeface="Trebuchet MS"/>
                <a:cs typeface="Trebuchet MS"/>
              </a:rPr>
              <a:t> </a:t>
            </a:r>
            <a:r>
              <a:rPr dirty="0" sz="1800" spc="-55" b="1">
                <a:solidFill>
                  <a:srgbClr val="008000"/>
                </a:solidFill>
                <a:latin typeface="Trebuchet MS"/>
                <a:cs typeface="Trebuchet MS"/>
              </a:rPr>
              <a:t>multiple</a:t>
            </a:r>
            <a:r>
              <a:rPr dirty="0" sz="1800" spc="-85" b="1">
                <a:solidFill>
                  <a:srgbClr val="008000"/>
                </a:solidFill>
                <a:latin typeface="Trebuchet MS"/>
                <a:cs typeface="Trebuchet MS"/>
              </a:rPr>
              <a:t> </a:t>
            </a:r>
            <a:r>
              <a:rPr dirty="0" sz="1800" spc="-20" b="1">
                <a:solidFill>
                  <a:srgbClr val="008000"/>
                </a:solidFill>
                <a:latin typeface="Trebuchet MS"/>
                <a:cs typeface="Trebuchet MS"/>
              </a:rPr>
              <a:t>platforms</a:t>
            </a:r>
            <a:r>
              <a:rPr dirty="0" sz="1800" spc="-85" b="1">
                <a:solidFill>
                  <a:srgbClr val="008000"/>
                </a:solidFill>
                <a:latin typeface="Trebuchet MS"/>
                <a:cs typeface="Trebuchet MS"/>
              </a:rPr>
              <a:t> </a:t>
            </a:r>
            <a:r>
              <a:rPr dirty="0" sz="1800" spc="-50" b="1">
                <a:solidFill>
                  <a:srgbClr val="008000"/>
                </a:solidFill>
                <a:latin typeface="Trebuchet MS"/>
                <a:cs typeface="Trebuchet MS"/>
              </a:rPr>
              <a:t>(e.g.  </a:t>
            </a:r>
            <a:r>
              <a:rPr dirty="0" sz="1800" spc="-90" b="1">
                <a:solidFill>
                  <a:srgbClr val="008000"/>
                </a:solidFill>
                <a:latin typeface="Trebuchet MS"/>
                <a:cs typeface="Trebuchet MS"/>
              </a:rPr>
              <a:t>&amp;</a:t>
            </a:r>
            <a:r>
              <a:rPr dirty="0" sz="1800" spc="-150" b="1">
                <a:solidFill>
                  <a:srgbClr val="008000"/>
                </a:solidFill>
                <a:latin typeface="Trebuchet MS"/>
                <a:cs typeface="Trebuchet MS"/>
              </a:rPr>
              <a:t> </a:t>
            </a:r>
            <a:r>
              <a:rPr dirty="0" sz="1800" spc="-55" b="1">
                <a:solidFill>
                  <a:srgbClr val="008000"/>
                </a:solidFill>
                <a:latin typeface="Trebuchet MS"/>
                <a:cs typeface="Trebuchet MS"/>
              </a:rPr>
              <a:t>Tableau).</a:t>
            </a:r>
            <a:endParaRPr sz="1800">
              <a:latin typeface="Trebuchet MS"/>
              <a:cs typeface="Trebuchet MS"/>
            </a:endParaRPr>
          </a:p>
          <a:p>
            <a:pPr marL="269875">
              <a:lnSpc>
                <a:spcPct val="100000"/>
              </a:lnSpc>
              <a:spcBef>
                <a:spcPts val="1290"/>
              </a:spcBef>
              <a:tabLst>
                <a:tab pos="1789430" algn="l"/>
              </a:tabLst>
            </a:pPr>
            <a:r>
              <a:rPr dirty="0" sz="1800" spc="-75" b="1">
                <a:solidFill>
                  <a:srgbClr val="008000"/>
                </a:solidFill>
                <a:latin typeface="Trebuchet MS"/>
                <a:cs typeface="Trebuchet MS"/>
              </a:rPr>
              <a:t>Write</a:t>
            </a:r>
            <a:r>
              <a:rPr dirty="0" sz="1800" spc="-95" b="1">
                <a:solidFill>
                  <a:srgbClr val="008000"/>
                </a:solidFill>
                <a:latin typeface="Trebuchet MS"/>
                <a:cs typeface="Trebuchet MS"/>
              </a:rPr>
              <a:t> </a:t>
            </a:r>
            <a:r>
              <a:rPr dirty="0" sz="1800" spc="15" b="1">
                <a:solidFill>
                  <a:srgbClr val="008000"/>
                </a:solidFill>
                <a:latin typeface="Trebuchet MS"/>
                <a:cs typeface="Trebuchet MS"/>
              </a:rPr>
              <a:t>basic	</a:t>
            </a:r>
            <a:r>
              <a:rPr dirty="0" sz="1800" b="1">
                <a:solidFill>
                  <a:srgbClr val="008000"/>
                </a:solidFill>
                <a:latin typeface="Trebuchet MS"/>
                <a:cs typeface="Trebuchet MS"/>
              </a:rPr>
              <a:t>scripts </a:t>
            </a:r>
            <a:r>
              <a:rPr dirty="0" sz="1800" spc="-70" b="1">
                <a:solidFill>
                  <a:srgbClr val="008000"/>
                </a:solidFill>
                <a:latin typeface="Trebuchet MS"/>
                <a:cs typeface="Trebuchet MS"/>
              </a:rPr>
              <a:t>to </a:t>
            </a:r>
            <a:r>
              <a:rPr dirty="0" sz="1800" spc="-20" b="1">
                <a:solidFill>
                  <a:srgbClr val="008000"/>
                </a:solidFill>
                <a:latin typeface="Trebuchet MS"/>
                <a:cs typeface="Trebuchet MS"/>
              </a:rPr>
              <a:t>preprocess </a:t>
            </a:r>
            <a:r>
              <a:rPr dirty="0" sz="1800" spc="-30" b="1">
                <a:solidFill>
                  <a:srgbClr val="008000"/>
                </a:solidFill>
                <a:latin typeface="Trebuchet MS"/>
                <a:cs typeface="Trebuchet MS"/>
              </a:rPr>
              <a:t>and clean</a:t>
            </a:r>
            <a:r>
              <a:rPr dirty="0" sz="1800" spc="-375" b="1">
                <a:solidFill>
                  <a:srgbClr val="008000"/>
                </a:solidFill>
                <a:latin typeface="Trebuchet MS"/>
                <a:cs typeface="Trebuchet MS"/>
              </a:rPr>
              <a:t> </a:t>
            </a:r>
            <a:r>
              <a:rPr dirty="0" sz="1800" spc="-80" b="1">
                <a:solidFill>
                  <a:srgbClr val="008000"/>
                </a:solidFill>
                <a:latin typeface="Trebuchet MS"/>
                <a:cs typeface="Trebuchet MS"/>
              </a:rPr>
              <a:t>the </a:t>
            </a:r>
            <a:r>
              <a:rPr dirty="0" sz="1800" spc="-55" b="1">
                <a:solidFill>
                  <a:srgbClr val="008000"/>
                </a:solidFill>
                <a:latin typeface="Trebuchet MS"/>
                <a:cs typeface="Trebuchet MS"/>
              </a:rPr>
              <a:t>data.</a:t>
            </a:r>
            <a:endParaRPr sz="1800">
              <a:latin typeface="Trebuchet MS"/>
              <a:cs typeface="Trebuchet MS"/>
            </a:endParaRPr>
          </a:p>
          <a:p>
            <a:pPr marL="12700" marR="5080" indent="257175">
              <a:lnSpc>
                <a:spcPct val="114599"/>
              </a:lnSpc>
              <a:spcBef>
                <a:spcPts val="975"/>
              </a:spcBef>
            </a:pPr>
            <a:r>
              <a:rPr dirty="0" sz="1800" spc="-55" b="1">
                <a:solidFill>
                  <a:srgbClr val="008000"/>
                </a:solidFill>
                <a:latin typeface="Trebuchet MS"/>
                <a:cs typeface="Trebuchet MS"/>
              </a:rPr>
              <a:t>Explore</a:t>
            </a:r>
            <a:r>
              <a:rPr dirty="0" sz="1800" spc="-90" b="1">
                <a:solidFill>
                  <a:srgbClr val="008000"/>
                </a:solidFill>
                <a:latin typeface="Trebuchet MS"/>
                <a:cs typeface="Trebuchet MS"/>
              </a:rPr>
              <a:t> </a:t>
            </a:r>
            <a:r>
              <a:rPr dirty="0" sz="1800" spc="-80" b="1">
                <a:solidFill>
                  <a:srgbClr val="008000"/>
                </a:solidFill>
                <a:latin typeface="Trebuchet MS"/>
                <a:cs typeface="Trebuchet MS"/>
              </a:rPr>
              <a:t>the</a:t>
            </a:r>
            <a:r>
              <a:rPr dirty="0" sz="1800" spc="-90" b="1">
                <a:solidFill>
                  <a:srgbClr val="008000"/>
                </a:solidFill>
                <a:latin typeface="Trebuchet MS"/>
                <a:cs typeface="Trebuchet MS"/>
              </a:rPr>
              <a:t> </a:t>
            </a:r>
            <a:r>
              <a:rPr dirty="0" sz="1800" spc="-35" b="1">
                <a:solidFill>
                  <a:srgbClr val="008000"/>
                </a:solidFill>
                <a:latin typeface="Trebuchet MS"/>
                <a:cs typeface="Trebuchet MS"/>
              </a:rPr>
              <a:t>data</a:t>
            </a:r>
            <a:r>
              <a:rPr dirty="0" sz="1800" spc="-85" b="1">
                <a:solidFill>
                  <a:srgbClr val="008000"/>
                </a:solidFill>
                <a:latin typeface="Trebuchet MS"/>
                <a:cs typeface="Trebuchet MS"/>
              </a:rPr>
              <a:t> </a:t>
            </a:r>
            <a:r>
              <a:rPr dirty="0" sz="1800" spc="20" b="1">
                <a:solidFill>
                  <a:srgbClr val="008000"/>
                </a:solidFill>
                <a:latin typeface="Trebuchet MS"/>
                <a:cs typeface="Trebuchet MS"/>
              </a:rPr>
              <a:t>using</a:t>
            </a:r>
            <a:r>
              <a:rPr dirty="0" sz="1800" spc="-90" b="1">
                <a:solidFill>
                  <a:srgbClr val="008000"/>
                </a:solidFill>
                <a:latin typeface="Trebuchet MS"/>
                <a:cs typeface="Trebuchet MS"/>
              </a:rPr>
              <a:t> </a:t>
            </a:r>
            <a:r>
              <a:rPr dirty="0" sz="1800" spc="-30" b="1">
                <a:solidFill>
                  <a:srgbClr val="008000"/>
                </a:solidFill>
                <a:latin typeface="Trebuchet MS"/>
                <a:cs typeface="Trebuchet MS"/>
              </a:rPr>
              <a:t>visualization</a:t>
            </a:r>
            <a:r>
              <a:rPr dirty="0" sz="1800" spc="-90" b="1">
                <a:solidFill>
                  <a:srgbClr val="008000"/>
                </a:solidFill>
                <a:latin typeface="Trebuchet MS"/>
                <a:cs typeface="Trebuchet MS"/>
              </a:rPr>
              <a:t> </a:t>
            </a:r>
            <a:r>
              <a:rPr dirty="0" sz="1800" spc="-20" b="1">
                <a:solidFill>
                  <a:srgbClr val="008000"/>
                </a:solidFill>
                <a:latin typeface="Trebuchet MS"/>
                <a:cs typeface="Trebuchet MS"/>
              </a:rPr>
              <a:t>approaches</a:t>
            </a:r>
            <a:r>
              <a:rPr dirty="0" sz="1800" spc="-85" b="1">
                <a:solidFill>
                  <a:srgbClr val="008000"/>
                </a:solidFill>
                <a:latin typeface="Trebuchet MS"/>
                <a:cs typeface="Trebuchet MS"/>
              </a:rPr>
              <a:t> </a:t>
            </a:r>
            <a:r>
              <a:rPr dirty="0" sz="1800" spc="-70" b="1">
                <a:solidFill>
                  <a:srgbClr val="008000"/>
                </a:solidFill>
                <a:latin typeface="Trebuchet MS"/>
                <a:cs typeface="Trebuchet MS"/>
              </a:rPr>
              <a:t>that</a:t>
            </a:r>
            <a:r>
              <a:rPr dirty="0" sz="1800" spc="-90" b="1">
                <a:solidFill>
                  <a:srgbClr val="008000"/>
                </a:solidFill>
                <a:latin typeface="Trebuchet MS"/>
                <a:cs typeface="Trebuchet MS"/>
              </a:rPr>
              <a:t> </a:t>
            </a:r>
            <a:r>
              <a:rPr dirty="0" sz="1800" spc="-65" b="1">
                <a:solidFill>
                  <a:srgbClr val="008000"/>
                </a:solidFill>
                <a:latin typeface="Trebuchet MS"/>
                <a:cs typeface="Trebuchet MS"/>
              </a:rPr>
              <a:t>are</a:t>
            </a:r>
            <a:r>
              <a:rPr dirty="0" sz="1800" spc="-85" b="1">
                <a:solidFill>
                  <a:srgbClr val="008000"/>
                </a:solidFill>
                <a:latin typeface="Trebuchet MS"/>
                <a:cs typeface="Trebuchet MS"/>
              </a:rPr>
              <a:t> </a:t>
            </a:r>
            <a:r>
              <a:rPr dirty="0" sz="1800" spc="5" b="1">
                <a:solidFill>
                  <a:srgbClr val="008000"/>
                </a:solidFill>
                <a:latin typeface="Trebuchet MS"/>
                <a:cs typeface="Trebuchet MS"/>
              </a:rPr>
              <a:t>based</a:t>
            </a:r>
            <a:r>
              <a:rPr dirty="0" sz="1800" spc="-90" b="1">
                <a:solidFill>
                  <a:srgbClr val="008000"/>
                </a:solidFill>
                <a:latin typeface="Trebuchet MS"/>
                <a:cs typeface="Trebuchet MS"/>
              </a:rPr>
              <a:t> </a:t>
            </a:r>
            <a:r>
              <a:rPr dirty="0" sz="1800" spc="-30" b="1">
                <a:solidFill>
                  <a:srgbClr val="008000"/>
                </a:solidFill>
                <a:latin typeface="Trebuchet MS"/>
                <a:cs typeface="Trebuchet MS"/>
              </a:rPr>
              <a:t>on</a:t>
            </a:r>
            <a:r>
              <a:rPr dirty="0" sz="1800" spc="-90" b="1">
                <a:solidFill>
                  <a:srgbClr val="008000"/>
                </a:solidFill>
                <a:latin typeface="Trebuchet MS"/>
                <a:cs typeface="Trebuchet MS"/>
              </a:rPr>
              <a:t> </a:t>
            </a:r>
            <a:r>
              <a:rPr dirty="0" sz="1800" b="1">
                <a:solidFill>
                  <a:srgbClr val="008000"/>
                </a:solidFill>
                <a:latin typeface="Trebuchet MS"/>
                <a:cs typeface="Trebuchet MS"/>
              </a:rPr>
              <a:t>sound</a:t>
            </a:r>
            <a:r>
              <a:rPr dirty="0" sz="1800" spc="-85" b="1">
                <a:solidFill>
                  <a:srgbClr val="008000"/>
                </a:solidFill>
                <a:latin typeface="Trebuchet MS"/>
                <a:cs typeface="Trebuchet MS"/>
              </a:rPr>
              <a:t> </a:t>
            </a:r>
            <a:r>
              <a:rPr dirty="0" sz="1800" spc="-35" b="1">
                <a:solidFill>
                  <a:srgbClr val="008000"/>
                </a:solidFill>
                <a:latin typeface="Trebuchet MS"/>
                <a:cs typeface="Trebuchet MS"/>
              </a:rPr>
              <a:t>human</a:t>
            </a:r>
            <a:r>
              <a:rPr dirty="0" sz="1800" spc="-90" b="1">
                <a:solidFill>
                  <a:srgbClr val="008000"/>
                </a:solidFill>
                <a:latin typeface="Trebuchet MS"/>
                <a:cs typeface="Trebuchet MS"/>
              </a:rPr>
              <a:t> </a:t>
            </a:r>
            <a:r>
              <a:rPr dirty="0" sz="1800" spc="-15" b="1">
                <a:solidFill>
                  <a:srgbClr val="008000"/>
                </a:solidFill>
                <a:latin typeface="Trebuchet MS"/>
                <a:cs typeface="Trebuchet MS"/>
              </a:rPr>
              <a:t>factors</a:t>
            </a:r>
            <a:r>
              <a:rPr dirty="0" sz="1800" spc="-90" b="1">
                <a:solidFill>
                  <a:srgbClr val="008000"/>
                </a:solidFill>
                <a:latin typeface="Trebuchet MS"/>
                <a:cs typeface="Trebuchet MS"/>
              </a:rPr>
              <a:t> (i.e.  </a:t>
            </a:r>
            <a:r>
              <a:rPr dirty="0" sz="1800" spc="-30" b="1">
                <a:solidFill>
                  <a:srgbClr val="008000"/>
                </a:solidFill>
                <a:latin typeface="Trebuchet MS"/>
                <a:cs typeface="Trebuchet MS"/>
              </a:rPr>
              <a:t>account</a:t>
            </a:r>
            <a:r>
              <a:rPr dirty="0" sz="1800" spc="-95" b="1">
                <a:solidFill>
                  <a:srgbClr val="008000"/>
                </a:solidFill>
                <a:latin typeface="Trebuchet MS"/>
                <a:cs typeface="Trebuchet MS"/>
              </a:rPr>
              <a:t> </a:t>
            </a:r>
            <a:r>
              <a:rPr dirty="0" sz="1800" spc="-45" b="1">
                <a:solidFill>
                  <a:srgbClr val="008000"/>
                </a:solidFill>
                <a:latin typeface="Trebuchet MS"/>
                <a:cs typeface="Trebuchet MS"/>
              </a:rPr>
              <a:t>for</a:t>
            </a:r>
            <a:r>
              <a:rPr dirty="0" sz="1800" spc="-95" b="1">
                <a:solidFill>
                  <a:srgbClr val="008000"/>
                </a:solidFill>
                <a:latin typeface="Trebuchet MS"/>
                <a:cs typeface="Trebuchet MS"/>
              </a:rPr>
              <a:t> </a:t>
            </a:r>
            <a:r>
              <a:rPr dirty="0" sz="1800" spc="-35" b="1">
                <a:solidFill>
                  <a:srgbClr val="008000"/>
                </a:solidFill>
                <a:latin typeface="Trebuchet MS"/>
                <a:cs typeface="Trebuchet MS"/>
              </a:rPr>
              <a:t>human</a:t>
            </a:r>
            <a:r>
              <a:rPr dirty="0" sz="1800" spc="-95" b="1">
                <a:solidFill>
                  <a:srgbClr val="008000"/>
                </a:solidFill>
                <a:latin typeface="Trebuchet MS"/>
                <a:cs typeface="Trebuchet MS"/>
              </a:rPr>
              <a:t> </a:t>
            </a:r>
            <a:r>
              <a:rPr dirty="0" sz="1800" spc="-25" b="1">
                <a:solidFill>
                  <a:srgbClr val="008000"/>
                </a:solidFill>
                <a:latin typeface="Trebuchet MS"/>
                <a:cs typeface="Trebuchet MS"/>
              </a:rPr>
              <a:t>cognition</a:t>
            </a:r>
            <a:r>
              <a:rPr dirty="0" sz="1800" spc="-95" b="1">
                <a:solidFill>
                  <a:srgbClr val="008000"/>
                </a:solidFill>
                <a:latin typeface="Trebuchet MS"/>
                <a:cs typeface="Trebuchet MS"/>
              </a:rPr>
              <a:t> </a:t>
            </a:r>
            <a:r>
              <a:rPr dirty="0" sz="1800" spc="-30" b="1">
                <a:solidFill>
                  <a:srgbClr val="008000"/>
                </a:solidFill>
                <a:latin typeface="Trebuchet MS"/>
                <a:cs typeface="Trebuchet MS"/>
              </a:rPr>
              <a:t>and</a:t>
            </a:r>
            <a:r>
              <a:rPr dirty="0" sz="1800" spc="-95" b="1">
                <a:solidFill>
                  <a:srgbClr val="008000"/>
                </a:solidFill>
                <a:latin typeface="Trebuchet MS"/>
                <a:cs typeface="Trebuchet MS"/>
              </a:rPr>
              <a:t> </a:t>
            </a:r>
            <a:r>
              <a:rPr dirty="0" sz="1800" spc="-55" b="1">
                <a:solidFill>
                  <a:srgbClr val="008000"/>
                </a:solidFill>
                <a:latin typeface="Trebuchet MS"/>
                <a:cs typeface="Trebuchet MS"/>
              </a:rPr>
              <a:t>perception</a:t>
            </a:r>
            <a:r>
              <a:rPr dirty="0" sz="1800" spc="-95" b="1">
                <a:solidFill>
                  <a:srgbClr val="008000"/>
                </a:solidFill>
                <a:latin typeface="Trebuchet MS"/>
                <a:cs typeface="Trebuchet MS"/>
              </a:rPr>
              <a:t> </a:t>
            </a:r>
            <a:r>
              <a:rPr dirty="0" sz="1800" spc="-15" b="1">
                <a:solidFill>
                  <a:srgbClr val="008000"/>
                </a:solidFill>
                <a:latin typeface="Trebuchet MS"/>
                <a:cs typeface="Trebuchet MS"/>
              </a:rPr>
              <a:t>of</a:t>
            </a:r>
            <a:r>
              <a:rPr dirty="0" sz="1800" spc="-95" b="1">
                <a:solidFill>
                  <a:srgbClr val="008000"/>
                </a:solidFill>
                <a:latin typeface="Trebuchet MS"/>
                <a:cs typeface="Trebuchet MS"/>
              </a:rPr>
              <a:t> </a:t>
            </a:r>
            <a:r>
              <a:rPr dirty="0" sz="1800" spc="-50" b="1">
                <a:solidFill>
                  <a:srgbClr val="008000"/>
                </a:solidFill>
                <a:latin typeface="Trebuchet MS"/>
                <a:cs typeface="Trebuchet MS"/>
              </a:rPr>
              <a:t>data).</a:t>
            </a:r>
            <a:endParaRPr sz="1800">
              <a:latin typeface="Trebuchet MS"/>
              <a:cs typeface="Trebuchet MS"/>
            </a:endParaRPr>
          </a:p>
          <a:p>
            <a:pPr marL="12700" marR="760095" indent="285115">
              <a:lnSpc>
                <a:spcPct val="114599"/>
              </a:lnSpc>
              <a:spcBef>
                <a:spcPts val="975"/>
              </a:spcBef>
            </a:pPr>
            <a:r>
              <a:rPr dirty="0" sz="1800" spc="-35" b="1">
                <a:solidFill>
                  <a:srgbClr val="C2132D"/>
                </a:solidFill>
                <a:latin typeface="Trebuchet MS"/>
                <a:cs typeface="Trebuchet MS"/>
              </a:rPr>
              <a:t>Understand</a:t>
            </a:r>
            <a:r>
              <a:rPr dirty="0" sz="1800" spc="-8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55" b="1">
                <a:solidFill>
                  <a:srgbClr val="C2132D"/>
                </a:solidFill>
                <a:latin typeface="Trebuchet MS"/>
                <a:cs typeface="Trebuchet MS"/>
              </a:rPr>
              <a:t>how</a:t>
            </a:r>
            <a:r>
              <a:rPr dirty="0" sz="1800" spc="-8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35" b="1">
                <a:solidFill>
                  <a:srgbClr val="C2132D"/>
                </a:solidFill>
                <a:latin typeface="Trebuchet MS"/>
                <a:cs typeface="Trebuchet MS"/>
              </a:rPr>
              <a:t>data</a:t>
            </a:r>
            <a:r>
              <a:rPr dirty="0" sz="1800" spc="-8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20" b="1">
                <a:solidFill>
                  <a:srgbClr val="C2132D"/>
                </a:solidFill>
                <a:latin typeface="Trebuchet MS"/>
                <a:cs typeface="Trebuchet MS"/>
              </a:rPr>
              <a:t>mining</a:t>
            </a:r>
            <a:r>
              <a:rPr dirty="0" sz="1800" spc="-8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30" b="1">
                <a:solidFill>
                  <a:srgbClr val="C2132D"/>
                </a:solidFill>
                <a:latin typeface="Trebuchet MS"/>
                <a:cs typeface="Trebuchet MS"/>
              </a:rPr>
              <a:t>and</a:t>
            </a:r>
            <a:r>
              <a:rPr dirty="0" sz="1800" spc="-8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70" b="1">
                <a:solidFill>
                  <a:srgbClr val="C2132D"/>
                </a:solidFill>
                <a:latin typeface="Trebuchet MS"/>
                <a:cs typeface="Trebuchet MS"/>
              </a:rPr>
              <a:t>other</a:t>
            </a:r>
            <a:r>
              <a:rPr dirty="0" sz="1800" spc="-8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40" b="1">
                <a:solidFill>
                  <a:srgbClr val="C2132D"/>
                </a:solidFill>
                <a:latin typeface="Trebuchet MS"/>
                <a:cs typeface="Trebuchet MS"/>
              </a:rPr>
              <a:t>analytical</a:t>
            </a:r>
            <a:r>
              <a:rPr dirty="0" sz="1800" spc="-8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10" b="1">
                <a:solidFill>
                  <a:srgbClr val="C2132D"/>
                </a:solidFill>
                <a:latin typeface="Trebuchet MS"/>
                <a:cs typeface="Trebuchet MS"/>
              </a:rPr>
              <a:t>tools</a:t>
            </a:r>
            <a:r>
              <a:rPr dirty="0" sz="1800" spc="-8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15" b="1">
                <a:solidFill>
                  <a:srgbClr val="C2132D"/>
                </a:solidFill>
                <a:latin typeface="Trebuchet MS"/>
                <a:cs typeface="Trebuchet MS"/>
              </a:rPr>
              <a:t>can</a:t>
            </a:r>
            <a:r>
              <a:rPr dirty="0" sz="1800" spc="-8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45" b="1">
                <a:solidFill>
                  <a:srgbClr val="C2132D"/>
                </a:solidFill>
                <a:latin typeface="Trebuchet MS"/>
                <a:cs typeface="Trebuchet MS"/>
              </a:rPr>
              <a:t>capitalize</a:t>
            </a:r>
            <a:r>
              <a:rPr dirty="0" sz="1800" spc="-8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30" b="1">
                <a:solidFill>
                  <a:srgbClr val="C2132D"/>
                </a:solidFill>
                <a:latin typeface="Trebuchet MS"/>
                <a:cs typeface="Trebuchet MS"/>
              </a:rPr>
              <a:t>on</a:t>
            </a:r>
            <a:r>
              <a:rPr dirty="0" sz="1800" spc="-8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80" b="1">
                <a:solidFill>
                  <a:srgbClr val="C2132D"/>
                </a:solidFill>
                <a:latin typeface="Trebuchet MS"/>
                <a:cs typeface="Trebuchet MS"/>
              </a:rPr>
              <a:t>the</a:t>
            </a:r>
            <a:r>
              <a:rPr dirty="0" sz="1800" spc="-8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10" b="1">
                <a:solidFill>
                  <a:srgbClr val="C2132D"/>
                </a:solidFill>
                <a:latin typeface="Trebuchet MS"/>
                <a:cs typeface="Trebuchet MS"/>
              </a:rPr>
              <a:t>insights  </a:t>
            </a:r>
            <a:r>
              <a:rPr dirty="0" sz="1800" spc="-45" b="1">
                <a:solidFill>
                  <a:srgbClr val="C2132D"/>
                </a:solidFill>
                <a:latin typeface="Trebuchet MS"/>
                <a:cs typeface="Trebuchet MS"/>
              </a:rPr>
              <a:t>generated </a:t>
            </a:r>
            <a:r>
              <a:rPr dirty="0" sz="1800" spc="-40" b="1">
                <a:solidFill>
                  <a:srgbClr val="C2132D"/>
                </a:solidFill>
                <a:latin typeface="Trebuchet MS"/>
                <a:cs typeface="Trebuchet MS"/>
              </a:rPr>
              <a:t>from </a:t>
            </a:r>
            <a:r>
              <a:rPr dirty="0" sz="1800" spc="-80" b="1">
                <a:solidFill>
                  <a:srgbClr val="C2132D"/>
                </a:solidFill>
                <a:latin typeface="Trebuchet MS"/>
                <a:cs typeface="Trebuchet MS"/>
              </a:rPr>
              <a:t>the </a:t>
            </a:r>
            <a:r>
              <a:rPr dirty="0" sz="1800" spc="-35" b="1">
                <a:solidFill>
                  <a:srgbClr val="C2132D"/>
                </a:solidFill>
                <a:latin typeface="Trebuchet MS"/>
                <a:cs typeface="Trebuchet MS"/>
              </a:rPr>
              <a:t>data </a:t>
            </a:r>
            <a:r>
              <a:rPr dirty="0" sz="1800" spc="-45" b="1">
                <a:solidFill>
                  <a:srgbClr val="C2132D"/>
                </a:solidFill>
                <a:latin typeface="Trebuchet MS"/>
                <a:cs typeface="Trebuchet MS"/>
              </a:rPr>
              <a:t>viz</a:t>
            </a:r>
            <a:r>
              <a:rPr dirty="0" sz="1800" spc="-28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10" b="1">
                <a:solidFill>
                  <a:srgbClr val="C2132D"/>
                </a:solidFill>
                <a:latin typeface="Trebuchet MS"/>
                <a:cs typeface="Trebuchet MS"/>
              </a:rPr>
              <a:t>process.</a:t>
            </a:r>
            <a:endParaRPr sz="1800">
              <a:latin typeface="Trebuchet MS"/>
              <a:cs typeface="Trebuchet MS"/>
            </a:endParaRPr>
          </a:p>
          <a:p>
            <a:pPr marL="12700" marR="457200" indent="257175">
              <a:lnSpc>
                <a:spcPct val="114599"/>
              </a:lnSpc>
              <a:spcBef>
                <a:spcPts val="975"/>
              </a:spcBef>
            </a:pPr>
            <a:r>
              <a:rPr dirty="0" sz="1800" spc="-50" b="1">
                <a:solidFill>
                  <a:srgbClr val="008000"/>
                </a:solidFill>
                <a:latin typeface="Trebuchet MS"/>
                <a:cs typeface="Trebuchet MS"/>
              </a:rPr>
              <a:t>Create</a:t>
            </a:r>
            <a:r>
              <a:rPr dirty="0" sz="1800" spc="-90" b="1">
                <a:solidFill>
                  <a:srgbClr val="008000"/>
                </a:solidFill>
                <a:latin typeface="Trebuchet MS"/>
                <a:cs typeface="Trebuchet MS"/>
              </a:rPr>
              <a:t> </a:t>
            </a:r>
            <a:r>
              <a:rPr dirty="0" sz="1800" spc="-65" b="1">
                <a:solidFill>
                  <a:srgbClr val="008000"/>
                </a:solidFill>
                <a:latin typeface="Trebuchet MS"/>
                <a:cs typeface="Trebuchet MS"/>
              </a:rPr>
              <a:t>interactive</a:t>
            </a:r>
            <a:r>
              <a:rPr dirty="0" sz="1800" spc="-85" b="1">
                <a:solidFill>
                  <a:srgbClr val="008000"/>
                </a:solidFill>
                <a:latin typeface="Trebuchet MS"/>
                <a:cs typeface="Trebuchet MS"/>
              </a:rPr>
              <a:t> </a:t>
            </a:r>
            <a:r>
              <a:rPr dirty="0" sz="1800" b="1">
                <a:solidFill>
                  <a:srgbClr val="008000"/>
                </a:solidFill>
                <a:latin typeface="Trebuchet MS"/>
                <a:cs typeface="Trebuchet MS"/>
              </a:rPr>
              <a:t>dashboards</a:t>
            </a:r>
            <a:r>
              <a:rPr dirty="0" sz="1800" spc="-90" b="1">
                <a:solidFill>
                  <a:srgbClr val="008000"/>
                </a:solidFill>
                <a:latin typeface="Trebuchet MS"/>
                <a:cs typeface="Trebuchet MS"/>
              </a:rPr>
              <a:t> </a:t>
            </a:r>
            <a:r>
              <a:rPr dirty="0" sz="1800" spc="-70" b="1">
                <a:solidFill>
                  <a:srgbClr val="008000"/>
                </a:solidFill>
                <a:latin typeface="Trebuchet MS"/>
                <a:cs typeface="Trebuchet MS"/>
              </a:rPr>
              <a:t>that</a:t>
            </a:r>
            <a:r>
              <a:rPr dirty="0" sz="1800" spc="-85" b="1">
                <a:solidFill>
                  <a:srgbClr val="008000"/>
                </a:solidFill>
                <a:latin typeface="Trebuchet MS"/>
                <a:cs typeface="Trebuchet MS"/>
              </a:rPr>
              <a:t> </a:t>
            </a:r>
            <a:r>
              <a:rPr dirty="0" sz="1800" spc="-15" b="1">
                <a:solidFill>
                  <a:srgbClr val="008000"/>
                </a:solidFill>
                <a:latin typeface="Trebuchet MS"/>
                <a:cs typeface="Trebuchet MS"/>
              </a:rPr>
              <a:t>can</a:t>
            </a:r>
            <a:r>
              <a:rPr dirty="0" sz="1800" spc="-90" b="1">
                <a:solidFill>
                  <a:srgbClr val="008000"/>
                </a:solidFill>
                <a:latin typeface="Trebuchet MS"/>
                <a:cs typeface="Trebuchet MS"/>
              </a:rPr>
              <a:t> </a:t>
            </a:r>
            <a:r>
              <a:rPr dirty="0" sz="1800" spc="-50" b="1">
                <a:solidFill>
                  <a:srgbClr val="008000"/>
                </a:solidFill>
                <a:latin typeface="Trebuchet MS"/>
                <a:cs typeface="Trebuchet MS"/>
              </a:rPr>
              <a:t>be</a:t>
            </a:r>
            <a:r>
              <a:rPr dirty="0" sz="1800" spc="-85" b="1">
                <a:solidFill>
                  <a:srgbClr val="008000"/>
                </a:solidFill>
                <a:latin typeface="Trebuchet MS"/>
                <a:cs typeface="Trebuchet MS"/>
              </a:rPr>
              <a:t> </a:t>
            </a:r>
            <a:r>
              <a:rPr dirty="0" sz="1800" b="1">
                <a:solidFill>
                  <a:srgbClr val="008000"/>
                </a:solidFill>
                <a:latin typeface="Trebuchet MS"/>
                <a:cs typeface="Trebuchet MS"/>
              </a:rPr>
              <a:t>used</a:t>
            </a:r>
            <a:r>
              <a:rPr dirty="0" sz="1800" spc="-90" b="1">
                <a:solidFill>
                  <a:srgbClr val="008000"/>
                </a:solidFill>
                <a:latin typeface="Trebuchet MS"/>
                <a:cs typeface="Trebuchet MS"/>
              </a:rPr>
              <a:t> </a:t>
            </a:r>
            <a:r>
              <a:rPr dirty="0" sz="1800" spc="-45" b="1">
                <a:solidFill>
                  <a:srgbClr val="008000"/>
                </a:solidFill>
                <a:latin typeface="Trebuchet MS"/>
                <a:cs typeface="Trebuchet MS"/>
              </a:rPr>
              <a:t>for</a:t>
            </a:r>
            <a:r>
              <a:rPr dirty="0" sz="1800" spc="-85" b="1">
                <a:solidFill>
                  <a:srgbClr val="008000"/>
                </a:solidFill>
                <a:latin typeface="Trebuchet MS"/>
                <a:cs typeface="Trebuchet MS"/>
              </a:rPr>
              <a:t> </a:t>
            </a:r>
            <a:r>
              <a:rPr dirty="0" sz="1800" spc="20" b="1">
                <a:solidFill>
                  <a:srgbClr val="008000"/>
                </a:solidFill>
                <a:latin typeface="Trebuchet MS"/>
                <a:cs typeface="Trebuchet MS"/>
              </a:rPr>
              <a:t>business</a:t>
            </a:r>
            <a:r>
              <a:rPr dirty="0" sz="1800" spc="-90" b="1">
                <a:solidFill>
                  <a:srgbClr val="008000"/>
                </a:solidFill>
                <a:latin typeface="Trebuchet MS"/>
                <a:cs typeface="Trebuchet MS"/>
              </a:rPr>
              <a:t> </a:t>
            </a:r>
            <a:r>
              <a:rPr dirty="0" sz="1800" spc="-15" b="1">
                <a:solidFill>
                  <a:srgbClr val="008000"/>
                </a:solidFill>
                <a:latin typeface="Trebuchet MS"/>
                <a:cs typeface="Trebuchet MS"/>
              </a:rPr>
              <a:t>decision</a:t>
            </a:r>
            <a:r>
              <a:rPr dirty="0" sz="1800" spc="-85" b="1">
                <a:solidFill>
                  <a:srgbClr val="008000"/>
                </a:solidFill>
                <a:latin typeface="Trebuchet MS"/>
                <a:cs typeface="Trebuchet MS"/>
              </a:rPr>
              <a:t> </a:t>
            </a:r>
            <a:r>
              <a:rPr dirty="0" sz="1800" spc="-35" b="1">
                <a:solidFill>
                  <a:srgbClr val="008000"/>
                </a:solidFill>
                <a:latin typeface="Trebuchet MS"/>
                <a:cs typeface="Trebuchet MS"/>
              </a:rPr>
              <a:t>making,</a:t>
            </a:r>
            <a:r>
              <a:rPr dirty="0" sz="1800" spc="-90" b="1">
                <a:solidFill>
                  <a:srgbClr val="008000"/>
                </a:solidFill>
                <a:latin typeface="Trebuchet MS"/>
                <a:cs typeface="Trebuchet MS"/>
              </a:rPr>
              <a:t> </a:t>
            </a:r>
            <a:r>
              <a:rPr dirty="0" sz="1800" spc="-45" b="1">
                <a:solidFill>
                  <a:srgbClr val="008000"/>
                </a:solidFill>
                <a:latin typeface="Trebuchet MS"/>
                <a:cs typeface="Trebuchet MS"/>
              </a:rPr>
              <a:t>reporting  </a:t>
            </a:r>
            <a:r>
              <a:rPr dirty="0" sz="1800" spc="-40" b="1">
                <a:solidFill>
                  <a:srgbClr val="008000"/>
                </a:solidFill>
                <a:latin typeface="Trebuchet MS"/>
                <a:cs typeface="Trebuchet MS"/>
              </a:rPr>
              <a:t>and/or performance</a:t>
            </a:r>
            <a:r>
              <a:rPr dirty="0" sz="1800" spc="-155" b="1">
                <a:solidFill>
                  <a:srgbClr val="008000"/>
                </a:solidFill>
                <a:latin typeface="Trebuchet MS"/>
                <a:cs typeface="Trebuchet MS"/>
              </a:rPr>
              <a:t> </a:t>
            </a:r>
            <a:r>
              <a:rPr dirty="0" sz="1800" spc="-30" b="1">
                <a:solidFill>
                  <a:srgbClr val="008000"/>
                </a:solidFill>
                <a:latin typeface="Trebuchet MS"/>
                <a:cs typeface="Trebuchet MS"/>
              </a:rPr>
              <a:t>management.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87003" y="6054724"/>
            <a:ext cx="64122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5" b="1">
                <a:solidFill>
                  <a:srgbClr val="C2132D"/>
                </a:solidFill>
                <a:latin typeface="Trebuchet MS"/>
                <a:cs typeface="Trebuchet MS"/>
              </a:rPr>
              <a:t>Be</a:t>
            </a:r>
            <a:r>
              <a:rPr dirty="0" sz="1800" spc="-9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40" b="1">
                <a:solidFill>
                  <a:srgbClr val="C2132D"/>
                </a:solidFill>
                <a:latin typeface="Trebuchet MS"/>
                <a:cs typeface="Trebuchet MS"/>
              </a:rPr>
              <a:t>able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70" b="1">
                <a:solidFill>
                  <a:srgbClr val="C2132D"/>
                </a:solidFill>
                <a:latin typeface="Trebuchet MS"/>
                <a:cs typeface="Trebuchet MS"/>
              </a:rPr>
              <a:t>to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40" b="1">
                <a:solidFill>
                  <a:srgbClr val="C2132D"/>
                </a:solidFill>
                <a:latin typeface="Trebuchet MS"/>
                <a:cs typeface="Trebuchet MS"/>
              </a:rPr>
              <a:t>apply</a:t>
            </a:r>
            <a:r>
              <a:rPr dirty="0" sz="1800" spc="-9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80" b="1">
                <a:solidFill>
                  <a:srgbClr val="C2132D"/>
                </a:solidFill>
                <a:latin typeface="Trebuchet MS"/>
                <a:cs typeface="Trebuchet MS"/>
              </a:rPr>
              <a:t>the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15" b="1">
                <a:solidFill>
                  <a:srgbClr val="C2132D"/>
                </a:solidFill>
                <a:latin typeface="Trebuchet MS"/>
                <a:cs typeface="Trebuchet MS"/>
              </a:rPr>
              <a:t>skills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40" b="1">
                <a:solidFill>
                  <a:srgbClr val="C2132D"/>
                </a:solidFill>
                <a:latin typeface="Trebuchet MS"/>
                <a:cs typeface="Trebuchet MS"/>
              </a:rPr>
              <a:t>from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20" b="1">
                <a:solidFill>
                  <a:srgbClr val="C2132D"/>
                </a:solidFill>
                <a:latin typeface="Trebuchet MS"/>
                <a:cs typeface="Trebuchet MS"/>
              </a:rPr>
              <a:t>this</a:t>
            </a:r>
            <a:r>
              <a:rPr dirty="0" sz="1800" spc="-9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50" b="1">
                <a:solidFill>
                  <a:srgbClr val="C2132D"/>
                </a:solidFill>
                <a:latin typeface="Trebuchet MS"/>
                <a:cs typeface="Trebuchet MS"/>
              </a:rPr>
              <a:t>class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60" b="1">
                <a:solidFill>
                  <a:srgbClr val="C2132D"/>
                </a:solidFill>
                <a:latin typeface="Trebuchet MS"/>
                <a:cs typeface="Trebuchet MS"/>
              </a:rPr>
              <a:t>in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60" b="1">
                <a:solidFill>
                  <a:srgbClr val="C2132D"/>
                </a:solidFill>
                <a:latin typeface="Trebuchet MS"/>
                <a:cs typeface="Trebuchet MS"/>
              </a:rPr>
              <a:t>your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75" b="1">
                <a:solidFill>
                  <a:srgbClr val="C2132D"/>
                </a:solidFill>
                <a:latin typeface="Trebuchet MS"/>
                <a:cs typeface="Trebuchet MS"/>
              </a:rPr>
              <a:t>future</a:t>
            </a:r>
            <a:r>
              <a:rPr dirty="0" sz="1800" spc="-9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career.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13492" y="2689428"/>
            <a:ext cx="202837" cy="1456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914400" y="2977021"/>
            <a:ext cx="258445" cy="199390"/>
          </a:xfrm>
          <a:custGeom>
            <a:avLst/>
            <a:gdLst/>
            <a:ahLst/>
            <a:cxnLst/>
            <a:rect l="l" t="t" r="r" b="b"/>
            <a:pathLst>
              <a:path w="258444" h="199389">
                <a:moveTo>
                  <a:pt x="150441" y="199106"/>
                </a:moveTo>
                <a:lnTo>
                  <a:pt x="106397" y="199106"/>
                </a:lnTo>
                <a:lnTo>
                  <a:pt x="106397" y="171596"/>
                </a:lnTo>
                <a:lnTo>
                  <a:pt x="64254" y="161266"/>
                </a:lnTo>
                <a:lnTo>
                  <a:pt x="30516" y="142324"/>
                </a:lnTo>
                <a:lnTo>
                  <a:pt x="8118" y="116741"/>
                </a:lnTo>
                <a:lnTo>
                  <a:pt x="0" y="86487"/>
                </a:lnTo>
                <a:lnTo>
                  <a:pt x="10148" y="52817"/>
                </a:lnTo>
                <a:lnTo>
                  <a:pt x="37821" y="25327"/>
                </a:lnTo>
                <a:lnTo>
                  <a:pt x="78860" y="6794"/>
                </a:lnTo>
                <a:lnTo>
                  <a:pt x="129108" y="0"/>
                </a:lnTo>
                <a:lnTo>
                  <a:pt x="179355" y="6794"/>
                </a:lnTo>
                <a:lnTo>
                  <a:pt x="220395" y="25327"/>
                </a:lnTo>
                <a:lnTo>
                  <a:pt x="228946" y="33821"/>
                </a:lnTo>
                <a:lnTo>
                  <a:pt x="148885" y="33821"/>
                </a:lnTo>
                <a:lnTo>
                  <a:pt x="110696" y="38463"/>
                </a:lnTo>
                <a:lnTo>
                  <a:pt x="79503" y="51126"/>
                </a:lnTo>
                <a:lnTo>
                  <a:pt x="58468" y="69914"/>
                </a:lnTo>
                <a:lnTo>
                  <a:pt x="50754" y="92931"/>
                </a:lnTo>
                <a:lnTo>
                  <a:pt x="54801" y="109747"/>
                </a:lnTo>
                <a:lnTo>
                  <a:pt x="54923" y="109953"/>
                </a:lnTo>
                <a:lnTo>
                  <a:pt x="66226" y="124791"/>
                </a:lnTo>
                <a:lnTo>
                  <a:pt x="83810" y="137161"/>
                </a:lnTo>
                <a:lnTo>
                  <a:pt x="106397" y="146219"/>
                </a:lnTo>
                <a:lnTo>
                  <a:pt x="150396" y="146219"/>
                </a:lnTo>
                <a:lnTo>
                  <a:pt x="150396" y="151996"/>
                </a:lnTo>
                <a:lnTo>
                  <a:pt x="220957" y="151996"/>
                </a:lnTo>
                <a:lnTo>
                  <a:pt x="229019" y="165596"/>
                </a:lnTo>
                <a:lnTo>
                  <a:pt x="181285" y="165596"/>
                </a:lnTo>
                <a:lnTo>
                  <a:pt x="173897" y="167611"/>
                </a:lnTo>
                <a:lnTo>
                  <a:pt x="166279" y="169318"/>
                </a:lnTo>
                <a:lnTo>
                  <a:pt x="158454" y="170708"/>
                </a:lnTo>
                <a:lnTo>
                  <a:pt x="150441" y="171774"/>
                </a:lnTo>
                <a:lnTo>
                  <a:pt x="150441" y="199106"/>
                </a:lnTo>
                <a:close/>
              </a:path>
              <a:path w="258444" h="199389">
                <a:moveTo>
                  <a:pt x="229512" y="140219"/>
                </a:moveTo>
                <a:lnTo>
                  <a:pt x="211817" y="140219"/>
                </a:lnTo>
                <a:lnTo>
                  <a:pt x="224911" y="131949"/>
                </a:lnTo>
                <a:lnTo>
                  <a:pt x="234739" y="121358"/>
                </a:lnTo>
                <a:lnTo>
                  <a:pt x="240917" y="108376"/>
                </a:lnTo>
                <a:lnTo>
                  <a:pt x="243061" y="92931"/>
                </a:lnTo>
                <a:lnTo>
                  <a:pt x="235965" y="66389"/>
                </a:lnTo>
                <a:lnTo>
                  <a:pt x="216289" y="47993"/>
                </a:lnTo>
                <a:lnTo>
                  <a:pt x="186456" y="37288"/>
                </a:lnTo>
                <a:lnTo>
                  <a:pt x="148885" y="33821"/>
                </a:lnTo>
                <a:lnTo>
                  <a:pt x="228946" y="33821"/>
                </a:lnTo>
                <a:lnTo>
                  <a:pt x="248068" y="52817"/>
                </a:lnTo>
                <a:lnTo>
                  <a:pt x="258216" y="86487"/>
                </a:lnTo>
                <a:lnTo>
                  <a:pt x="255484" y="104250"/>
                </a:lnTo>
                <a:lnTo>
                  <a:pt x="247655" y="120764"/>
                </a:lnTo>
                <a:lnTo>
                  <a:pt x="235285" y="135661"/>
                </a:lnTo>
                <a:lnTo>
                  <a:pt x="229512" y="140219"/>
                </a:lnTo>
                <a:close/>
              </a:path>
              <a:path w="258444" h="199389">
                <a:moveTo>
                  <a:pt x="150396" y="146219"/>
                </a:moveTo>
                <a:lnTo>
                  <a:pt x="106397" y="146219"/>
                </a:lnTo>
                <a:lnTo>
                  <a:pt x="106397" y="53643"/>
                </a:lnTo>
                <a:lnTo>
                  <a:pt x="194840" y="53643"/>
                </a:lnTo>
                <a:lnTo>
                  <a:pt x="201131" y="54353"/>
                </a:lnTo>
                <a:lnTo>
                  <a:pt x="214973" y="58793"/>
                </a:lnTo>
                <a:lnTo>
                  <a:pt x="228814" y="70424"/>
                </a:lnTo>
                <a:lnTo>
                  <a:pt x="232931" y="85007"/>
                </a:lnTo>
                <a:lnTo>
                  <a:pt x="167731" y="85007"/>
                </a:lnTo>
                <a:lnTo>
                  <a:pt x="150796" y="85242"/>
                </a:lnTo>
                <a:lnTo>
                  <a:pt x="150796" y="109953"/>
                </a:lnTo>
                <a:lnTo>
                  <a:pt x="166193" y="110269"/>
                </a:lnTo>
                <a:lnTo>
                  <a:pt x="230437" y="110269"/>
                </a:lnTo>
                <a:lnTo>
                  <a:pt x="229092" y="115327"/>
                </a:lnTo>
                <a:lnTo>
                  <a:pt x="215862" y="127691"/>
                </a:lnTo>
                <a:lnTo>
                  <a:pt x="202631" y="132864"/>
                </a:lnTo>
                <a:lnTo>
                  <a:pt x="196618" y="133908"/>
                </a:lnTo>
                <a:lnTo>
                  <a:pt x="204440" y="136263"/>
                </a:lnTo>
                <a:lnTo>
                  <a:pt x="208973" y="138574"/>
                </a:lnTo>
                <a:lnTo>
                  <a:pt x="209728" y="138930"/>
                </a:lnTo>
                <a:lnTo>
                  <a:pt x="210751" y="139508"/>
                </a:lnTo>
                <a:lnTo>
                  <a:pt x="211817" y="140219"/>
                </a:lnTo>
                <a:lnTo>
                  <a:pt x="229512" y="140219"/>
                </a:lnTo>
                <a:lnTo>
                  <a:pt x="227035" y="142174"/>
                </a:lnTo>
                <a:lnTo>
                  <a:pt x="150396" y="142174"/>
                </a:lnTo>
                <a:lnTo>
                  <a:pt x="150396" y="146219"/>
                </a:lnTo>
                <a:close/>
              </a:path>
              <a:path w="258444" h="199389">
                <a:moveTo>
                  <a:pt x="230437" y="110269"/>
                </a:moveTo>
                <a:lnTo>
                  <a:pt x="166193" y="110269"/>
                </a:lnTo>
                <a:lnTo>
                  <a:pt x="178574" y="109747"/>
                </a:lnTo>
                <a:lnTo>
                  <a:pt x="186821" y="106184"/>
                </a:lnTo>
                <a:lnTo>
                  <a:pt x="189818" y="97375"/>
                </a:lnTo>
                <a:lnTo>
                  <a:pt x="187333" y="89086"/>
                </a:lnTo>
                <a:lnTo>
                  <a:pt x="179940" y="85625"/>
                </a:lnTo>
                <a:lnTo>
                  <a:pt x="167731" y="85007"/>
                </a:lnTo>
                <a:lnTo>
                  <a:pt x="232931" y="85007"/>
                </a:lnTo>
                <a:lnTo>
                  <a:pt x="235106" y="92709"/>
                </a:lnTo>
                <a:lnTo>
                  <a:pt x="230437" y="110269"/>
                </a:lnTo>
                <a:close/>
              </a:path>
              <a:path w="258444" h="199389">
                <a:moveTo>
                  <a:pt x="220957" y="151996"/>
                </a:moveTo>
                <a:lnTo>
                  <a:pt x="150396" y="151996"/>
                </a:lnTo>
                <a:lnTo>
                  <a:pt x="158218" y="151952"/>
                </a:lnTo>
                <a:lnTo>
                  <a:pt x="165729" y="151552"/>
                </a:lnTo>
                <a:lnTo>
                  <a:pt x="172885" y="150707"/>
                </a:lnTo>
                <a:lnTo>
                  <a:pt x="170618" y="147374"/>
                </a:lnTo>
                <a:lnTo>
                  <a:pt x="167018" y="142174"/>
                </a:lnTo>
                <a:lnTo>
                  <a:pt x="227035" y="142174"/>
                </a:lnTo>
                <a:lnTo>
                  <a:pt x="218928" y="148574"/>
                </a:lnTo>
                <a:lnTo>
                  <a:pt x="220957" y="151996"/>
                </a:lnTo>
                <a:close/>
              </a:path>
              <a:path w="258444" h="199389">
                <a:moveTo>
                  <a:pt x="248883" y="199106"/>
                </a:moveTo>
                <a:lnTo>
                  <a:pt x="199106" y="199106"/>
                </a:lnTo>
                <a:lnTo>
                  <a:pt x="181285" y="165596"/>
                </a:lnTo>
                <a:lnTo>
                  <a:pt x="229019" y="165596"/>
                </a:lnTo>
                <a:lnTo>
                  <a:pt x="248883" y="199106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13492" y="3441903"/>
            <a:ext cx="202837" cy="1456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381250" y="3415171"/>
            <a:ext cx="258445" cy="199390"/>
          </a:xfrm>
          <a:custGeom>
            <a:avLst/>
            <a:gdLst/>
            <a:ahLst/>
            <a:cxnLst/>
            <a:rect l="l" t="t" r="r" b="b"/>
            <a:pathLst>
              <a:path w="258444" h="199389">
                <a:moveTo>
                  <a:pt x="150441" y="199106"/>
                </a:moveTo>
                <a:lnTo>
                  <a:pt x="106397" y="199106"/>
                </a:lnTo>
                <a:lnTo>
                  <a:pt x="106397" y="171596"/>
                </a:lnTo>
                <a:lnTo>
                  <a:pt x="64254" y="161266"/>
                </a:lnTo>
                <a:lnTo>
                  <a:pt x="30516" y="142324"/>
                </a:lnTo>
                <a:lnTo>
                  <a:pt x="8118" y="116741"/>
                </a:lnTo>
                <a:lnTo>
                  <a:pt x="0" y="86487"/>
                </a:lnTo>
                <a:lnTo>
                  <a:pt x="10148" y="52817"/>
                </a:lnTo>
                <a:lnTo>
                  <a:pt x="37821" y="25327"/>
                </a:lnTo>
                <a:lnTo>
                  <a:pt x="78860" y="6794"/>
                </a:lnTo>
                <a:lnTo>
                  <a:pt x="129108" y="0"/>
                </a:lnTo>
                <a:lnTo>
                  <a:pt x="179355" y="6794"/>
                </a:lnTo>
                <a:lnTo>
                  <a:pt x="220395" y="25327"/>
                </a:lnTo>
                <a:lnTo>
                  <a:pt x="228946" y="33821"/>
                </a:lnTo>
                <a:lnTo>
                  <a:pt x="148885" y="33821"/>
                </a:lnTo>
                <a:lnTo>
                  <a:pt x="110696" y="38463"/>
                </a:lnTo>
                <a:lnTo>
                  <a:pt x="79503" y="51126"/>
                </a:lnTo>
                <a:lnTo>
                  <a:pt x="58468" y="69914"/>
                </a:lnTo>
                <a:lnTo>
                  <a:pt x="50754" y="92931"/>
                </a:lnTo>
                <a:lnTo>
                  <a:pt x="54801" y="109747"/>
                </a:lnTo>
                <a:lnTo>
                  <a:pt x="54923" y="109953"/>
                </a:lnTo>
                <a:lnTo>
                  <a:pt x="66226" y="124791"/>
                </a:lnTo>
                <a:lnTo>
                  <a:pt x="83810" y="137161"/>
                </a:lnTo>
                <a:lnTo>
                  <a:pt x="106397" y="146219"/>
                </a:lnTo>
                <a:lnTo>
                  <a:pt x="150396" y="146219"/>
                </a:lnTo>
                <a:lnTo>
                  <a:pt x="150396" y="151996"/>
                </a:lnTo>
                <a:lnTo>
                  <a:pt x="220957" y="151996"/>
                </a:lnTo>
                <a:lnTo>
                  <a:pt x="229019" y="165596"/>
                </a:lnTo>
                <a:lnTo>
                  <a:pt x="181285" y="165596"/>
                </a:lnTo>
                <a:lnTo>
                  <a:pt x="173897" y="167611"/>
                </a:lnTo>
                <a:lnTo>
                  <a:pt x="166279" y="169318"/>
                </a:lnTo>
                <a:lnTo>
                  <a:pt x="158454" y="170708"/>
                </a:lnTo>
                <a:lnTo>
                  <a:pt x="150441" y="171774"/>
                </a:lnTo>
                <a:lnTo>
                  <a:pt x="150441" y="199106"/>
                </a:lnTo>
                <a:close/>
              </a:path>
              <a:path w="258444" h="199389">
                <a:moveTo>
                  <a:pt x="229512" y="140219"/>
                </a:moveTo>
                <a:lnTo>
                  <a:pt x="211817" y="140219"/>
                </a:lnTo>
                <a:lnTo>
                  <a:pt x="224911" y="131949"/>
                </a:lnTo>
                <a:lnTo>
                  <a:pt x="234739" y="121358"/>
                </a:lnTo>
                <a:lnTo>
                  <a:pt x="240917" y="108376"/>
                </a:lnTo>
                <a:lnTo>
                  <a:pt x="243061" y="92931"/>
                </a:lnTo>
                <a:lnTo>
                  <a:pt x="235965" y="66389"/>
                </a:lnTo>
                <a:lnTo>
                  <a:pt x="216289" y="47993"/>
                </a:lnTo>
                <a:lnTo>
                  <a:pt x="186456" y="37288"/>
                </a:lnTo>
                <a:lnTo>
                  <a:pt x="148885" y="33821"/>
                </a:lnTo>
                <a:lnTo>
                  <a:pt x="228946" y="33821"/>
                </a:lnTo>
                <a:lnTo>
                  <a:pt x="248068" y="52817"/>
                </a:lnTo>
                <a:lnTo>
                  <a:pt x="258216" y="86487"/>
                </a:lnTo>
                <a:lnTo>
                  <a:pt x="255484" y="104250"/>
                </a:lnTo>
                <a:lnTo>
                  <a:pt x="247655" y="120764"/>
                </a:lnTo>
                <a:lnTo>
                  <a:pt x="235285" y="135661"/>
                </a:lnTo>
                <a:lnTo>
                  <a:pt x="229512" y="140219"/>
                </a:lnTo>
                <a:close/>
              </a:path>
              <a:path w="258444" h="199389">
                <a:moveTo>
                  <a:pt x="150396" y="146219"/>
                </a:moveTo>
                <a:lnTo>
                  <a:pt x="106397" y="146219"/>
                </a:lnTo>
                <a:lnTo>
                  <a:pt x="106397" y="53643"/>
                </a:lnTo>
                <a:lnTo>
                  <a:pt x="194840" y="53643"/>
                </a:lnTo>
                <a:lnTo>
                  <a:pt x="201131" y="54353"/>
                </a:lnTo>
                <a:lnTo>
                  <a:pt x="214973" y="58793"/>
                </a:lnTo>
                <a:lnTo>
                  <a:pt x="228814" y="70424"/>
                </a:lnTo>
                <a:lnTo>
                  <a:pt x="232931" y="85007"/>
                </a:lnTo>
                <a:lnTo>
                  <a:pt x="167731" y="85007"/>
                </a:lnTo>
                <a:lnTo>
                  <a:pt x="150796" y="85242"/>
                </a:lnTo>
                <a:lnTo>
                  <a:pt x="150796" y="109953"/>
                </a:lnTo>
                <a:lnTo>
                  <a:pt x="166193" y="110269"/>
                </a:lnTo>
                <a:lnTo>
                  <a:pt x="230437" y="110269"/>
                </a:lnTo>
                <a:lnTo>
                  <a:pt x="229092" y="115327"/>
                </a:lnTo>
                <a:lnTo>
                  <a:pt x="215862" y="127691"/>
                </a:lnTo>
                <a:lnTo>
                  <a:pt x="202631" y="132864"/>
                </a:lnTo>
                <a:lnTo>
                  <a:pt x="196618" y="133908"/>
                </a:lnTo>
                <a:lnTo>
                  <a:pt x="204440" y="136263"/>
                </a:lnTo>
                <a:lnTo>
                  <a:pt x="208973" y="138574"/>
                </a:lnTo>
                <a:lnTo>
                  <a:pt x="209728" y="138930"/>
                </a:lnTo>
                <a:lnTo>
                  <a:pt x="210751" y="139508"/>
                </a:lnTo>
                <a:lnTo>
                  <a:pt x="211817" y="140219"/>
                </a:lnTo>
                <a:lnTo>
                  <a:pt x="229512" y="140219"/>
                </a:lnTo>
                <a:lnTo>
                  <a:pt x="227035" y="142174"/>
                </a:lnTo>
                <a:lnTo>
                  <a:pt x="150396" y="142174"/>
                </a:lnTo>
                <a:lnTo>
                  <a:pt x="150396" y="146219"/>
                </a:lnTo>
                <a:close/>
              </a:path>
              <a:path w="258444" h="199389">
                <a:moveTo>
                  <a:pt x="230437" y="110269"/>
                </a:moveTo>
                <a:lnTo>
                  <a:pt x="166193" y="110269"/>
                </a:lnTo>
                <a:lnTo>
                  <a:pt x="178574" y="109747"/>
                </a:lnTo>
                <a:lnTo>
                  <a:pt x="186821" y="106184"/>
                </a:lnTo>
                <a:lnTo>
                  <a:pt x="189818" y="97375"/>
                </a:lnTo>
                <a:lnTo>
                  <a:pt x="187333" y="89086"/>
                </a:lnTo>
                <a:lnTo>
                  <a:pt x="179940" y="85625"/>
                </a:lnTo>
                <a:lnTo>
                  <a:pt x="167731" y="85007"/>
                </a:lnTo>
                <a:lnTo>
                  <a:pt x="232931" y="85007"/>
                </a:lnTo>
                <a:lnTo>
                  <a:pt x="235106" y="92709"/>
                </a:lnTo>
                <a:lnTo>
                  <a:pt x="230437" y="110269"/>
                </a:lnTo>
                <a:close/>
              </a:path>
              <a:path w="258444" h="199389">
                <a:moveTo>
                  <a:pt x="220957" y="151996"/>
                </a:moveTo>
                <a:lnTo>
                  <a:pt x="150396" y="151996"/>
                </a:lnTo>
                <a:lnTo>
                  <a:pt x="158218" y="151952"/>
                </a:lnTo>
                <a:lnTo>
                  <a:pt x="165729" y="151552"/>
                </a:lnTo>
                <a:lnTo>
                  <a:pt x="172885" y="150707"/>
                </a:lnTo>
                <a:lnTo>
                  <a:pt x="170618" y="147374"/>
                </a:lnTo>
                <a:lnTo>
                  <a:pt x="167018" y="142174"/>
                </a:lnTo>
                <a:lnTo>
                  <a:pt x="227035" y="142174"/>
                </a:lnTo>
                <a:lnTo>
                  <a:pt x="218928" y="148574"/>
                </a:lnTo>
                <a:lnTo>
                  <a:pt x="220957" y="151996"/>
                </a:lnTo>
                <a:close/>
              </a:path>
              <a:path w="258444" h="199389">
                <a:moveTo>
                  <a:pt x="248883" y="199106"/>
                </a:moveTo>
                <a:lnTo>
                  <a:pt x="199106" y="199106"/>
                </a:lnTo>
                <a:lnTo>
                  <a:pt x="181285" y="165596"/>
                </a:lnTo>
                <a:lnTo>
                  <a:pt x="229019" y="165596"/>
                </a:lnTo>
                <a:lnTo>
                  <a:pt x="248883" y="199106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913492" y="3880053"/>
            <a:ext cx="202837" cy="1456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914400" y="4591050"/>
            <a:ext cx="228599" cy="228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913492" y="5385003"/>
            <a:ext cx="202837" cy="1456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914400" y="6095999"/>
            <a:ext cx="228599" cy="228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0964712" y="6207124"/>
            <a:ext cx="4210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5">
                <a:solidFill>
                  <a:srgbClr val="585D60"/>
                </a:solidFill>
                <a:latin typeface="Arial"/>
                <a:cs typeface="Arial"/>
              </a:rPr>
              <a:t>3 </a:t>
            </a:r>
            <a:r>
              <a:rPr dirty="0" sz="1200" spc="160">
                <a:solidFill>
                  <a:srgbClr val="585D60"/>
                </a:solidFill>
                <a:latin typeface="Arial"/>
                <a:cs typeface="Arial"/>
              </a:rPr>
              <a:t>/</a:t>
            </a:r>
            <a:r>
              <a:rPr dirty="0" sz="1200" spc="-16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585D60"/>
                </a:solidFill>
                <a:latin typeface="Arial"/>
                <a:cs typeface="Arial"/>
              </a:rPr>
              <a:t>33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20700"/>
            <a:ext cx="7729855" cy="6540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4100" spc="-210">
                <a:latin typeface="Trebuchet MS"/>
                <a:cs typeface="Trebuchet MS"/>
              </a:rPr>
              <a:t>Learning </a:t>
            </a:r>
            <a:r>
              <a:rPr dirty="0" sz="4100" spc="-254">
                <a:latin typeface="Trebuchet MS"/>
                <a:cs typeface="Trebuchet MS"/>
              </a:rPr>
              <a:t>Objectives </a:t>
            </a:r>
            <a:r>
              <a:rPr dirty="0" sz="4100" spc="-229">
                <a:latin typeface="Trebuchet MS"/>
                <a:cs typeface="Trebuchet MS"/>
              </a:rPr>
              <a:t>for </a:t>
            </a:r>
            <a:r>
              <a:rPr dirty="0" sz="4100" spc="-170">
                <a:latin typeface="Trebuchet MS"/>
                <a:cs typeface="Trebuchet MS"/>
              </a:rPr>
              <a:t>Today's</a:t>
            </a:r>
            <a:r>
              <a:rPr dirty="0" sz="4100" spc="-550">
                <a:latin typeface="Trebuchet MS"/>
                <a:cs typeface="Trebuchet MS"/>
              </a:rPr>
              <a:t> </a:t>
            </a:r>
            <a:r>
              <a:rPr dirty="0" sz="4100" spc="-25">
                <a:latin typeface="Trebuchet MS"/>
                <a:cs typeface="Trebuchet MS"/>
              </a:rPr>
              <a:t>Class</a:t>
            </a:r>
            <a:endParaRPr sz="41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8754" y="1530350"/>
            <a:ext cx="6264275" cy="2471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 indent="-133985">
              <a:lnSpc>
                <a:spcPct val="100000"/>
              </a:lnSpc>
              <a:spcBef>
                <a:spcPts val="100"/>
              </a:spcBef>
              <a:buClr>
                <a:srgbClr val="C2132D"/>
              </a:buClr>
              <a:buFont typeface="Trebuchet MS"/>
              <a:buChar char="•"/>
              <a:tabLst>
                <a:tab pos="146685" algn="l"/>
              </a:tabLst>
            </a:pPr>
            <a:r>
              <a:rPr dirty="0" sz="1800" spc="-15">
                <a:solidFill>
                  <a:srgbClr val="585D60"/>
                </a:solidFill>
                <a:latin typeface="Arial"/>
                <a:cs typeface="Arial"/>
              </a:rPr>
              <a:t>Describe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goals </a:t>
            </a:r>
            <a:r>
              <a:rPr dirty="0" sz="1800" spc="-85">
                <a:solidFill>
                  <a:srgbClr val="585D60"/>
                </a:solidFill>
                <a:latin typeface="Arial"/>
                <a:cs typeface="Arial"/>
              </a:rPr>
              <a:t>&amp; </a:t>
            </a:r>
            <a:r>
              <a:rPr dirty="0" sz="1800" spc="35">
                <a:solidFill>
                  <a:srgbClr val="585D60"/>
                </a:solidFill>
                <a:latin typeface="Arial"/>
                <a:cs typeface="Arial"/>
              </a:rPr>
              <a:t>functions </a:t>
            </a:r>
            <a:r>
              <a:rPr dirty="0" sz="1800" spc="75">
                <a:solidFill>
                  <a:srgbClr val="585D60"/>
                </a:solidFill>
                <a:latin typeface="Arial"/>
                <a:cs typeface="Arial"/>
              </a:rPr>
              <a:t>of</a:t>
            </a:r>
            <a:r>
              <a:rPr dirty="0" sz="1800" spc="-36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data </a:t>
            </a:r>
            <a:r>
              <a:rPr dirty="0" sz="1800" spc="25">
                <a:solidFill>
                  <a:srgbClr val="585D60"/>
                </a:solidFill>
                <a:latin typeface="Arial"/>
                <a:cs typeface="Arial"/>
              </a:rPr>
              <a:t>mining</a:t>
            </a:r>
            <a:endParaRPr sz="1800">
              <a:latin typeface="Arial"/>
              <a:cs typeface="Arial"/>
            </a:endParaRPr>
          </a:p>
          <a:p>
            <a:pPr marL="14605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Font typeface="Trebuchet MS"/>
              <a:buChar char="•"/>
              <a:tabLst>
                <a:tab pos="146685" algn="l"/>
              </a:tabLst>
            </a:pP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Understand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5">
                <a:solidFill>
                  <a:srgbClr val="585D60"/>
                </a:solidFill>
                <a:latin typeface="Arial"/>
                <a:cs typeface="Arial"/>
              </a:rPr>
              <a:t>statistical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585D60"/>
                </a:solidFill>
                <a:latin typeface="Arial"/>
                <a:cs typeface="Arial"/>
              </a:rPr>
              <a:t>limits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on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data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5">
                <a:solidFill>
                  <a:srgbClr val="585D60"/>
                </a:solidFill>
                <a:latin typeface="Arial"/>
                <a:cs typeface="Arial"/>
              </a:rPr>
              <a:t>mining</a:t>
            </a:r>
            <a:endParaRPr sz="1800">
              <a:latin typeface="Arial"/>
              <a:cs typeface="Arial"/>
            </a:endParaRPr>
          </a:p>
          <a:p>
            <a:pPr marL="146050" indent="-133985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Font typeface="Trebuchet MS"/>
              <a:buChar char="•"/>
              <a:tabLst>
                <a:tab pos="146685" algn="l"/>
              </a:tabLst>
            </a:pPr>
            <a:r>
              <a:rPr dirty="0" sz="1800" spc="-15">
                <a:solidFill>
                  <a:srgbClr val="585D60"/>
                </a:solidFill>
                <a:latin typeface="Arial"/>
                <a:cs typeface="Arial"/>
              </a:rPr>
              <a:t>Describe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 data </a:t>
            </a:r>
            <a:r>
              <a:rPr dirty="0" sz="1800" spc="25">
                <a:solidFill>
                  <a:srgbClr val="585D60"/>
                </a:solidFill>
                <a:latin typeface="Arial"/>
                <a:cs typeface="Arial"/>
              </a:rPr>
              <a:t>mining</a:t>
            </a:r>
            <a:r>
              <a:rPr dirty="0" sz="1800" spc="-229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process</a:t>
            </a:r>
            <a:endParaRPr sz="1800">
              <a:latin typeface="Arial"/>
              <a:cs typeface="Arial"/>
            </a:endParaRPr>
          </a:p>
          <a:p>
            <a:pPr marL="14605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Font typeface="Trebuchet MS"/>
              <a:buChar char="•"/>
              <a:tabLst>
                <a:tab pos="146685" algn="l"/>
              </a:tabLst>
            </a:pPr>
            <a:r>
              <a:rPr dirty="0" sz="1800" spc="-15">
                <a:solidFill>
                  <a:srgbClr val="585D60"/>
                </a:solidFill>
                <a:latin typeface="Arial"/>
                <a:cs typeface="Arial"/>
              </a:rPr>
              <a:t>What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Arial"/>
                <a:cs typeface="Arial"/>
              </a:rPr>
              <a:t>is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“frequent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Arial"/>
                <a:cs typeface="Arial"/>
              </a:rPr>
              <a:t>itemsets”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85">
                <a:solidFill>
                  <a:srgbClr val="585D60"/>
                </a:solidFill>
                <a:latin typeface="Arial"/>
                <a:cs typeface="Arial"/>
              </a:rPr>
              <a:t>&amp;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application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Arial"/>
                <a:cs typeface="Arial"/>
              </a:rPr>
              <a:t>of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5">
                <a:solidFill>
                  <a:srgbClr val="585D60"/>
                </a:solidFill>
                <a:latin typeface="Arial"/>
                <a:cs typeface="Arial"/>
              </a:rPr>
              <a:t>this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concept</a:t>
            </a:r>
            <a:endParaRPr sz="1800">
              <a:latin typeface="Arial"/>
              <a:cs typeface="Arial"/>
            </a:endParaRPr>
          </a:p>
          <a:p>
            <a:pPr marL="146050" indent="-133985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Font typeface="Trebuchet MS"/>
              <a:buChar char="•"/>
              <a:tabLst>
                <a:tab pos="146685" algn="l"/>
              </a:tabLst>
            </a:pPr>
            <a:r>
              <a:rPr dirty="0" sz="1800" spc="-20">
                <a:solidFill>
                  <a:srgbClr val="585D60"/>
                </a:solidFill>
                <a:latin typeface="Arial"/>
                <a:cs typeface="Arial"/>
              </a:rPr>
              <a:t>Explain</a:t>
            </a:r>
            <a:r>
              <a:rPr dirty="0" sz="1800" spc="-6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how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and</a:t>
            </a:r>
            <a:r>
              <a:rPr dirty="0" sz="1800" spc="-6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why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“association</a:t>
            </a:r>
            <a:r>
              <a:rPr dirty="0" sz="1800" spc="-6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rules”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30">
                <a:solidFill>
                  <a:srgbClr val="585D60"/>
                </a:solidFill>
                <a:latin typeface="Arial"/>
                <a:cs typeface="Arial"/>
              </a:rPr>
              <a:t>are</a:t>
            </a:r>
            <a:r>
              <a:rPr dirty="0" sz="1800" spc="-6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5">
                <a:solidFill>
                  <a:srgbClr val="585D60"/>
                </a:solidFill>
                <a:latin typeface="Arial"/>
                <a:cs typeface="Arial"/>
              </a:rPr>
              <a:t>constructed</a:t>
            </a:r>
            <a:endParaRPr sz="1800">
              <a:latin typeface="Arial"/>
              <a:cs typeface="Arial"/>
            </a:endParaRPr>
          </a:p>
          <a:p>
            <a:pPr marL="14605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Font typeface="Trebuchet MS"/>
              <a:buChar char="•"/>
              <a:tabLst>
                <a:tab pos="146685" algn="l"/>
                <a:tab pos="905510" algn="l"/>
              </a:tabLst>
            </a:pP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Use	</a:t>
            </a:r>
            <a:r>
              <a:rPr dirty="0" sz="1800" spc="45">
                <a:solidFill>
                  <a:srgbClr val="585D60"/>
                </a:solidFill>
                <a:latin typeface="Arial"/>
                <a:cs typeface="Arial"/>
              </a:rPr>
              <a:t>to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populate </a:t>
            </a:r>
            <a:r>
              <a:rPr dirty="0" sz="1800" spc="25">
                <a:solidFill>
                  <a:srgbClr val="585D60"/>
                </a:solidFill>
                <a:latin typeface="Arial"/>
                <a:cs typeface="Arial"/>
              </a:rPr>
              <a:t>both</a:t>
            </a:r>
            <a:r>
              <a:rPr dirty="0" sz="1800" spc="-22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concepts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743075" y="3758071"/>
            <a:ext cx="258445" cy="199390"/>
          </a:xfrm>
          <a:custGeom>
            <a:avLst/>
            <a:gdLst/>
            <a:ahLst/>
            <a:cxnLst/>
            <a:rect l="l" t="t" r="r" b="b"/>
            <a:pathLst>
              <a:path w="258444" h="199389">
                <a:moveTo>
                  <a:pt x="150441" y="199106"/>
                </a:moveTo>
                <a:lnTo>
                  <a:pt x="106397" y="199106"/>
                </a:lnTo>
                <a:lnTo>
                  <a:pt x="106397" y="171596"/>
                </a:lnTo>
                <a:lnTo>
                  <a:pt x="64254" y="161266"/>
                </a:lnTo>
                <a:lnTo>
                  <a:pt x="30516" y="142324"/>
                </a:lnTo>
                <a:lnTo>
                  <a:pt x="8118" y="116741"/>
                </a:lnTo>
                <a:lnTo>
                  <a:pt x="0" y="86487"/>
                </a:lnTo>
                <a:lnTo>
                  <a:pt x="10148" y="52817"/>
                </a:lnTo>
                <a:lnTo>
                  <a:pt x="37821" y="25327"/>
                </a:lnTo>
                <a:lnTo>
                  <a:pt x="78860" y="6794"/>
                </a:lnTo>
                <a:lnTo>
                  <a:pt x="129108" y="0"/>
                </a:lnTo>
                <a:lnTo>
                  <a:pt x="179355" y="6794"/>
                </a:lnTo>
                <a:lnTo>
                  <a:pt x="220395" y="25327"/>
                </a:lnTo>
                <a:lnTo>
                  <a:pt x="228946" y="33821"/>
                </a:lnTo>
                <a:lnTo>
                  <a:pt x="148885" y="33821"/>
                </a:lnTo>
                <a:lnTo>
                  <a:pt x="110696" y="38463"/>
                </a:lnTo>
                <a:lnTo>
                  <a:pt x="79503" y="51126"/>
                </a:lnTo>
                <a:lnTo>
                  <a:pt x="58468" y="69914"/>
                </a:lnTo>
                <a:lnTo>
                  <a:pt x="50754" y="92931"/>
                </a:lnTo>
                <a:lnTo>
                  <a:pt x="54801" y="109747"/>
                </a:lnTo>
                <a:lnTo>
                  <a:pt x="54923" y="109953"/>
                </a:lnTo>
                <a:lnTo>
                  <a:pt x="66226" y="124791"/>
                </a:lnTo>
                <a:lnTo>
                  <a:pt x="83810" y="137161"/>
                </a:lnTo>
                <a:lnTo>
                  <a:pt x="106397" y="146219"/>
                </a:lnTo>
                <a:lnTo>
                  <a:pt x="150396" y="146219"/>
                </a:lnTo>
                <a:lnTo>
                  <a:pt x="150396" y="151996"/>
                </a:lnTo>
                <a:lnTo>
                  <a:pt x="220957" y="151996"/>
                </a:lnTo>
                <a:lnTo>
                  <a:pt x="229019" y="165596"/>
                </a:lnTo>
                <a:lnTo>
                  <a:pt x="181285" y="165596"/>
                </a:lnTo>
                <a:lnTo>
                  <a:pt x="173897" y="167611"/>
                </a:lnTo>
                <a:lnTo>
                  <a:pt x="166279" y="169318"/>
                </a:lnTo>
                <a:lnTo>
                  <a:pt x="158454" y="170708"/>
                </a:lnTo>
                <a:lnTo>
                  <a:pt x="150441" y="171774"/>
                </a:lnTo>
                <a:lnTo>
                  <a:pt x="150441" y="199106"/>
                </a:lnTo>
                <a:close/>
              </a:path>
              <a:path w="258444" h="199389">
                <a:moveTo>
                  <a:pt x="229512" y="140219"/>
                </a:moveTo>
                <a:lnTo>
                  <a:pt x="211817" y="140219"/>
                </a:lnTo>
                <a:lnTo>
                  <a:pt x="224911" y="131949"/>
                </a:lnTo>
                <a:lnTo>
                  <a:pt x="234739" y="121358"/>
                </a:lnTo>
                <a:lnTo>
                  <a:pt x="240917" y="108376"/>
                </a:lnTo>
                <a:lnTo>
                  <a:pt x="243061" y="92931"/>
                </a:lnTo>
                <a:lnTo>
                  <a:pt x="235965" y="66389"/>
                </a:lnTo>
                <a:lnTo>
                  <a:pt x="216289" y="47993"/>
                </a:lnTo>
                <a:lnTo>
                  <a:pt x="186456" y="37288"/>
                </a:lnTo>
                <a:lnTo>
                  <a:pt x="148885" y="33821"/>
                </a:lnTo>
                <a:lnTo>
                  <a:pt x="228946" y="33821"/>
                </a:lnTo>
                <a:lnTo>
                  <a:pt x="248068" y="52817"/>
                </a:lnTo>
                <a:lnTo>
                  <a:pt x="258216" y="86487"/>
                </a:lnTo>
                <a:lnTo>
                  <a:pt x="255484" y="104250"/>
                </a:lnTo>
                <a:lnTo>
                  <a:pt x="247655" y="120764"/>
                </a:lnTo>
                <a:lnTo>
                  <a:pt x="235285" y="135661"/>
                </a:lnTo>
                <a:lnTo>
                  <a:pt x="229512" y="140219"/>
                </a:lnTo>
                <a:close/>
              </a:path>
              <a:path w="258444" h="199389">
                <a:moveTo>
                  <a:pt x="150396" y="146219"/>
                </a:moveTo>
                <a:lnTo>
                  <a:pt x="106397" y="146219"/>
                </a:lnTo>
                <a:lnTo>
                  <a:pt x="106397" y="53643"/>
                </a:lnTo>
                <a:lnTo>
                  <a:pt x="194840" y="53643"/>
                </a:lnTo>
                <a:lnTo>
                  <a:pt x="201131" y="54353"/>
                </a:lnTo>
                <a:lnTo>
                  <a:pt x="214973" y="58793"/>
                </a:lnTo>
                <a:lnTo>
                  <a:pt x="228814" y="70424"/>
                </a:lnTo>
                <a:lnTo>
                  <a:pt x="232931" y="85007"/>
                </a:lnTo>
                <a:lnTo>
                  <a:pt x="167731" y="85007"/>
                </a:lnTo>
                <a:lnTo>
                  <a:pt x="150796" y="85242"/>
                </a:lnTo>
                <a:lnTo>
                  <a:pt x="150796" y="109953"/>
                </a:lnTo>
                <a:lnTo>
                  <a:pt x="166193" y="110269"/>
                </a:lnTo>
                <a:lnTo>
                  <a:pt x="230437" y="110269"/>
                </a:lnTo>
                <a:lnTo>
                  <a:pt x="229092" y="115327"/>
                </a:lnTo>
                <a:lnTo>
                  <a:pt x="215862" y="127691"/>
                </a:lnTo>
                <a:lnTo>
                  <a:pt x="202631" y="132864"/>
                </a:lnTo>
                <a:lnTo>
                  <a:pt x="196618" y="133908"/>
                </a:lnTo>
                <a:lnTo>
                  <a:pt x="204440" y="136263"/>
                </a:lnTo>
                <a:lnTo>
                  <a:pt x="208973" y="138574"/>
                </a:lnTo>
                <a:lnTo>
                  <a:pt x="209728" y="138930"/>
                </a:lnTo>
                <a:lnTo>
                  <a:pt x="210751" y="139508"/>
                </a:lnTo>
                <a:lnTo>
                  <a:pt x="211817" y="140219"/>
                </a:lnTo>
                <a:lnTo>
                  <a:pt x="229512" y="140219"/>
                </a:lnTo>
                <a:lnTo>
                  <a:pt x="227035" y="142174"/>
                </a:lnTo>
                <a:lnTo>
                  <a:pt x="150396" y="142174"/>
                </a:lnTo>
                <a:lnTo>
                  <a:pt x="150396" y="146219"/>
                </a:lnTo>
                <a:close/>
              </a:path>
              <a:path w="258444" h="199389">
                <a:moveTo>
                  <a:pt x="230437" y="110269"/>
                </a:moveTo>
                <a:lnTo>
                  <a:pt x="166193" y="110269"/>
                </a:lnTo>
                <a:lnTo>
                  <a:pt x="178574" y="109747"/>
                </a:lnTo>
                <a:lnTo>
                  <a:pt x="186821" y="106184"/>
                </a:lnTo>
                <a:lnTo>
                  <a:pt x="189818" y="97375"/>
                </a:lnTo>
                <a:lnTo>
                  <a:pt x="187333" y="89086"/>
                </a:lnTo>
                <a:lnTo>
                  <a:pt x="179940" y="85625"/>
                </a:lnTo>
                <a:lnTo>
                  <a:pt x="167731" y="85007"/>
                </a:lnTo>
                <a:lnTo>
                  <a:pt x="232931" y="85007"/>
                </a:lnTo>
                <a:lnTo>
                  <a:pt x="235106" y="92709"/>
                </a:lnTo>
                <a:lnTo>
                  <a:pt x="230437" y="110269"/>
                </a:lnTo>
                <a:close/>
              </a:path>
              <a:path w="258444" h="199389">
                <a:moveTo>
                  <a:pt x="220957" y="151996"/>
                </a:moveTo>
                <a:lnTo>
                  <a:pt x="150396" y="151996"/>
                </a:lnTo>
                <a:lnTo>
                  <a:pt x="158218" y="151952"/>
                </a:lnTo>
                <a:lnTo>
                  <a:pt x="165729" y="151552"/>
                </a:lnTo>
                <a:lnTo>
                  <a:pt x="172885" y="150707"/>
                </a:lnTo>
                <a:lnTo>
                  <a:pt x="170618" y="147374"/>
                </a:lnTo>
                <a:lnTo>
                  <a:pt x="167018" y="142174"/>
                </a:lnTo>
                <a:lnTo>
                  <a:pt x="227035" y="142174"/>
                </a:lnTo>
                <a:lnTo>
                  <a:pt x="218928" y="148574"/>
                </a:lnTo>
                <a:lnTo>
                  <a:pt x="220957" y="151996"/>
                </a:lnTo>
                <a:close/>
              </a:path>
              <a:path w="258444" h="199389">
                <a:moveTo>
                  <a:pt x="248883" y="199106"/>
                </a:moveTo>
                <a:lnTo>
                  <a:pt x="199106" y="199106"/>
                </a:lnTo>
                <a:lnTo>
                  <a:pt x="181285" y="165596"/>
                </a:lnTo>
                <a:lnTo>
                  <a:pt x="229019" y="165596"/>
                </a:lnTo>
                <a:lnTo>
                  <a:pt x="248883" y="199106"/>
                </a:lnTo>
                <a:close/>
              </a:path>
            </a:pathLst>
          </a:custGeom>
          <a:solidFill>
            <a:srgbClr val="585D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964712" y="6207124"/>
            <a:ext cx="4210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5">
                <a:solidFill>
                  <a:srgbClr val="585D60"/>
                </a:solidFill>
                <a:latin typeface="Arial"/>
                <a:cs typeface="Arial"/>
              </a:rPr>
              <a:t>4 </a:t>
            </a:r>
            <a:r>
              <a:rPr dirty="0" sz="1200" spc="160">
                <a:solidFill>
                  <a:srgbClr val="585D60"/>
                </a:solidFill>
                <a:latin typeface="Arial"/>
                <a:cs typeface="Arial"/>
              </a:rPr>
              <a:t>/</a:t>
            </a:r>
            <a:r>
              <a:rPr dirty="0" sz="1200" spc="-16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585D60"/>
                </a:solidFill>
                <a:latin typeface="Arial"/>
                <a:cs typeface="Arial"/>
              </a:rPr>
              <a:t>33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54808" y="2752344"/>
            <a:ext cx="6190615" cy="1045844"/>
          </a:xfrm>
          <a:prstGeom prst="rect"/>
          <a:solidFill>
            <a:srgbClr val="333333"/>
          </a:solidFill>
        </p:spPr>
        <p:txBody>
          <a:bodyPr wrap="square" lIns="0" tIns="146050" rIns="0" bIns="0" rtlCol="0" vert="horz">
            <a:spAutoFit/>
          </a:bodyPr>
          <a:lstStyle/>
          <a:p>
            <a:pPr marL="257810">
              <a:lnSpc>
                <a:spcPct val="100000"/>
              </a:lnSpc>
              <a:spcBef>
                <a:spcPts val="1150"/>
              </a:spcBef>
            </a:pPr>
            <a:r>
              <a:rPr dirty="0" sz="4100" spc="-1240">
                <a:solidFill>
                  <a:srgbClr val="000000"/>
                </a:solidFill>
                <a:latin typeface="Trebuchet MS"/>
                <a:cs typeface="Trebuchet MS"/>
              </a:rPr>
              <a:t>A</a:t>
            </a:r>
            <a:r>
              <a:rPr dirty="0" sz="4100" spc="-124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4100" spc="-1240">
                <a:solidFill>
                  <a:srgbClr val="000000"/>
                </a:solidFill>
                <a:latin typeface="Trebuchet MS"/>
                <a:cs typeface="Trebuchet MS"/>
              </a:rPr>
              <a:t>n</a:t>
            </a:r>
            <a:r>
              <a:rPr dirty="0" sz="4100" spc="-124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dirty="0" sz="4100" spc="-27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4100" spc="-1215">
                <a:solidFill>
                  <a:srgbClr val="000000"/>
                </a:solidFill>
                <a:latin typeface="Trebuchet MS"/>
                <a:cs typeface="Trebuchet MS"/>
              </a:rPr>
              <a:t>O</a:t>
            </a:r>
            <a:r>
              <a:rPr dirty="0" sz="4100" spc="-1215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dirty="0" sz="4100" spc="-1215">
                <a:solidFill>
                  <a:srgbClr val="000000"/>
                </a:solidFill>
                <a:latin typeface="Trebuchet MS"/>
                <a:cs typeface="Trebuchet MS"/>
              </a:rPr>
              <a:t>v</a:t>
            </a:r>
            <a:r>
              <a:rPr dirty="0" sz="4100" spc="-1215">
                <a:solidFill>
                  <a:srgbClr val="FFFFFF"/>
                </a:solidFill>
                <a:latin typeface="Trebuchet MS"/>
                <a:cs typeface="Trebuchet MS"/>
              </a:rPr>
              <a:t>v</a:t>
            </a:r>
            <a:r>
              <a:rPr dirty="0" sz="4100" spc="-1215">
                <a:solidFill>
                  <a:srgbClr val="000000"/>
                </a:solidFill>
                <a:latin typeface="Trebuchet MS"/>
                <a:cs typeface="Trebuchet MS"/>
              </a:rPr>
              <a:t>e</a:t>
            </a:r>
            <a:r>
              <a:rPr dirty="0" sz="4100" spc="-1215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dirty="0" sz="4100" spc="-1215">
                <a:solidFill>
                  <a:srgbClr val="000000"/>
                </a:solidFill>
                <a:latin typeface="Trebuchet MS"/>
                <a:cs typeface="Trebuchet MS"/>
              </a:rPr>
              <a:t>r</a:t>
            </a:r>
            <a:r>
              <a:rPr dirty="0" sz="4100" spc="-1215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dirty="0" sz="4100" spc="-1215">
                <a:solidFill>
                  <a:srgbClr val="000000"/>
                </a:solidFill>
                <a:latin typeface="Trebuchet MS"/>
                <a:cs typeface="Trebuchet MS"/>
              </a:rPr>
              <a:t>v</a:t>
            </a:r>
            <a:r>
              <a:rPr dirty="0" sz="4100" spc="-1215">
                <a:solidFill>
                  <a:srgbClr val="FFFFFF"/>
                </a:solidFill>
                <a:latin typeface="Trebuchet MS"/>
                <a:cs typeface="Trebuchet MS"/>
              </a:rPr>
              <a:t>v</a:t>
            </a:r>
            <a:r>
              <a:rPr dirty="0" sz="4100" spc="-1215">
                <a:solidFill>
                  <a:srgbClr val="000000"/>
                </a:solidFill>
                <a:latin typeface="Trebuchet MS"/>
                <a:cs typeface="Trebuchet MS"/>
              </a:rPr>
              <a:t>i</a:t>
            </a:r>
            <a:r>
              <a:rPr dirty="0" sz="4100" spc="-1215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dirty="0" sz="4100" spc="-1215">
                <a:solidFill>
                  <a:srgbClr val="000000"/>
                </a:solidFill>
                <a:latin typeface="Trebuchet MS"/>
                <a:cs typeface="Trebuchet MS"/>
              </a:rPr>
              <a:t>e</a:t>
            </a:r>
            <a:r>
              <a:rPr dirty="0" sz="4100" spc="-1215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dirty="0" sz="4100" spc="-1215">
                <a:solidFill>
                  <a:srgbClr val="000000"/>
                </a:solidFill>
                <a:latin typeface="Trebuchet MS"/>
                <a:cs typeface="Trebuchet MS"/>
              </a:rPr>
              <a:t>w</a:t>
            </a:r>
            <a:r>
              <a:rPr dirty="0" sz="4100" spc="-1215">
                <a:solidFill>
                  <a:srgbClr val="FFFFFF"/>
                </a:solidFill>
                <a:latin typeface="Trebuchet MS"/>
                <a:cs typeface="Trebuchet MS"/>
              </a:rPr>
              <a:t>w </a:t>
            </a:r>
            <a:r>
              <a:rPr dirty="0" sz="4100" spc="-1019">
                <a:solidFill>
                  <a:srgbClr val="000000"/>
                </a:solidFill>
                <a:latin typeface="Trebuchet MS"/>
                <a:cs typeface="Trebuchet MS"/>
              </a:rPr>
              <a:t>o</a:t>
            </a:r>
            <a:r>
              <a:rPr dirty="0" sz="4100" spc="-1019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dirty="0" sz="4100" spc="-1019">
                <a:solidFill>
                  <a:srgbClr val="000000"/>
                </a:solidFill>
                <a:latin typeface="Trebuchet MS"/>
                <a:cs typeface="Trebuchet MS"/>
              </a:rPr>
              <a:t>f</a:t>
            </a:r>
            <a:r>
              <a:rPr dirty="0" sz="4100" spc="-1019">
                <a:solidFill>
                  <a:srgbClr val="FFFFFF"/>
                </a:solidFill>
                <a:latin typeface="Trebuchet MS"/>
                <a:cs typeface="Trebuchet MS"/>
              </a:rPr>
              <a:t>f </a:t>
            </a:r>
            <a:r>
              <a:rPr dirty="0" sz="4100" spc="-1175">
                <a:solidFill>
                  <a:srgbClr val="000000"/>
                </a:solidFill>
                <a:latin typeface="Trebuchet MS"/>
                <a:cs typeface="Trebuchet MS"/>
              </a:rPr>
              <a:t>D</a:t>
            </a:r>
            <a:r>
              <a:rPr dirty="0" sz="4100" spc="-1175">
                <a:solidFill>
                  <a:srgbClr val="FFFFFF"/>
                </a:solidFill>
                <a:latin typeface="Trebuchet MS"/>
                <a:cs typeface="Trebuchet MS"/>
              </a:rPr>
              <a:t>D</a:t>
            </a:r>
            <a:r>
              <a:rPr dirty="0" sz="4100" spc="-1175">
                <a:solidFill>
                  <a:srgbClr val="000000"/>
                </a:solidFill>
                <a:latin typeface="Trebuchet MS"/>
                <a:cs typeface="Trebuchet MS"/>
              </a:rPr>
              <a:t>a</a:t>
            </a:r>
            <a:r>
              <a:rPr dirty="0" sz="4100" spc="-1175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4100" spc="-1175">
                <a:solidFill>
                  <a:srgbClr val="000000"/>
                </a:solidFill>
                <a:latin typeface="Trebuchet MS"/>
                <a:cs typeface="Trebuchet MS"/>
              </a:rPr>
              <a:t>t</a:t>
            </a:r>
            <a:r>
              <a:rPr dirty="0" sz="4100" spc="-1175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dirty="0" sz="4100" spc="-1175">
                <a:solidFill>
                  <a:srgbClr val="000000"/>
                </a:solidFill>
                <a:latin typeface="Trebuchet MS"/>
                <a:cs typeface="Trebuchet MS"/>
              </a:rPr>
              <a:t>a</a:t>
            </a:r>
            <a:r>
              <a:rPr dirty="0" sz="4100" spc="-1175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4100" spc="-116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4100" spc="-1050">
                <a:solidFill>
                  <a:srgbClr val="000000"/>
                </a:solidFill>
                <a:latin typeface="Trebuchet MS"/>
                <a:cs typeface="Trebuchet MS"/>
              </a:rPr>
              <a:t>M</a:t>
            </a:r>
            <a:r>
              <a:rPr dirty="0" sz="4100" spc="-105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dirty="0" sz="4100" spc="-1050">
                <a:solidFill>
                  <a:srgbClr val="000000"/>
                </a:solidFill>
                <a:latin typeface="Trebuchet MS"/>
                <a:cs typeface="Trebuchet MS"/>
              </a:rPr>
              <a:t>i</a:t>
            </a:r>
            <a:r>
              <a:rPr dirty="0" sz="4100" spc="-1050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dirty="0" sz="4100" spc="-1050">
                <a:solidFill>
                  <a:srgbClr val="000000"/>
                </a:solidFill>
                <a:latin typeface="Trebuchet MS"/>
                <a:cs typeface="Trebuchet MS"/>
              </a:rPr>
              <a:t>n</a:t>
            </a:r>
            <a:r>
              <a:rPr dirty="0" sz="4100" spc="-105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dirty="0" sz="4100" spc="-1050">
                <a:solidFill>
                  <a:srgbClr val="000000"/>
                </a:solidFill>
                <a:latin typeface="Trebuchet MS"/>
                <a:cs typeface="Trebuchet MS"/>
              </a:rPr>
              <a:t>i</a:t>
            </a:r>
            <a:r>
              <a:rPr dirty="0" sz="4100" spc="-1050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dirty="0" sz="4100" spc="-1050">
                <a:solidFill>
                  <a:srgbClr val="000000"/>
                </a:solidFill>
                <a:latin typeface="Trebuchet MS"/>
                <a:cs typeface="Trebuchet MS"/>
              </a:rPr>
              <a:t>n</a:t>
            </a:r>
            <a:r>
              <a:rPr dirty="0" sz="4100" spc="-105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dirty="0" sz="4100" spc="-1050">
                <a:solidFill>
                  <a:srgbClr val="000000"/>
                </a:solidFill>
                <a:latin typeface="Trebuchet MS"/>
                <a:cs typeface="Trebuchet MS"/>
              </a:rPr>
              <a:t>g</a:t>
            </a:r>
            <a:r>
              <a:rPr dirty="0" sz="4100" spc="-1050">
                <a:solidFill>
                  <a:srgbClr val="FFFFFF"/>
                </a:solidFill>
                <a:latin typeface="Trebuchet MS"/>
                <a:cs typeface="Trebuchet MS"/>
              </a:rPr>
              <a:t>g</a:t>
            </a:r>
            <a:endParaRPr sz="410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719815" y="5995415"/>
            <a:ext cx="805815" cy="491490"/>
          </a:xfrm>
          <a:custGeom>
            <a:avLst/>
            <a:gdLst/>
            <a:ahLst/>
            <a:cxnLst/>
            <a:rect l="l" t="t" r="r" b="b"/>
            <a:pathLst>
              <a:path w="805815" h="491489">
                <a:moveTo>
                  <a:pt x="0" y="0"/>
                </a:moveTo>
                <a:lnTo>
                  <a:pt x="805433" y="0"/>
                </a:lnTo>
                <a:lnTo>
                  <a:pt x="805433" y="491109"/>
                </a:lnTo>
                <a:lnTo>
                  <a:pt x="0" y="491109"/>
                </a:lnTo>
                <a:lnTo>
                  <a:pt x="0" y="0"/>
                </a:lnTo>
                <a:close/>
              </a:path>
            </a:pathLst>
          </a:custGeom>
          <a:solidFill>
            <a:srgbClr val="333333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0964712" y="6207124"/>
            <a:ext cx="4210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95">
                <a:latin typeface="Trebuchet MS"/>
                <a:cs typeface="Trebuchet MS"/>
              </a:rPr>
              <a:t>5</a:t>
            </a:r>
            <a:r>
              <a:rPr dirty="0" sz="1200" spc="-295">
                <a:solidFill>
                  <a:srgbClr val="FFFFFF"/>
                </a:solidFill>
                <a:latin typeface="Trebuchet MS"/>
                <a:cs typeface="Trebuchet MS"/>
              </a:rPr>
              <a:t>5</a:t>
            </a:r>
            <a:r>
              <a:rPr dirty="0" sz="1200" spc="-2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385">
                <a:latin typeface="Trebuchet MS"/>
                <a:cs typeface="Trebuchet MS"/>
              </a:rPr>
              <a:t>/</a:t>
            </a:r>
            <a:r>
              <a:rPr dirty="0" sz="1200" spc="-385">
                <a:solidFill>
                  <a:srgbClr val="FFFFFF"/>
                </a:solidFill>
                <a:latin typeface="Trebuchet MS"/>
                <a:cs typeface="Trebuchet MS"/>
              </a:rPr>
              <a:t>/</a:t>
            </a:r>
            <a:r>
              <a:rPr dirty="0" sz="1200" spc="-9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295">
                <a:latin typeface="Trebuchet MS"/>
                <a:cs typeface="Trebuchet MS"/>
              </a:rPr>
              <a:t>3</a:t>
            </a:r>
            <a:r>
              <a:rPr dirty="0" sz="1200" spc="-295">
                <a:solidFill>
                  <a:srgbClr val="FFFFFF"/>
                </a:solidFill>
                <a:latin typeface="Trebuchet MS"/>
                <a:cs typeface="Trebuchet MS"/>
              </a:rPr>
              <a:t>3</a:t>
            </a:r>
            <a:r>
              <a:rPr dirty="0" sz="1200" spc="-295">
                <a:latin typeface="Trebuchet MS"/>
                <a:cs typeface="Trebuchet MS"/>
              </a:rPr>
              <a:t>3</a:t>
            </a:r>
            <a:r>
              <a:rPr dirty="0" sz="1200" spc="-295">
                <a:solidFill>
                  <a:srgbClr val="FFFFFF"/>
                </a:solidFill>
                <a:latin typeface="Trebuchet MS"/>
                <a:cs typeface="Trebuchet MS"/>
              </a:rPr>
              <a:t>3</a:t>
            </a:r>
            <a:endParaRPr sz="1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20700"/>
            <a:ext cx="4382770" cy="6540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4100" spc="-300">
                <a:latin typeface="Trebuchet MS"/>
                <a:cs typeface="Trebuchet MS"/>
              </a:rPr>
              <a:t>What </a:t>
            </a:r>
            <a:r>
              <a:rPr dirty="0" sz="4100" spc="-5">
                <a:latin typeface="Trebuchet MS"/>
                <a:cs typeface="Trebuchet MS"/>
              </a:rPr>
              <a:t>is </a:t>
            </a:r>
            <a:r>
              <a:rPr dirty="0" sz="4100" spc="-235">
                <a:latin typeface="Trebuchet MS"/>
                <a:cs typeface="Trebuchet MS"/>
              </a:rPr>
              <a:t>Data</a:t>
            </a:r>
            <a:r>
              <a:rPr dirty="0" sz="4100" spc="-605">
                <a:latin typeface="Trebuchet MS"/>
                <a:cs typeface="Trebuchet MS"/>
              </a:rPr>
              <a:t> </a:t>
            </a:r>
            <a:r>
              <a:rPr dirty="0" sz="4100" spc="-75">
                <a:latin typeface="Trebuchet MS"/>
                <a:cs typeface="Trebuchet MS"/>
              </a:rPr>
              <a:t>Mining?</a:t>
            </a:r>
            <a:endParaRPr sz="41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8754" y="1530350"/>
            <a:ext cx="8439150" cy="42049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 indent="-133985">
              <a:lnSpc>
                <a:spcPct val="100000"/>
              </a:lnSpc>
              <a:spcBef>
                <a:spcPts val="100"/>
              </a:spcBef>
              <a:buClr>
                <a:srgbClr val="C2132D"/>
              </a:buClr>
              <a:buFont typeface="Trebuchet MS"/>
              <a:buChar char="•"/>
              <a:tabLst>
                <a:tab pos="146685" algn="l"/>
              </a:tabLst>
            </a:pPr>
            <a:r>
              <a:rPr dirty="0" sz="1800" spc="-3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585D60"/>
                </a:solidFill>
                <a:latin typeface="Arial"/>
                <a:cs typeface="Arial"/>
              </a:rPr>
              <a:t>most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40">
                <a:solidFill>
                  <a:srgbClr val="585D60"/>
                </a:solidFill>
                <a:latin typeface="Arial"/>
                <a:cs typeface="Arial"/>
              </a:rPr>
              <a:t>common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definition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Arial"/>
                <a:cs typeface="Arial"/>
              </a:rPr>
              <a:t>of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data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5">
                <a:solidFill>
                  <a:srgbClr val="585D60"/>
                </a:solidFill>
                <a:latin typeface="Arial"/>
                <a:cs typeface="Arial"/>
              </a:rPr>
              <a:t>mining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Arial"/>
                <a:cs typeface="Arial"/>
              </a:rPr>
              <a:t>is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discovery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Arial"/>
                <a:cs typeface="Arial"/>
              </a:rPr>
              <a:t>of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models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585D60"/>
                </a:solidFill>
                <a:latin typeface="Arial"/>
                <a:cs typeface="Arial"/>
              </a:rPr>
              <a:t>from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data.</a:t>
            </a:r>
            <a:endParaRPr sz="1800">
              <a:latin typeface="Arial"/>
              <a:cs typeface="Arial"/>
            </a:endParaRPr>
          </a:p>
          <a:p>
            <a:pPr marL="14605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Font typeface="Trebuchet MS"/>
              <a:buChar char="•"/>
              <a:tabLst>
                <a:tab pos="146685" algn="l"/>
              </a:tabLst>
            </a:pPr>
            <a:r>
              <a:rPr dirty="0" sz="1800" spc="-15">
                <a:solidFill>
                  <a:srgbClr val="585D60"/>
                </a:solidFill>
                <a:latin typeface="Arial"/>
                <a:cs typeface="Arial"/>
              </a:rPr>
              <a:t>Discovery </a:t>
            </a:r>
            <a:r>
              <a:rPr dirty="0" sz="1800" spc="75">
                <a:solidFill>
                  <a:srgbClr val="585D60"/>
                </a:solidFill>
                <a:latin typeface="Arial"/>
                <a:cs typeface="Arial"/>
              </a:rPr>
              <a:t>of</a:t>
            </a:r>
            <a:r>
              <a:rPr dirty="0" sz="1800" spc="-3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40" b="1">
                <a:solidFill>
                  <a:srgbClr val="C2132D"/>
                </a:solidFill>
                <a:latin typeface="Trebuchet MS"/>
                <a:cs typeface="Trebuchet MS"/>
              </a:rPr>
              <a:t>patterns </a:t>
            </a:r>
            <a:r>
              <a:rPr dirty="0" sz="1800" spc="-30" b="1">
                <a:solidFill>
                  <a:srgbClr val="C2132D"/>
                </a:solidFill>
                <a:latin typeface="Trebuchet MS"/>
                <a:cs typeface="Trebuchet MS"/>
              </a:rPr>
              <a:t>and </a:t>
            </a:r>
            <a:r>
              <a:rPr dirty="0" sz="1800" b="1">
                <a:solidFill>
                  <a:srgbClr val="C2132D"/>
                </a:solidFill>
                <a:latin typeface="Trebuchet MS"/>
                <a:cs typeface="Trebuchet MS"/>
              </a:rPr>
              <a:t>models </a:t>
            </a:r>
            <a:r>
              <a:rPr dirty="0" sz="1800" spc="-70" b="1">
                <a:solidFill>
                  <a:srgbClr val="C2132D"/>
                </a:solidFill>
                <a:latin typeface="Trebuchet MS"/>
                <a:cs typeface="Trebuchet MS"/>
              </a:rPr>
              <a:t>that 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are:</a:t>
            </a:r>
            <a:endParaRPr sz="1800">
              <a:latin typeface="Trebuchet MS"/>
              <a:cs typeface="Trebuchet MS"/>
            </a:endParaRPr>
          </a:p>
          <a:p>
            <a:pPr lvl="1" marL="527050" indent="-134620">
              <a:lnSpc>
                <a:spcPct val="100000"/>
              </a:lnSpc>
              <a:spcBef>
                <a:spcPts val="1215"/>
              </a:spcBef>
              <a:buFont typeface="Trebuchet MS"/>
              <a:buChar char="•"/>
              <a:tabLst>
                <a:tab pos="527685" algn="l"/>
              </a:tabLst>
            </a:pPr>
            <a:r>
              <a:rPr dirty="0" sz="1800" spc="-50" b="1">
                <a:solidFill>
                  <a:srgbClr val="C2132D"/>
                </a:solidFill>
                <a:latin typeface="Trebuchet MS"/>
                <a:cs typeface="Trebuchet MS"/>
              </a:rPr>
              <a:t>Valid:</a:t>
            </a:r>
            <a:r>
              <a:rPr dirty="0" sz="1800" spc="-10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hold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on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new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data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40">
                <a:solidFill>
                  <a:srgbClr val="585D60"/>
                </a:solidFill>
                <a:latin typeface="Arial"/>
                <a:cs typeface="Arial"/>
              </a:rPr>
              <a:t>with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some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certainty</a:t>
            </a:r>
            <a:endParaRPr sz="1800">
              <a:latin typeface="Arial"/>
              <a:cs typeface="Arial"/>
            </a:endParaRPr>
          </a:p>
          <a:p>
            <a:pPr lvl="1" marL="527050" indent="-134620">
              <a:lnSpc>
                <a:spcPct val="100000"/>
              </a:lnSpc>
              <a:spcBef>
                <a:spcPts val="1290"/>
              </a:spcBef>
              <a:buFont typeface="Trebuchet MS"/>
              <a:buChar char="•"/>
              <a:tabLst>
                <a:tab pos="527685" algn="l"/>
              </a:tabLst>
            </a:pPr>
            <a:r>
              <a:rPr dirty="0" sz="1800" spc="-35" b="1">
                <a:solidFill>
                  <a:srgbClr val="C2132D"/>
                </a:solidFill>
                <a:latin typeface="Trebuchet MS"/>
                <a:cs typeface="Trebuchet MS"/>
              </a:rPr>
              <a:t>Useful:</a:t>
            </a:r>
            <a:r>
              <a:rPr dirty="0" sz="1800" spc="-10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should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585D60"/>
                </a:solidFill>
                <a:latin typeface="Arial"/>
                <a:cs typeface="Arial"/>
              </a:rPr>
              <a:t>be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possible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585D60"/>
                </a:solidFill>
                <a:latin typeface="Arial"/>
                <a:cs typeface="Arial"/>
              </a:rPr>
              <a:t>to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5">
                <a:solidFill>
                  <a:srgbClr val="585D60"/>
                </a:solidFill>
                <a:latin typeface="Arial"/>
                <a:cs typeface="Arial"/>
              </a:rPr>
              <a:t>act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on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5">
                <a:solidFill>
                  <a:srgbClr val="585D60"/>
                </a:solidFill>
                <a:latin typeface="Arial"/>
                <a:cs typeface="Arial"/>
              </a:rPr>
              <a:t>item</a:t>
            </a:r>
            <a:endParaRPr sz="1800">
              <a:latin typeface="Arial"/>
              <a:cs typeface="Arial"/>
            </a:endParaRPr>
          </a:p>
          <a:p>
            <a:pPr lvl="1" marL="527050" indent="-134620">
              <a:lnSpc>
                <a:spcPct val="100000"/>
              </a:lnSpc>
              <a:spcBef>
                <a:spcPts val="1215"/>
              </a:spcBef>
              <a:buFont typeface="Trebuchet MS"/>
              <a:buChar char="•"/>
              <a:tabLst>
                <a:tab pos="527685" algn="l"/>
              </a:tabLst>
            </a:pPr>
            <a:r>
              <a:rPr dirty="0" sz="1800" spc="-65" b="1">
                <a:solidFill>
                  <a:srgbClr val="C2132D"/>
                </a:solidFill>
                <a:latin typeface="Trebuchet MS"/>
                <a:cs typeface="Trebuchet MS"/>
              </a:rPr>
              <a:t>Unexpected: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non-obvious </a:t>
            </a:r>
            <a:r>
              <a:rPr dirty="0" sz="1800" spc="45">
                <a:solidFill>
                  <a:srgbClr val="585D60"/>
                </a:solidFill>
                <a:latin typeface="Arial"/>
                <a:cs typeface="Arial"/>
              </a:rPr>
              <a:t>to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2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system</a:t>
            </a:r>
            <a:endParaRPr sz="1800">
              <a:latin typeface="Arial"/>
              <a:cs typeface="Arial"/>
            </a:endParaRPr>
          </a:p>
          <a:p>
            <a:pPr lvl="1" marL="527050" indent="-134620">
              <a:lnSpc>
                <a:spcPct val="100000"/>
              </a:lnSpc>
              <a:spcBef>
                <a:spcPts val="1290"/>
              </a:spcBef>
              <a:buFont typeface="Trebuchet MS"/>
              <a:buChar char="•"/>
              <a:tabLst>
                <a:tab pos="527685" algn="l"/>
              </a:tabLst>
            </a:pPr>
            <a:r>
              <a:rPr dirty="0" sz="1800" spc="-45" b="1">
                <a:solidFill>
                  <a:srgbClr val="C2132D"/>
                </a:solidFill>
                <a:latin typeface="Trebuchet MS"/>
                <a:cs typeface="Trebuchet MS"/>
              </a:rPr>
              <a:t>Understandable:</a:t>
            </a:r>
            <a:r>
              <a:rPr dirty="0" sz="1800" spc="-10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humans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should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585D60"/>
                </a:solidFill>
                <a:latin typeface="Arial"/>
                <a:cs typeface="Arial"/>
              </a:rPr>
              <a:t>be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able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585D60"/>
                </a:solidFill>
                <a:latin typeface="Arial"/>
                <a:cs typeface="Arial"/>
              </a:rPr>
              <a:t>to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interpret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pattern</a:t>
            </a:r>
            <a:endParaRPr sz="1800">
              <a:latin typeface="Arial"/>
              <a:cs typeface="Arial"/>
            </a:endParaRPr>
          </a:p>
          <a:p>
            <a:pPr marL="14605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Font typeface="Trebuchet MS"/>
              <a:buChar char="•"/>
              <a:tabLst>
                <a:tab pos="146685" algn="l"/>
              </a:tabLst>
            </a:pP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Subsidiary</a:t>
            </a:r>
            <a:r>
              <a:rPr dirty="0" sz="1800" spc="-6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Issues:</a:t>
            </a:r>
            <a:endParaRPr sz="1800">
              <a:latin typeface="Arial"/>
              <a:cs typeface="Arial"/>
            </a:endParaRPr>
          </a:p>
          <a:p>
            <a:pPr lvl="1" marL="527050" indent="-134620">
              <a:lnSpc>
                <a:spcPct val="100000"/>
              </a:lnSpc>
              <a:spcBef>
                <a:spcPts val="1215"/>
              </a:spcBef>
              <a:buFont typeface="Trebuchet MS"/>
              <a:buChar char="•"/>
              <a:tabLst>
                <a:tab pos="527685" algn="l"/>
              </a:tabLst>
            </a:pPr>
            <a:r>
              <a:rPr dirty="0" sz="1800" spc="-25" b="1">
                <a:solidFill>
                  <a:srgbClr val="C2132D"/>
                </a:solidFill>
                <a:latin typeface="Trebuchet MS"/>
                <a:cs typeface="Trebuchet MS"/>
              </a:rPr>
              <a:t>Data </a:t>
            </a:r>
            <a:r>
              <a:rPr dirty="0" sz="1800" spc="-15" b="1">
                <a:solidFill>
                  <a:srgbClr val="C2132D"/>
                </a:solidFill>
                <a:latin typeface="Trebuchet MS"/>
                <a:cs typeface="Trebuchet MS"/>
              </a:rPr>
              <a:t>cleansing: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detection </a:t>
            </a:r>
            <a:r>
              <a:rPr dirty="0" sz="1800" spc="75">
                <a:solidFill>
                  <a:srgbClr val="585D60"/>
                </a:solidFill>
                <a:latin typeface="Arial"/>
                <a:cs typeface="Arial"/>
              </a:rPr>
              <a:t>of</a:t>
            </a:r>
            <a:r>
              <a:rPr dirty="0" sz="1800" spc="-3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bogus data</a:t>
            </a:r>
            <a:endParaRPr sz="1800">
              <a:latin typeface="Arial"/>
              <a:cs typeface="Arial"/>
            </a:endParaRPr>
          </a:p>
          <a:p>
            <a:pPr lvl="1" marL="527050" indent="-134620">
              <a:lnSpc>
                <a:spcPct val="100000"/>
              </a:lnSpc>
              <a:spcBef>
                <a:spcPts val="1290"/>
              </a:spcBef>
              <a:buFont typeface="Trebuchet MS"/>
              <a:buChar char="•"/>
              <a:tabLst>
                <a:tab pos="527685" algn="l"/>
              </a:tabLst>
            </a:pPr>
            <a:r>
              <a:rPr dirty="0" sz="1800" spc="-25" b="1">
                <a:solidFill>
                  <a:srgbClr val="C2132D"/>
                </a:solidFill>
                <a:latin typeface="Trebuchet MS"/>
                <a:cs typeface="Trebuchet MS"/>
              </a:rPr>
              <a:t>Data</a:t>
            </a:r>
            <a:r>
              <a:rPr dirty="0" sz="1800" spc="-9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40" b="1">
                <a:solidFill>
                  <a:srgbClr val="C2132D"/>
                </a:solidFill>
                <a:latin typeface="Trebuchet MS"/>
                <a:cs typeface="Trebuchet MS"/>
              </a:rPr>
              <a:t>visualization:</a:t>
            </a:r>
            <a:r>
              <a:rPr dirty="0" sz="1800" spc="-10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something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better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than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MBs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Arial"/>
                <a:cs typeface="Arial"/>
              </a:rPr>
              <a:t>of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Arial"/>
                <a:cs typeface="Arial"/>
              </a:rPr>
              <a:t>output</a:t>
            </a:r>
            <a:endParaRPr sz="1800">
              <a:latin typeface="Arial"/>
              <a:cs typeface="Arial"/>
            </a:endParaRPr>
          </a:p>
          <a:p>
            <a:pPr lvl="1" marL="527050" indent="-134620">
              <a:lnSpc>
                <a:spcPct val="100000"/>
              </a:lnSpc>
              <a:spcBef>
                <a:spcPts val="1215"/>
              </a:spcBef>
              <a:buFont typeface="Trebuchet MS"/>
              <a:buChar char="•"/>
              <a:tabLst>
                <a:tab pos="527685" algn="l"/>
              </a:tabLst>
            </a:pPr>
            <a:r>
              <a:rPr dirty="0" sz="1800" spc="-20" b="1">
                <a:solidFill>
                  <a:srgbClr val="C2132D"/>
                </a:solidFill>
                <a:latin typeface="Trebuchet MS"/>
                <a:cs typeface="Trebuchet MS"/>
              </a:rPr>
              <a:t>Warehousing </a:t>
            </a:r>
            <a:r>
              <a:rPr dirty="0" sz="1800" spc="75">
                <a:solidFill>
                  <a:srgbClr val="585D60"/>
                </a:solidFill>
                <a:latin typeface="Arial"/>
                <a:cs typeface="Arial"/>
              </a:rPr>
              <a:t>of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data </a:t>
            </a:r>
            <a:r>
              <a:rPr dirty="0" sz="1800" spc="40">
                <a:solidFill>
                  <a:srgbClr val="585D60"/>
                </a:solidFill>
                <a:latin typeface="Arial"/>
                <a:cs typeface="Arial"/>
              </a:rPr>
              <a:t>(for</a:t>
            </a:r>
            <a:r>
              <a:rPr dirty="0" sz="1800" spc="-33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retrieval)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14400" y="6176962"/>
            <a:ext cx="5495925" cy="0"/>
          </a:xfrm>
          <a:custGeom>
            <a:avLst/>
            <a:gdLst/>
            <a:ahLst/>
            <a:cxnLst/>
            <a:rect l="l" t="t" r="r" b="b"/>
            <a:pathLst>
              <a:path w="5495925" h="0">
                <a:moveTo>
                  <a:pt x="0" y="0"/>
                </a:moveTo>
                <a:lnTo>
                  <a:pt x="5495924" y="0"/>
                </a:lnTo>
              </a:path>
            </a:pathLst>
          </a:custGeom>
          <a:ln w="9524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14400" y="6186487"/>
            <a:ext cx="5495925" cy="0"/>
          </a:xfrm>
          <a:custGeom>
            <a:avLst/>
            <a:gdLst/>
            <a:ahLst/>
            <a:cxnLst/>
            <a:rect l="l" t="t" r="r" b="b"/>
            <a:pathLst>
              <a:path w="5495925" h="0">
                <a:moveTo>
                  <a:pt x="0" y="0"/>
                </a:moveTo>
                <a:lnTo>
                  <a:pt x="5495924" y="0"/>
                </a:lnTo>
              </a:path>
            </a:pathLst>
          </a:custGeom>
          <a:ln w="9524">
            <a:solidFill>
              <a:srgbClr val="EDED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400799" y="61721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9524" y="19049"/>
                </a:moveTo>
                <a:lnTo>
                  <a:pt x="0" y="19049"/>
                </a:lnTo>
                <a:lnTo>
                  <a:pt x="0" y="9524"/>
                </a:lnTo>
                <a:lnTo>
                  <a:pt x="9524" y="0"/>
                </a:lnTo>
                <a:lnTo>
                  <a:pt x="9524" y="19049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14400" y="61721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0" y="19049"/>
                </a:moveTo>
                <a:lnTo>
                  <a:pt x="0" y="0"/>
                </a:lnTo>
                <a:lnTo>
                  <a:pt x="9524" y="0"/>
                </a:lnTo>
                <a:lnTo>
                  <a:pt x="9524" y="9524"/>
                </a:lnTo>
                <a:lnTo>
                  <a:pt x="0" y="19049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901700" y="6266655"/>
            <a:ext cx="5520055" cy="1600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850" b="1">
                <a:solidFill>
                  <a:srgbClr val="C2132D"/>
                </a:solidFill>
                <a:latin typeface="Trebuchet MS"/>
                <a:cs typeface="Trebuchet MS"/>
              </a:rPr>
              <a:t>Source:</a:t>
            </a:r>
            <a:r>
              <a:rPr dirty="0" sz="850" spc="-4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85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Arial"/>
                <a:cs typeface="Arial"/>
              </a:rPr>
              <a:t>slide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25">
                <a:solidFill>
                  <a:srgbClr val="585D60"/>
                </a:solidFill>
                <a:latin typeface="Arial"/>
                <a:cs typeface="Arial"/>
              </a:rPr>
              <a:t>is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Arial"/>
                <a:cs typeface="Arial"/>
              </a:rPr>
              <a:t>adapted</a:t>
            </a:r>
            <a:r>
              <a:rPr dirty="0" sz="850" spc="-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40">
                <a:solidFill>
                  <a:srgbClr val="585D60"/>
                </a:solidFill>
                <a:latin typeface="Arial"/>
                <a:cs typeface="Arial"/>
              </a:rPr>
              <a:t>from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Arial"/>
                <a:cs typeface="Arial"/>
              </a:rPr>
              <a:t>Jure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5">
                <a:solidFill>
                  <a:srgbClr val="585D60"/>
                </a:solidFill>
                <a:latin typeface="Arial"/>
                <a:cs typeface="Arial"/>
              </a:rPr>
              <a:t>Leskovic,</a:t>
            </a:r>
            <a:r>
              <a:rPr dirty="0" sz="850" spc="-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Arial"/>
                <a:cs typeface="Arial"/>
              </a:rPr>
              <a:t>Stanford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-15">
                <a:solidFill>
                  <a:srgbClr val="585D60"/>
                </a:solidFill>
                <a:latin typeface="Arial"/>
                <a:cs typeface="Arial"/>
              </a:rPr>
              <a:t>CS246,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0">
                <a:solidFill>
                  <a:srgbClr val="585D60"/>
                </a:solidFill>
                <a:latin typeface="Arial"/>
                <a:cs typeface="Arial"/>
              </a:rPr>
              <a:t>Lecture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5">
                <a:solidFill>
                  <a:srgbClr val="585D60"/>
                </a:solidFill>
                <a:latin typeface="Arial"/>
                <a:cs typeface="Arial"/>
              </a:rPr>
              <a:t>Notes,</a:t>
            </a:r>
            <a:r>
              <a:rPr dirty="0" sz="850" spc="-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5">
                <a:solidFill>
                  <a:srgbClr val="585D60"/>
                </a:solidFill>
                <a:latin typeface="Arial"/>
                <a:cs typeface="Arial"/>
              </a:rPr>
              <a:t>see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20">
                <a:solidFill>
                  <a:srgbClr val="83D5D3"/>
                </a:solidFill>
                <a:latin typeface="Cambria"/>
                <a:cs typeface="Cambria"/>
                <a:hlinkClick r:id="rId2"/>
              </a:rPr>
              <a:t>http://cs246.stanford.edu</a:t>
            </a:r>
            <a:endParaRPr sz="85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964712" y="6207124"/>
            <a:ext cx="4210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5">
                <a:solidFill>
                  <a:srgbClr val="585D60"/>
                </a:solidFill>
                <a:latin typeface="Arial"/>
                <a:cs typeface="Arial"/>
              </a:rPr>
              <a:t>6 </a:t>
            </a:r>
            <a:r>
              <a:rPr dirty="0" sz="1200" spc="160">
                <a:solidFill>
                  <a:srgbClr val="585D60"/>
                </a:solidFill>
                <a:latin typeface="Arial"/>
                <a:cs typeface="Arial"/>
              </a:rPr>
              <a:t>/</a:t>
            </a:r>
            <a:r>
              <a:rPr dirty="0" sz="1200" spc="-16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585D60"/>
                </a:solidFill>
                <a:latin typeface="Arial"/>
                <a:cs typeface="Arial"/>
              </a:rPr>
              <a:t>33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20700"/>
            <a:ext cx="8400415" cy="6540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4100" spc="-40">
                <a:latin typeface="Trebuchet MS"/>
                <a:cs typeface="Trebuchet MS"/>
              </a:rPr>
              <a:t>A </a:t>
            </a:r>
            <a:r>
              <a:rPr dirty="0" sz="4100" spc="-165">
                <a:latin typeface="Trebuchet MS"/>
                <a:cs typeface="Trebuchet MS"/>
              </a:rPr>
              <a:t>Simplistic </a:t>
            </a:r>
            <a:r>
              <a:rPr dirty="0" sz="4100" spc="-250">
                <a:latin typeface="Trebuchet MS"/>
                <a:cs typeface="Trebuchet MS"/>
              </a:rPr>
              <a:t>View </a:t>
            </a:r>
            <a:r>
              <a:rPr dirty="0" sz="4100" spc="-170">
                <a:latin typeface="Trebuchet MS"/>
                <a:cs typeface="Trebuchet MS"/>
              </a:rPr>
              <a:t>of </a:t>
            </a:r>
            <a:r>
              <a:rPr dirty="0" sz="4100" spc="-235">
                <a:latin typeface="Trebuchet MS"/>
                <a:cs typeface="Trebuchet MS"/>
              </a:rPr>
              <a:t>Data </a:t>
            </a:r>
            <a:r>
              <a:rPr dirty="0" sz="4100" spc="-125">
                <a:latin typeface="Trebuchet MS"/>
                <a:cs typeface="Trebuchet MS"/>
              </a:rPr>
              <a:t>Mining</a:t>
            </a:r>
            <a:r>
              <a:rPr dirty="0" sz="4100" spc="-910">
                <a:latin typeface="Trebuchet MS"/>
                <a:cs typeface="Trebuchet MS"/>
              </a:rPr>
              <a:t> </a:t>
            </a:r>
            <a:r>
              <a:rPr dirty="0" sz="4100" spc="-85">
                <a:latin typeface="Trebuchet MS"/>
                <a:cs typeface="Trebuchet MS"/>
              </a:rPr>
              <a:t>Models</a:t>
            </a:r>
            <a:endParaRPr sz="410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79400" y="1798584"/>
            <a:ext cx="9166449" cy="221308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106487" y="4385944"/>
            <a:ext cx="9312275" cy="673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50465" marR="5080" indent="-2438400">
              <a:lnSpc>
                <a:spcPct val="118100"/>
              </a:lnSpc>
              <a:spcBef>
                <a:spcPts val="100"/>
              </a:spcBef>
            </a:pPr>
            <a:r>
              <a:rPr dirty="0" sz="1800" spc="-30">
                <a:solidFill>
                  <a:srgbClr val="585D60"/>
                </a:solidFill>
                <a:latin typeface="Arial"/>
                <a:cs typeface="Arial"/>
              </a:rPr>
              <a:t>A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40">
                <a:solidFill>
                  <a:srgbClr val="585D60"/>
                </a:solidFill>
                <a:latin typeface="Arial"/>
                <a:cs typeface="Arial"/>
              </a:rPr>
              <a:t>simplistic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summary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Arial"/>
                <a:cs typeface="Arial"/>
              </a:rPr>
              <a:t>of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data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5">
                <a:solidFill>
                  <a:srgbClr val="585D60"/>
                </a:solidFill>
                <a:latin typeface="Arial"/>
                <a:cs typeface="Arial"/>
              </a:rPr>
              <a:t>mining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models.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Note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that,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in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60">
                <a:solidFill>
                  <a:srgbClr val="585D60"/>
                </a:solidFill>
                <a:latin typeface="Arial"/>
                <a:cs typeface="Arial"/>
              </a:rPr>
              <a:t>ISA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30">
                <a:solidFill>
                  <a:srgbClr val="585D60"/>
                </a:solidFill>
                <a:latin typeface="Arial"/>
                <a:cs typeface="Arial"/>
              </a:rPr>
              <a:t>401,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we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40">
                <a:solidFill>
                  <a:srgbClr val="585D60"/>
                </a:solidFill>
                <a:latin typeface="Arial"/>
                <a:cs typeface="Arial"/>
              </a:rPr>
              <a:t>will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only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briefly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cover 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descriptive/exploratory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data </a:t>
            </a:r>
            <a:r>
              <a:rPr dirty="0" sz="1800" spc="25">
                <a:solidFill>
                  <a:srgbClr val="585D60"/>
                </a:solidFill>
                <a:latin typeface="Arial"/>
                <a:cs typeface="Arial"/>
              </a:rPr>
              <a:t>mining</a:t>
            </a:r>
            <a:r>
              <a:rPr dirty="0" sz="1800" spc="-19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models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5"/>
              <a:t>7</a:t>
            </a:fld>
            <a:r>
              <a:rPr dirty="0" spc="5"/>
              <a:t> </a:t>
            </a:r>
            <a:r>
              <a:rPr dirty="0" spc="160"/>
              <a:t>/</a:t>
            </a:r>
            <a:r>
              <a:rPr dirty="0" spc="-165"/>
              <a:t> </a:t>
            </a:r>
            <a:r>
              <a:rPr dirty="0" spc="5"/>
              <a:t>33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5"/>
              <a:t>7</a:t>
            </a:fld>
            <a:r>
              <a:rPr dirty="0" spc="5"/>
              <a:t> </a:t>
            </a:r>
            <a:r>
              <a:rPr dirty="0" spc="160"/>
              <a:t>/</a:t>
            </a:r>
            <a:r>
              <a:rPr dirty="0" spc="-165"/>
              <a:t> </a:t>
            </a:r>
            <a:r>
              <a:rPr dirty="0" spc="5"/>
              <a:t>33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20700"/>
            <a:ext cx="4093845" cy="6540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4100" spc="-235">
                <a:latin typeface="Trebuchet MS"/>
                <a:cs typeface="Trebuchet MS"/>
              </a:rPr>
              <a:t>Data </a:t>
            </a:r>
            <a:r>
              <a:rPr dirty="0" sz="4100" spc="-125">
                <a:latin typeface="Trebuchet MS"/>
                <a:cs typeface="Trebuchet MS"/>
              </a:rPr>
              <a:t>Mining </a:t>
            </a:r>
            <a:r>
              <a:rPr dirty="0" sz="4100" spc="-5">
                <a:latin typeface="Trebuchet MS"/>
                <a:cs typeface="Trebuchet MS"/>
              </a:rPr>
              <a:t>is</a:t>
            </a:r>
            <a:r>
              <a:rPr dirty="0" sz="4100" spc="-575">
                <a:latin typeface="Trebuchet MS"/>
                <a:cs typeface="Trebuchet MS"/>
              </a:rPr>
              <a:t> </a:t>
            </a:r>
            <a:r>
              <a:rPr dirty="0" sz="4100" spc="-229">
                <a:latin typeface="Trebuchet MS"/>
                <a:cs typeface="Trebuchet MS"/>
              </a:rPr>
              <a:t>Hard</a:t>
            </a:r>
            <a:endParaRPr sz="41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1700" y="1530350"/>
            <a:ext cx="9700260" cy="42049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>
                <a:solidFill>
                  <a:srgbClr val="585D60"/>
                </a:solidFill>
                <a:latin typeface="Arial"/>
                <a:cs typeface="Arial"/>
              </a:rPr>
              <a:t>Data</a:t>
            </a:r>
            <a:r>
              <a:rPr dirty="0" sz="1800" spc="-6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5">
                <a:solidFill>
                  <a:srgbClr val="585D60"/>
                </a:solidFill>
                <a:latin typeface="Arial"/>
                <a:cs typeface="Arial"/>
              </a:rPr>
              <a:t>mining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Arial"/>
                <a:cs typeface="Arial"/>
              </a:rPr>
              <a:t>is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hard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since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60">
                <a:solidFill>
                  <a:srgbClr val="585D60"/>
                </a:solidFill>
                <a:latin typeface="Arial"/>
                <a:cs typeface="Arial"/>
              </a:rPr>
              <a:t>it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has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5">
                <a:solidFill>
                  <a:srgbClr val="585D60"/>
                </a:solidFill>
                <a:latin typeface="Arial"/>
                <a:cs typeface="Arial"/>
              </a:rPr>
              <a:t>following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issues: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900">
              <a:latin typeface="Arial"/>
              <a:cs typeface="Arial"/>
            </a:endParaRPr>
          </a:p>
          <a:p>
            <a:pPr marL="393700" indent="-133985">
              <a:lnSpc>
                <a:spcPct val="100000"/>
              </a:lnSpc>
              <a:buClr>
                <a:srgbClr val="C2132D"/>
              </a:buClr>
              <a:buFont typeface="Trebuchet MS"/>
              <a:buChar char="•"/>
              <a:tabLst>
                <a:tab pos="393700" algn="l"/>
              </a:tabLst>
            </a:pP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Scalability</a:t>
            </a:r>
            <a:endParaRPr sz="1800">
              <a:latin typeface="Arial"/>
              <a:cs typeface="Arial"/>
            </a:endParaRPr>
          </a:p>
          <a:p>
            <a:pPr marL="393700" indent="-133985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Font typeface="Trebuchet MS"/>
              <a:buChar char="•"/>
              <a:tabLst>
                <a:tab pos="393700" algn="l"/>
              </a:tabLst>
            </a:pP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Dimensionality</a:t>
            </a:r>
            <a:endParaRPr sz="1800">
              <a:latin typeface="Arial"/>
              <a:cs typeface="Arial"/>
            </a:endParaRPr>
          </a:p>
          <a:p>
            <a:pPr marL="39370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Font typeface="Trebuchet MS"/>
              <a:buChar char="•"/>
              <a:tabLst>
                <a:tab pos="393700" algn="l"/>
              </a:tabLst>
            </a:pP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Complex and Heterogeneous</a:t>
            </a:r>
            <a:r>
              <a:rPr dirty="0" sz="1800" spc="-16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585D60"/>
                </a:solidFill>
                <a:latin typeface="Arial"/>
                <a:cs typeface="Arial"/>
              </a:rPr>
              <a:t>Data</a:t>
            </a:r>
            <a:endParaRPr sz="1800">
              <a:latin typeface="Arial"/>
              <a:cs typeface="Arial"/>
            </a:endParaRPr>
          </a:p>
          <a:p>
            <a:pPr marL="393700" indent="-133985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Font typeface="Trebuchet MS"/>
              <a:buChar char="•"/>
              <a:tabLst>
                <a:tab pos="393700" algn="l"/>
              </a:tabLst>
            </a:pPr>
            <a:r>
              <a:rPr dirty="0" sz="1800" spc="-20">
                <a:solidFill>
                  <a:srgbClr val="585D60"/>
                </a:solidFill>
                <a:latin typeface="Arial"/>
                <a:cs typeface="Arial"/>
              </a:rPr>
              <a:t>Data</a:t>
            </a:r>
            <a:r>
              <a:rPr dirty="0" sz="1800" spc="-6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5">
                <a:solidFill>
                  <a:srgbClr val="585D60"/>
                </a:solidFill>
                <a:latin typeface="Arial"/>
                <a:cs typeface="Arial"/>
              </a:rPr>
              <a:t>Quality</a:t>
            </a:r>
            <a:endParaRPr sz="1800">
              <a:latin typeface="Arial"/>
              <a:cs typeface="Arial"/>
            </a:endParaRPr>
          </a:p>
          <a:p>
            <a:pPr marL="39370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Font typeface="Trebuchet MS"/>
              <a:buChar char="•"/>
              <a:tabLst>
                <a:tab pos="393700" algn="l"/>
              </a:tabLst>
            </a:pPr>
            <a:r>
              <a:rPr dirty="0" sz="1800" spc="-20">
                <a:solidFill>
                  <a:srgbClr val="585D60"/>
                </a:solidFill>
                <a:latin typeface="Arial"/>
                <a:cs typeface="Arial"/>
              </a:rPr>
              <a:t>Data </a:t>
            </a: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Ownership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and</a:t>
            </a:r>
            <a:r>
              <a:rPr dirty="0" sz="1800" spc="-1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Distribution</a:t>
            </a:r>
            <a:endParaRPr sz="1800">
              <a:latin typeface="Arial"/>
              <a:cs typeface="Arial"/>
            </a:endParaRPr>
          </a:p>
          <a:p>
            <a:pPr marL="39370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Font typeface="Trebuchet MS"/>
              <a:buChar char="•"/>
              <a:tabLst>
                <a:tab pos="393700" algn="l"/>
              </a:tabLst>
            </a:pPr>
            <a:r>
              <a:rPr dirty="0" sz="1800" spc="-15">
                <a:solidFill>
                  <a:srgbClr val="585D60"/>
                </a:solidFill>
                <a:latin typeface="Arial"/>
                <a:cs typeface="Arial"/>
              </a:rPr>
              <a:t>Privacy</a:t>
            </a:r>
            <a:r>
              <a:rPr dirty="0" sz="1800" spc="-6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Preservation</a:t>
            </a:r>
            <a:endParaRPr sz="1800">
              <a:latin typeface="Arial"/>
              <a:cs typeface="Arial"/>
            </a:endParaRPr>
          </a:p>
          <a:p>
            <a:pPr marL="12700" marR="5080">
              <a:lnSpc>
                <a:spcPct val="116300"/>
              </a:lnSpc>
              <a:spcBef>
                <a:spcPts val="1760"/>
              </a:spcBef>
            </a:pPr>
            <a:r>
              <a:rPr dirty="0" sz="1800" spc="-30" b="1">
                <a:solidFill>
                  <a:srgbClr val="C2132D"/>
                </a:solidFill>
                <a:latin typeface="Trebuchet MS"/>
                <a:cs typeface="Trebuchet MS"/>
              </a:rPr>
              <a:t>Note </a:t>
            </a:r>
            <a:r>
              <a:rPr dirty="0" sz="1800" spc="-70" b="1">
                <a:solidFill>
                  <a:srgbClr val="C2132D"/>
                </a:solidFill>
                <a:latin typeface="Trebuchet MS"/>
                <a:cs typeface="Trebuchet MS"/>
              </a:rPr>
              <a:t>that </a:t>
            </a:r>
            <a:r>
              <a:rPr dirty="0" sz="1800" spc="25" b="1">
                <a:solidFill>
                  <a:srgbClr val="C2132D"/>
                </a:solidFill>
                <a:latin typeface="Trebuchet MS"/>
                <a:cs typeface="Trebuchet MS"/>
              </a:rPr>
              <a:t>I </a:t>
            </a:r>
            <a:r>
              <a:rPr dirty="0" sz="1800" spc="-50" b="1">
                <a:solidFill>
                  <a:srgbClr val="C2132D"/>
                </a:solidFill>
                <a:latin typeface="Trebuchet MS"/>
                <a:cs typeface="Trebuchet MS"/>
              </a:rPr>
              <a:t>have </a:t>
            </a:r>
            <a:r>
              <a:rPr dirty="0" sz="1800" spc="-55" b="1">
                <a:solidFill>
                  <a:srgbClr val="C2132D"/>
                </a:solidFill>
                <a:latin typeface="Trebuchet MS"/>
                <a:cs typeface="Trebuchet MS"/>
              </a:rPr>
              <a:t>intentionally not </a:t>
            </a:r>
            <a:r>
              <a:rPr dirty="0" sz="1800" spc="-45" b="1">
                <a:solidFill>
                  <a:srgbClr val="C2132D"/>
                </a:solidFill>
                <a:latin typeface="Trebuchet MS"/>
                <a:cs typeface="Trebuchet MS"/>
              </a:rPr>
              <a:t>included fitting/training </a:t>
            </a:r>
            <a:r>
              <a:rPr dirty="0" sz="1800" b="1">
                <a:solidFill>
                  <a:srgbClr val="C2132D"/>
                </a:solidFill>
                <a:latin typeface="Trebuchet MS"/>
                <a:cs typeface="Trebuchet MS"/>
              </a:rPr>
              <a:t>a </a:t>
            </a:r>
            <a:r>
              <a:rPr dirty="0" sz="1800" spc="-30" b="1">
                <a:solidFill>
                  <a:srgbClr val="C2132D"/>
                </a:solidFill>
                <a:latin typeface="Trebuchet MS"/>
                <a:cs typeface="Trebuchet MS"/>
              </a:rPr>
              <a:t>model </a:t>
            </a:r>
            <a:r>
              <a:rPr dirty="0" sz="1800" spc="-5" b="1">
                <a:solidFill>
                  <a:srgbClr val="C2132D"/>
                </a:solidFill>
                <a:latin typeface="Trebuchet MS"/>
                <a:cs typeface="Trebuchet MS"/>
              </a:rPr>
              <a:t>since </a:t>
            </a:r>
            <a:r>
              <a:rPr dirty="0" sz="1800" spc="-20" b="1">
                <a:solidFill>
                  <a:srgbClr val="C2132D"/>
                </a:solidFill>
                <a:latin typeface="Trebuchet MS"/>
                <a:cs typeface="Trebuchet MS"/>
              </a:rPr>
              <a:t>this </a:t>
            </a:r>
            <a:r>
              <a:rPr dirty="0" sz="1800" spc="40" b="1">
                <a:solidFill>
                  <a:srgbClr val="C2132D"/>
                </a:solidFill>
                <a:latin typeface="Trebuchet MS"/>
                <a:cs typeface="Trebuchet MS"/>
              </a:rPr>
              <a:t>is </a:t>
            </a:r>
            <a:r>
              <a:rPr dirty="0" sz="1800" spc="-65" b="1">
                <a:solidFill>
                  <a:srgbClr val="C2132D"/>
                </a:solidFill>
                <a:latin typeface="Trebuchet MS"/>
                <a:cs typeface="Trebuchet MS"/>
              </a:rPr>
              <a:t>relatively </a:t>
            </a:r>
            <a:r>
              <a:rPr dirty="0" sz="1800" spc="5" b="1">
                <a:solidFill>
                  <a:srgbClr val="C2132D"/>
                </a:solidFill>
                <a:latin typeface="Trebuchet MS"/>
                <a:cs typeface="Trebuchet MS"/>
              </a:rPr>
              <a:t>easy  </a:t>
            </a:r>
            <a:r>
              <a:rPr dirty="0" sz="1800" spc="-45" b="1">
                <a:solidFill>
                  <a:srgbClr val="C2132D"/>
                </a:solidFill>
                <a:latin typeface="Trebuchet MS"/>
                <a:cs typeface="Trebuchet MS"/>
              </a:rPr>
              <a:t>if</a:t>
            </a:r>
            <a:r>
              <a:rPr dirty="0" sz="1800" spc="-8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45" b="1">
                <a:solidFill>
                  <a:srgbClr val="C2132D"/>
                </a:solidFill>
                <a:latin typeface="Trebuchet MS"/>
                <a:cs typeface="Trebuchet MS"/>
              </a:rPr>
              <a:t>you</a:t>
            </a:r>
            <a:r>
              <a:rPr dirty="0" sz="1800" spc="-8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35" b="1">
                <a:solidFill>
                  <a:srgbClr val="C2132D"/>
                </a:solidFill>
                <a:latin typeface="Trebuchet MS"/>
                <a:cs typeface="Trebuchet MS"/>
              </a:rPr>
              <a:t>understand</a:t>
            </a:r>
            <a:r>
              <a:rPr dirty="0" sz="1800" spc="-8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80" b="1">
                <a:solidFill>
                  <a:srgbClr val="C2132D"/>
                </a:solidFill>
                <a:latin typeface="Trebuchet MS"/>
                <a:cs typeface="Trebuchet MS"/>
              </a:rPr>
              <a:t>the </a:t>
            </a:r>
            <a:r>
              <a:rPr dirty="0" sz="1800" spc="-70" b="1">
                <a:solidFill>
                  <a:srgbClr val="C2132D"/>
                </a:solidFill>
                <a:latin typeface="Trebuchet MS"/>
                <a:cs typeface="Trebuchet MS"/>
              </a:rPr>
              <a:t>data,</a:t>
            </a:r>
            <a:r>
              <a:rPr dirty="0" sz="1800" spc="-8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50" b="1">
                <a:solidFill>
                  <a:srgbClr val="C2132D"/>
                </a:solidFill>
                <a:latin typeface="Trebuchet MS"/>
                <a:cs typeface="Trebuchet MS"/>
              </a:rPr>
              <a:t>engineered/captured</a:t>
            </a:r>
            <a:r>
              <a:rPr dirty="0" sz="1800" spc="-8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80" b="1">
                <a:solidFill>
                  <a:srgbClr val="C2132D"/>
                </a:solidFill>
                <a:latin typeface="Trebuchet MS"/>
                <a:cs typeface="Trebuchet MS"/>
              </a:rPr>
              <a:t>the </a:t>
            </a:r>
            <a:r>
              <a:rPr dirty="0" sz="1800" spc="-50" b="1">
                <a:solidFill>
                  <a:srgbClr val="C2132D"/>
                </a:solidFill>
                <a:latin typeface="Trebuchet MS"/>
                <a:cs typeface="Trebuchet MS"/>
              </a:rPr>
              <a:t>important</a:t>
            </a:r>
            <a:r>
              <a:rPr dirty="0" sz="1800" spc="-8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60" b="1">
                <a:solidFill>
                  <a:srgbClr val="C2132D"/>
                </a:solidFill>
                <a:latin typeface="Trebuchet MS"/>
                <a:cs typeface="Trebuchet MS"/>
              </a:rPr>
              <a:t>predictors,</a:t>
            </a:r>
            <a:r>
              <a:rPr dirty="0" sz="1800" spc="-8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30" b="1">
                <a:solidFill>
                  <a:srgbClr val="C2132D"/>
                </a:solidFill>
                <a:latin typeface="Trebuchet MS"/>
                <a:cs typeface="Trebuchet MS"/>
              </a:rPr>
              <a:t>and</a:t>
            </a:r>
            <a:r>
              <a:rPr dirty="0" sz="1800" spc="-8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50" b="1">
                <a:solidFill>
                  <a:srgbClr val="C2132D"/>
                </a:solidFill>
                <a:latin typeface="Trebuchet MS"/>
                <a:cs typeface="Trebuchet MS"/>
              </a:rPr>
              <a:t>have</a:t>
            </a:r>
            <a:r>
              <a:rPr dirty="0" sz="1800" spc="-80" b="1">
                <a:solidFill>
                  <a:srgbClr val="C2132D"/>
                </a:solidFill>
                <a:latin typeface="Trebuchet MS"/>
                <a:cs typeface="Trebuchet MS"/>
              </a:rPr>
              <a:t> the</a:t>
            </a:r>
            <a:r>
              <a:rPr dirty="0" sz="1800" spc="-8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35" b="1">
                <a:solidFill>
                  <a:srgbClr val="C2132D"/>
                </a:solidFill>
                <a:latin typeface="Trebuchet MS"/>
                <a:cs typeface="Trebuchet MS"/>
              </a:rPr>
              <a:t>data</a:t>
            </a:r>
            <a:r>
              <a:rPr dirty="0" sz="1800" spc="-8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60" b="1">
                <a:solidFill>
                  <a:srgbClr val="C2132D"/>
                </a:solidFill>
                <a:latin typeface="Trebuchet MS"/>
                <a:cs typeface="Trebuchet MS"/>
              </a:rPr>
              <a:t>in  </a:t>
            </a:r>
            <a:r>
              <a:rPr dirty="0" sz="1800" spc="-80" b="1">
                <a:solidFill>
                  <a:srgbClr val="C2132D"/>
                </a:solidFill>
                <a:latin typeface="Trebuchet MS"/>
                <a:cs typeface="Trebuchet MS"/>
              </a:rPr>
              <a:t>the </a:t>
            </a:r>
            <a:r>
              <a:rPr dirty="0" sz="1800" spc="-70" b="1">
                <a:solidFill>
                  <a:srgbClr val="C2132D"/>
                </a:solidFill>
                <a:latin typeface="Trebuchet MS"/>
                <a:cs typeface="Trebuchet MS"/>
              </a:rPr>
              <a:t>"correct"</a:t>
            </a:r>
            <a:r>
              <a:rPr dirty="0" sz="1800" spc="-114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50" b="1">
                <a:solidFill>
                  <a:srgbClr val="C2132D"/>
                </a:solidFill>
                <a:latin typeface="Trebuchet MS"/>
                <a:cs typeface="Trebuchet MS"/>
              </a:rPr>
              <a:t>shape/quality.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20700"/>
            <a:ext cx="3729990" cy="6540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4100" spc="-114">
                <a:latin typeface="Trebuchet MS"/>
                <a:cs typeface="Trebuchet MS"/>
              </a:rPr>
              <a:t>Association</a:t>
            </a:r>
            <a:r>
              <a:rPr dirty="0" sz="4100" spc="-355">
                <a:latin typeface="Trebuchet MS"/>
                <a:cs typeface="Trebuchet MS"/>
              </a:rPr>
              <a:t> </a:t>
            </a:r>
            <a:r>
              <a:rPr dirty="0" sz="4100" spc="-160">
                <a:latin typeface="Trebuchet MS"/>
                <a:cs typeface="Trebuchet MS"/>
              </a:rPr>
              <a:t>Rules</a:t>
            </a:r>
            <a:endParaRPr sz="410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14400" y="2228850"/>
            <a:ext cx="9696450" cy="0"/>
          </a:xfrm>
          <a:custGeom>
            <a:avLst/>
            <a:gdLst/>
            <a:ahLst/>
            <a:cxnLst/>
            <a:rect l="l" t="t" r="r" b="b"/>
            <a:pathLst>
              <a:path w="9696450" h="0">
                <a:moveTo>
                  <a:pt x="0" y="0"/>
                </a:moveTo>
                <a:lnTo>
                  <a:pt x="9696449" y="0"/>
                </a:lnTo>
              </a:path>
            </a:pathLst>
          </a:custGeom>
          <a:ln w="19049">
            <a:solidFill>
              <a:srgbClr val="DDDDD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914400" y="2466975"/>
            <a:ext cx="9696450" cy="4019550"/>
          </a:xfrm>
          <a:custGeom>
            <a:avLst/>
            <a:gdLst/>
            <a:ahLst/>
            <a:cxnLst/>
            <a:rect l="l" t="t" r="r" b="b"/>
            <a:pathLst>
              <a:path w="9696450" h="4019550">
                <a:moveTo>
                  <a:pt x="0" y="0"/>
                </a:moveTo>
                <a:lnTo>
                  <a:pt x="9696449" y="0"/>
                </a:lnTo>
                <a:lnTo>
                  <a:pt x="9696449" y="4019550"/>
                </a:lnTo>
                <a:lnTo>
                  <a:pt x="0" y="4019550"/>
                </a:lnTo>
                <a:lnTo>
                  <a:pt x="0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10195" y="2537714"/>
            <a:ext cx="5342255" cy="834390"/>
          </a:xfrm>
          <a:prstGeom prst="rect">
            <a:avLst/>
          </a:prstGeom>
        </p:spPr>
        <p:txBody>
          <a:bodyPr wrap="square" lIns="0" tIns="26670" rIns="0" bIns="0" rtlCol="0" vert="horz">
            <a:spAutoFit/>
          </a:bodyPr>
          <a:lstStyle/>
          <a:p>
            <a:pPr marL="12700" marR="5080">
              <a:lnSpc>
                <a:spcPts val="1570"/>
              </a:lnSpc>
              <a:spcBef>
                <a:spcPts val="210"/>
              </a:spcBef>
              <a:tabLst>
                <a:tab pos="429259" algn="l"/>
              </a:tabLst>
            </a:pPr>
            <a:r>
              <a:rPr dirty="0" sz="1350" spc="10">
                <a:solidFill>
                  <a:srgbClr val="777777"/>
                </a:solidFill>
                <a:latin typeface="Courier New"/>
                <a:cs typeface="Courier New"/>
              </a:rPr>
              <a:t>## transactions as itemMatrix in sparse format</a:t>
            </a:r>
            <a:r>
              <a:rPr dirty="0" sz="1350" spc="-65">
                <a:solidFill>
                  <a:srgbClr val="777777"/>
                </a:solidFill>
                <a:latin typeface="Courier New"/>
                <a:cs typeface="Courier New"/>
              </a:rPr>
              <a:t> </a:t>
            </a:r>
            <a:r>
              <a:rPr dirty="0" sz="1350" spc="10">
                <a:solidFill>
                  <a:srgbClr val="777777"/>
                </a:solidFill>
                <a:latin typeface="Courier New"/>
                <a:cs typeface="Courier New"/>
              </a:rPr>
              <a:t>with  ##	9835 rows (elements/itemsets/transactions) and  ##	169 columns (items) and a density of</a:t>
            </a:r>
            <a:r>
              <a:rPr dirty="0" sz="1350" spc="-65">
                <a:solidFill>
                  <a:srgbClr val="777777"/>
                </a:solidFill>
                <a:latin typeface="Courier New"/>
                <a:cs typeface="Courier New"/>
              </a:rPr>
              <a:t> </a:t>
            </a:r>
            <a:r>
              <a:rPr dirty="0" sz="1350" spc="10">
                <a:solidFill>
                  <a:srgbClr val="777777"/>
                </a:solidFill>
                <a:latin typeface="Courier New"/>
                <a:cs typeface="Courier New"/>
              </a:rPr>
              <a:t>0.02609146  ##</a:t>
            </a:r>
            <a:endParaRPr sz="1350">
              <a:latin typeface="Courier New"/>
              <a:cs typeface="Courier New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991145" y="3353293"/>
          <a:ext cx="7360920" cy="16186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2100"/>
                <a:gridCol w="3856990"/>
                <a:gridCol w="2084705"/>
                <a:gridCol w="1125854"/>
              </a:tblGrid>
              <a:tr h="209205">
                <a:tc>
                  <a:txBody>
                    <a:bodyPr/>
                    <a:lstStyle/>
                    <a:p>
                      <a:pPr marL="31750">
                        <a:lnSpc>
                          <a:spcPts val="1545"/>
                        </a:lnSpc>
                      </a:pPr>
                      <a:r>
                        <a:rPr dirty="0" sz="1350" spc="1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##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ts val="1545"/>
                        </a:lnSpc>
                      </a:pPr>
                      <a:r>
                        <a:rPr dirty="0" sz="1350" spc="1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most frequent</a:t>
                      </a:r>
                      <a:r>
                        <a:rPr dirty="0" sz="135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350" spc="1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items: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00024">
                <a:tc>
                  <a:txBody>
                    <a:bodyPr/>
                    <a:lstStyle/>
                    <a:p>
                      <a:pPr marL="31750">
                        <a:lnSpc>
                          <a:spcPts val="1475"/>
                        </a:lnSpc>
                      </a:pPr>
                      <a:r>
                        <a:rPr dirty="0" sz="1350" spc="1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##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12420">
                        <a:lnSpc>
                          <a:spcPts val="1475"/>
                        </a:lnSpc>
                      </a:pPr>
                      <a:r>
                        <a:rPr dirty="0" sz="1350" spc="1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whole milk other</a:t>
                      </a:r>
                      <a:r>
                        <a:rPr dirty="0" sz="1350" spc="-3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350" spc="1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vegetables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marR="669925">
                        <a:lnSpc>
                          <a:spcPts val="1475"/>
                        </a:lnSpc>
                      </a:pPr>
                      <a:r>
                        <a:rPr dirty="0" sz="135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rolls/buns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1475"/>
                        </a:lnSpc>
                      </a:pPr>
                      <a:r>
                        <a:rPr dirty="0" sz="135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soda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</a:tr>
              <a:tr h="200024">
                <a:tc>
                  <a:txBody>
                    <a:bodyPr/>
                    <a:lstStyle/>
                    <a:p>
                      <a:pPr marL="31750">
                        <a:lnSpc>
                          <a:spcPts val="1475"/>
                        </a:lnSpc>
                      </a:pPr>
                      <a:r>
                        <a:rPr dirty="0" sz="1350" spc="1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##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1302385">
                        <a:lnSpc>
                          <a:spcPts val="1475"/>
                        </a:lnSpc>
                        <a:tabLst>
                          <a:tab pos="3074670" algn="l"/>
                        </a:tabLst>
                      </a:pPr>
                      <a:r>
                        <a:rPr dirty="0" sz="1350" spc="1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2513	1903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marR="669925">
                        <a:lnSpc>
                          <a:spcPts val="1475"/>
                        </a:lnSpc>
                      </a:pPr>
                      <a:r>
                        <a:rPr dirty="0" sz="135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1809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1475"/>
                        </a:lnSpc>
                      </a:pPr>
                      <a:r>
                        <a:rPr dirty="0" sz="135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1715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</a:tr>
              <a:tr h="200024">
                <a:tc>
                  <a:txBody>
                    <a:bodyPr/>
                    <a:lstStyle/>
                    <a:p>
                      <a:pPr marL="31750">
                        <a:lnSpc>
                          <a:spcPts val="1475"/>
                        </a:lnSpc>
                      </a:pPr>
                      <a:r>
                        <a:rPr dirty="0" sz="1350" spc="1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##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1094105">
                        <a:lnSpc>
                          <a:spcPts val="1475"/>
                        </a:lnSpc>
                        <a:tabLst>
                          <a:tab pos="2762250" algn="l"/>
                        </a:tabLst>
                      </a:pPr>
                      <a:r>
                        <a:rPr dirty="0" sz="1350" spc="1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yogurt	(Other)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</a:tr>
              <a:tr h="200024">
                <a:tc>
                  <a:txBody>
                    <a:bodyPr/>
                    <a:lstStyle/>
                    <a:p>
                      <a:pPr marL="31750">
                        <a:lnSpc>
                          <a:spcPts val="1475"/>
                        </a:lnSpc>
                      </a:pPr>
                      <a:r>
                        <a:rPr dirty="0" sz="1350" spc="1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##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1302385">
                        <a:lnSpc>
                          <a:spcPts val="1475"/>
                        </a:lnSpc>
                        <a:tabLst>
                          <a:tab pos="2970530" algn="l"/>
                        </a:tabLst>
                      </a:pPr>
                      <a:r>
                        <a:rPr dirty="0" sz="1350" spc="1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1372	34055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</a:tr>
              <a:tr h="200024">
                <a:tc>
                  <a:txBody>
                    <a:bodyPr/>
                    <a:lstStyle/>
                    <a:p>
                      <a:pPr marL="31750">
                        <a:lnSpc>
                          <a:spcPts val="1475"/>
                        </a:lnSpc>
                      </a:pPr>
                      <a:r>
                        <a:rPr dirty="0" sz="1350" spc="1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##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</a:tr>
              <a:tr h="200024">
                <a:tc>
                  <a:txBody>
                    <a:bodyPr/>
                    <a:lstStyle/>
                    <a:p>
                      <a:pPr marL="31750">
                        <a:lnSpc>
                          <a:spcPts val="1475"/>
                        </a:lnSpc>
                      </a:pPr>
                      <a:r>
                        <a:rPr dirty="0" sz="1350" spc="1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##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ts val="1475"/>
                        </a:lnSpc>
                      </a:pPr>
                      <a:r>
                        <a:rPr dirty="0" sz="1350" spc="1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element (itemset/transaction)</a:t>
                      </a:r>
                      <a:r>
                        <a:rPr dirty="0" sz="1350" spc="-55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350" spc="1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length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marR="669925">
                        <a:lnSpc>
                          <a:spcPts val="1475"/>
                        </a:lnSpc>
                      </a:pPr>
                      <a:r>
                        <a:rPr dirty="0" sz="135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distribution: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</a:tr>
              <a:tr h="209205">
                <a:tc>
                  <a:txBody>
                    <a:bodyPr/>
                    <a:lstStyle/>
                    <a:p>
                      <a:pPr marL="31750">
                        <a:lnSpc>
                          <a:spcPts val="1545"/>
                        </a:lnSpc>
                      </a:pPr>
                      <a:r>
                        <a:rPr dirty="0" sz="1350" spc="1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##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ts val="1545"/>
                        </a:lnSpc>
                      </a:pPr>
                      <a:r>
                        <a:rPr dirty="0" sz="1350" spc="1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sizes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991145" y="4953493"/>
          <a:ext cx="8611870" cy="10090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2100"/>
                <a:gridCol w="677544"/>
                <a:gridCol w="521334"/>
                <a:gridCol w="365124"/>
                <a:gridCol w="573405"/>
                <a:gridCol w="521334"/>
                <a:gridCol w="521335"/>
                <a:gridCol w="521335"/>
                <a:gridCol w="521335"/>
                <a:gridCol w="521335"/>
                <a:gridCol w="521335"/>
                <a:gridCol w="521335"/>
                <a:gridCol w="573405"/>
                <a:gridCol w="521334"/>
                <a:gridCol w="521334"/>
                <a:gridCol w="521334"/>
                <a:gridCol w="396875"/>
              </a:tblGrid>
              <a:tr h="200024">
                <a:tc>
                  <a:txBody>
                    <a:bodyPr/>
                    <a:lstStyle/>
                    <a:p>
                      <a:pPr marL="31750">
                        <a:lnSpc>
                          <a:spcPts val="1475"/>
                        </a:lnSpc>
                      </a:pPr>
                      <a:r>
                        <a:rPr dirty="0" sz="1350" spc="1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##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364490">
                        <a:lnSpc>
                          <a:spcPts val="1475"/>
                        </a:lnSpc>
                      </a:pPr>
                      <a:r>
                        <a:rPr dirty="0" sz="135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75"/>
                        </a:lnSpc>
                      </a:pPr>
                      <a:r>
                        <a:rPr dirty="0" sz="135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2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208279">
                        <a:lnSpc>
                          <a:spcPts val="1475"/>
                        </a:lnSpc>
                      </a:pPr>
                      <a:r>
                        <a:rPr dirty="0" sz="135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3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marR="96520">
                        <a:lnSpc>
                          <a:spcPts val="1475"/>
                        </a:lnSpc>
                      </a:pPr>
                      <a:r>
                        <a:rPr dirty="0" sz="135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4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marR="96520">
                        <a:lnSpc>
                          <a:spcPts val="1475"/>
                        </a:lnSpc>
                      </a:pPr>
                      <a:r>
                        <a:rPr dirty="0" sz="135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5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marR="96520">
                        <a:lnSpc>
                          <a:spcPts val="1475"/>
                        </a:lnSpc>
                      </a:pPr>
                      <a:r>
                        <a:rPr dirty="0" sz="135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6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marR="96520">
                        <a:lnSpc>
                          <a:spcPts val="1475"/>
                        </a:lnSpc>
                      </a:pPr>
                      <a:r>
                        <a:rPr dirty="0" sz="135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7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marR="96520">
                        <a:lnSpc>
                          <a:spcPts val="1475"/>
                        </a:lnSpc>
                      </a:pPr>
                      <a:r>
                        <a:rPr dirty="0" sz="135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8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marR="96520">
                        <a:lnSpc>
                          <a:spcPts val="1475"/>
                        </a:lnSpc>
                      </a:pPr>
                      <a:r>
                        <a:rPr dirty="0" sz="135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9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marR="96520">
                        <a:lnSpc>
                          <a:spcPts val="1475"/>
                        </a:lnSpc>
                      </a:pPr>
                      <a:r>
                        <a:rPr dirty="0" sz="135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10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marR="96520">
                        <a:lnSpc>
                          <a:spcPts val="1475"/>
                        </a:lnSpc>
                      </a:pPr>
                      <a:r>
                        <a:rPr dirty="0" sz="135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11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48590">
                        <a:lnSpc>
                          <a:spcPts val="1475"/>
                        </a:lnSpc>
                      </a:pPr>
                      <a:r>
                        <a:rPr dirty="0" sz="135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12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48590">
                        <a:lnSpc>
                          <a:spcPts val="1475"/>
                        </a:lnSpc>
                      </a:pPr>
                      <a:r>
                        <a:rPr dirty="0" sz="135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13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75"/>
                        </a:lnSpc>
                      </a:pPr>
                      <a:r>
                        <a:rPr dirty="0" sz="1350" spc="1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14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75"/>
                        </a:lnSpc>
                      </a:pPr>
                      <a:r>
                        <a:rPr dirty="0" sz="1350" spc="1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15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1475"/>
                        </a:lnSpc>
                      </a:pPr>
                      <a:r>
                        <a:rPr dirty="0" sz="135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16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</a:tr>
              <a:tr h="204443">
                <a:tc>
                  <a:txBody>
                    <a:bodyPr/>
                    <a:lstStyle/>
                    <a:p>
                      <a:pPr marL="31750">
                        <a:lnSpc>
                          <a:spcPts val="1510"/>
                        </a:lnSpc>
                      </a:pPr>
                      <a:r>
                        <a:rPr dirty="0" sz="1350" spc="1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##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52069">
                        <a:lnSpc>
                          <a:spcPts val="1510"/>
                        </a:lnSpc>
                      </a:pPr>
                      <a:r>
                        <a:rPr dirty="0" sz="1350" spc="1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2159 1643</a:t>
                      </a:r>
                      <a:r>
                        <a:rPr dirty="0" sz="1350" spc="-65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350" spc="1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1299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96520">
                        <a:lnSpc>
                          <a:spcPts val="1510"/>
                        </a:lnSpc>
                      </a:pPr>
                      <a:r>
                        <a:rPr dirty="0" sz="135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1005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marR="96520">
                        <a:lnSpc>
                          <a:spcPts val="1510"/>
                        </a:lnSpc>
                      </a:pPr>
                      <a:r>
                        <a:rPr dirty="0" sz="135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855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marR="96520">
                        <a:lnSpc>
                          <a:spcPts val="1510"/>
                        </a:lnSpc>
                      </a:pPr>
                      <a:r>
                        <a:rPr dirty="0" sz="135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645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marR="96520">
                        <a:lnSpc>
                          <a:spcPts val="1510"/>
                        </a:lnSpc>
                      </a:pPr>
                      <a:r>
                        <a:rPr dirty="0" sz="135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545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marR="96520">
                        <a:lnSpc>
                          <a:spcPts val="1510"/>
                        </a:lnSpc>
                      </a:pPr>
                      <a:r>
                        <a:rPr dirty="0" sz="135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438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marR="96520">
                        <a:lnSpc>
                          <a:spcPts val="1510"/>
                        </a:lnSpc>
                      </a:pPr>
                      <a:r>
                        <a:rPr dirty="0" sz="135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350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marR="96520">
                        <a:lnSpc>
                          <a:spcPts val="1510"/>
                        </a:lnSpc>
                      </a:pPr>
                      <a:r>
                        <a:rPr dirty="0" sz="135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246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marR="96520">
                        <a:lnSpc>
                          <a:spcPts val="1510"/>
                        </a:lnSpc>
                      </a:pPr>
                      <a:r>
                        <a:rPr dirty="0" sz="135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182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48590">
                        <a:lnSpc>
                          <a:spcPts val="1510"/>
                        </a:lnSpc>
                      </a:pPr>
                      <a:r>
                        <a:rPr dirty="0" sz="135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117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48590">
                        <a:lnSpc>
                          <a:spcPts val="1510"/>
                        </a:lnSpc>
                      </a:pPr>
                      <a:r>
                        <a:rPr dirty="0" sz="135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78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10"/>
                        </a:lnSpc>
                      </a:pPr>
                      <a:r>
                        <a:rPr dirty="0" sz="1350" spc="1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77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10"/>
                        </a:lnSpc>
                      </a:pPr>
                      <a:r>
                        <a:rPr dirty="0" sz="1350" spc="1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55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1510"/>
                        </a:lnSpc>
                      </a:pPr>
                      <a:r>
                        <a:rPr dirty="0" sz="135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46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</a:tr>
              <a:tr h="195262">
                <a:tc>
                  <a:txBody>
                    <a:bodyPr/>
                    <a:lstStyle/>
                    <a:p>
                      <a:pPr marL="31750">
                        <a:lnSpc>
                          <a:spcPts val="1435"/>
                        </a:lnSpc>
                      </a:pPr>
                      <a:r>
                        <a:rPr dirty="0" sz="1350" spc="1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##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260350">
                        <a:lnSpc>
                          <a:spcPts val="1435"/>
                        </a:lnSpc>
                        <a:tabLst>
                          <a:tab pos="781685" algn="l"/>
                          <a:tab pos="1302385" algn="l"/>
                        </a:tabLst>
                      </a:pPr>
                      <a:r>
                        <a:rPr dirty="0" sz="1350" spc="1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17	18	19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96520">
                        <a:lnSpc>
                          <a:spcPts val="1435"/>
                        </a:lnSpc>
                      </a:pPr>
                      <a:r>
                        <a:rPr dirty="0" sz="135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20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marR="96520">
                        <a:lnSpc>
                          <a:spcPts val="1435"/>
                        </a:lnSpc>
                      </a:pPr>
                      <a:r>
                        <a:rPr dirty="0" sz="135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21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marR="96520">
                        <a:lnSpc>
                          <a:spcPts val="1435"/>
                        </a:lnSpc>
                      </a:pPr>
                      <a:r>
                        <a:rPr dirty="0" sz="135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22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marR="96520">
                        <a:lnSpc>
                          <a:spcPts val="1435"/>
                        </a:lnSpc>
                      </a:pPr>
                      <a:r>
                        <a:rPr dirty="0" sz="135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23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marR="96520">
                        <a:lnSpc>
                          <a:spcPts val="1435"/>
                        </a:lnSpc>
                      </a:pPr>
                      <a:r>
                        <a:rPr dirty="0" sz="135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24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marR="96520">
                        <a:lnSpc>
                          <a:spcPts val="1435"/>
                        </a:lnSpc>
                      </a:pPr>
                      <a:r>
                        <a:rPr dirty="0" sz="135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26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marR="96520">
                        <a:lnSpc>
                          <a:spcPts val="1435"/>
                        </a:lnSpc>
                      </a:pPr>
                      <a:r>
                        <a:rPr dirty="0" sz="135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27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marR="96520">
                        <a:lnSpc>
                          <a:spcPts val="1435"/>
                        </a:lnSpc>
                      </a:pPr>
                      <a:r>
                        <a:rPr dirty="0" sz="135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28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48590">
                        <a:lnSpc>
                          <a:spcPts val="1435"/>
                        </a:lnSpc>
                      </a:pPr>
                      <a:r>
                        <a:rPr dirty="0" sz="135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29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48590">
                        <a:lnSpc>
                          <a:spcPts val="1435"/>
                        </a:lnSpc>
                      </a:pPr>
                      <a:r>
                        <a:rPr dirty="0" sz="135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32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</a:tr>
              <a:tr h="200024">
                <a:tc>
                  <a:txBody>
                    <a:bodyPr/>
                    <a:lstStyle/>
                    <a:p>
                      <a:pPr marL="31750">
                        <a:lnSpc>
                          <a:spcPts val="1475"/>
                        </a:lnSpc>
                      </a:pPr>
                      <a:r>
                        <a:rPr dirty="0" sz="1350" spc="1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##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260350">
                        <a:lnSpc>
                          <a:spcPts val="1475"/>
                        </a:lnSpc>
                        <a:tabLst>
                          <a:tab pos="781685" algn="l"/>
                          <a:tab pos="1302385" algn="l"/>
                        </a:tabLst>
                      </a:pPr>
                      <a:r>
                        <a:rPr dirty="0" sz="1350" spc="1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29	14	14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96520">
                        <a:lnSpc>
                          <a:spcPts val="1475"/>
                        </a:lnSpc>
                      </a:pPr>
                      <a:r>
                        <a:rPr dirty="0" sz="135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9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marR="96520">
                        <a:lnSpc>
                          <a:spcPts val="1475"/>
                        </a:lnSpc>
                      </a:pPr>
                      <a:r>
                        <a:rPr dirty="0" sz="135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11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marR="96520">
                        <a:lnSpc>
                          <a:spcPts val="1475"/>
                        </a:lnSpc>
                      </a:pPr>
                      <a:r>
                        <a:rPr dirty="0" sz="135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4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marR="96520">
                        <a:lnSpc>
                          <a:spcPts val="1475"/>
                        </a:lnSpc>
                      </a:pPr>
                      <a:r>
                        <a:rPr dirty="0" sz="135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6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marR="96520">
                        <a:lnSpc>
                          <a:spcPts val="1475"/>
                        </a:lnSpc>
                      </a:pPr>
                      <a:r>
                        <a:rPr dirty="0" sz="135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marR="96520">
                        <a:lnSpc>
                          <a:spcPts val="1475"/>
                        </a:lnSpc>
                      </a:pPr>
                      <a:r>
                        <a:rPr dirty="0" sz="135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marR="96520">
                        <a:lnSpc>
                          <a:spcPts val="1475"/>
                        </a:lnSpc>
                      </a:pPr>
                      <a:r>
                        <a:rPr dirty="0" sz="135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marR="96520">
                        <a:lnSpc>
                          <a:spcPts val="1475"/>
                        </a:lnSpc>
                      </a:pPr>
                      <a:r>
                        <a:rPr dirty="0" sz="135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48590">
                        <a:lnSpc>
                          <a:spcPts val="1475"/>
                        </a:lnSpc>
                      </a:pPr>
                      <a:r>
                        <a:rPr dirty="0" sz="135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3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48590">
                        <a:lnSpc>
                          <a:spcPts val="1475"/>
                        </a:lnSpc>
                      </a:pPr>
                      <a:r>
                        <a:rPr dirty="0" sz="135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</a:tr>
              <a:tr h="209205">
                <a:tc>
                  <a:txBody>
                    <a:bodyPr/>
                    <a:lstStyle/>
                    <a:p>
                      <a:pPr marL="31750">
                        <a:lnSpc>
                          <a:spcPts val="1545"/>
                        </a:lnSpc>
                      </a:pPr>
                      <a:r>
                        <a:rPr dirty="0" sz="1350" spc="1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##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936897" y="5171879"/>
          <a:ext cx="10467975" cy="13176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0850"/>
                <a:gridCol w="1615439"/>
                <a:gridCol w="885825"/>
                <a:gridCol w="1615439"/>
                <a:gridCol w="3100704"/>
                <a:gridCol w="2798445"/>
              </a:tblGrid>
              <a:tr h="772213"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09205">
                <a:tc>
                  <a:txBody>
                    <a:bodyPr/>
                    <a:lstStyle/>
                    <a:p>
                      <a:pPr marL="85725">
                        <a:lnSpc>
                          <a:spcPts val="1545"/>
                        </a:lnSpc>
                      </a:pPr>
                      <a:r>
                        <a:rPr dirty="0" sz="1350" spc="1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##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marR="96520">
                        <a:lnSpc>
                          <a:spcPts val="1545"/>
                        </a:lnSpc>
                      </a:pPr>
                      <a:r>
                        <a:rPr dirty="0" sz="1350" spc="1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Min. 1st</a:t>
                      </a:r>
                      <a:r>
                        <a:rPr dirty="0" sz="1350" spc="-85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350" spc="1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Qu.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48590">
                        <a:lnSpc>
                          <a:spcPts val="1545"/>
                        </a:lnSpc>
                      </a:pPr>
                      <a:r>
                        <a:rPr dirty="0" sz="135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Median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marR="96520">
                        <a:lnSpc>
                          <a:spcPts val="1545"/>
                        </a:lnSpc>
                      </a:pPr>
                      <a:r>
                        <a:rPr dirty="0" sz="1350" spc="1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Mean 3rd</a:t>
                      </a:r>
                      <a:r>
                        <a:rPr dirty="0" sz="1350" spc="-85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350" spc="1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Qu.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363470">
                        <a:lnSpc>
                          <a:spcPts val="1545"/>
                        </a:lnSpc>
                      </a:pPr>
                      <a:r>
                        <a:rPr dirty="0" sz="135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Max.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335892">
                <a:tc>
                  <a:txBody>
                    <a:bodyPr/>
                    <a:lstStyle/>
                    <a:p>
                      <a:pPr marL="85725" marR="148590">
                        <a:lnSpc>
                          <a:spcPts val="1570"/>
                        </a:lnSpc>
                        <a:spcBef>
                          <a:spcPts val="15"/>
                        </a:spcBef>
                      </a:pPr>
                      <a:r>
                        <a:rPr dirty="0" sz="135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##  ##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1905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marR="96520">
                        <a:lnSpc>
                          <a:spcPts val="1545"/>
                        </a:lnSpc>
                        <a:tabLst>
                          <a:tab pos="833755" algn="l"/>
                        </a:tabLst>
                      </a:pPr>
                      <a:r>
                        <a:rPr dirty="0" sz="135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1.000</a:t>
                      </a:r>
                      <a:r>
                        <a:rPr dirty="0" sz="135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	</a:t>
                      </a:r>
                      <a:r>
                        <a:rPr dirty="0" sz="135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2.000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48590">
                        <a:lnSpc>
                          <a:spcPts val="1545"/>
                        </a:lnSpc>
                      </a:pPr>
                      <a:r>
                        <a:rPr dirty="0" sz="135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3.000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marR="96520">
                        <a:lnSpc>
                          <a:spcPts val="1545"/>
                        </a:lnSpc>
                        <a:tabLst>
                          <a:tab pos="833755" algn="l"/>
                        </a:tabLst>
                      </a:pPr>
                      <a:r>
                        <a:rPr dirty="0" sz="135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4.409</a:t>
                      </a:r>
                      <a:r>
                        <a:rPr dirty="0" sz="135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	</a:t>
                      </a:r>
                      <a:r>
                        <a:rPr dirty="0" sz="135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6.000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363470">
                        <a:lnSpc>
                          <a:spcPts val="1545"/>
                        </a:lnSpc>
                      </a:pPr>
                      <a:r>
                        <a:rPr dirty="0" sz="135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32.000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dirty="0" sz="1200" spc="5">
                          <a:solidFill>
                            <a:srgbClr val="585D60"/>
                          </a:solidFill>
                          <a:latin typeface="Arial"/>
                          <a:cs typeface="Arial"/>
                        </a:rPr>
                        <a:t>9 </a:t>
                      </a:r>
                      <a:r>
                        <a:rPr dirty="0" sz="1200" spc="160">
                          <a:solidFill>
                            <a:srgbClr val="585D60"/>
                          </a:solidFill>
                          <a:latin typeface="Arial"/>
                          <a:cs typeface="Arial"/>
                        </a:rPr>
                        <a:t>/</a:t>
                      </a:r>
                      <a:r>
                        <a:rPr dirty="0" sz="1200" spc="-180">
                          <a:solidFill>
                            <a:srgbClr val="585D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5">
                          <a:solidFill>
                            <a:srgbClr val="585D60"/>
                          </a:solidFill>
                          <a:latin typeface="Arial"/>
                          <a:cs typeface="Arial"/>
                        </a:rPr>
                        <a:t>33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66040"/>
                </a:tc>
              </a:tr>
            </a:tbl>
          </a:graphicData>
        </a:graphic>
      </p:graphicFrame>
      <p:sp>
        <p:nvSpPr>
          <p:cNvPr id="9" name="object 9"/>
          <p:cNvSpPr/>
          <p:nvPr/>
        </p:nvSpPr>
        <p:spPr>
          <a:xfrm>
            <a:off x="914400" y="1657350"/>
            <a:ext cx="933450" cy="0"/>
          </a:xfrm>
          <a:custGeom>
            <a:avLst/>
            <a:gdLst/>
            <a:ahLst/>
            <a:cxnLst/>
            <a:rect l="l" t="t" r="r" b="b"/>
            <a:pathLst>
              <a:path w="933450" h="0">
                <a:moveTo>
                  <a:pt x="0" y="0"/>
                </a:moveTo>
                <a:lnTo>
                  <a:pt x="933449" y="0"/>
                </a:lnTo>
              </a:path>
            </a:pathLst>
          </a:custGeom>
          <a:ln w="19049">
            <a:solidFill>
              <a:srgbClr val="585D6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914400" y="2228850"/>
            <a:ext cx="933450" cy="0"/>
          </a:xfrm>
          <a:custGeom>
            <a:avLst/>
            <a:gdLst/>
            <a:ahLst/>
            <a:cxnLst/>
            <a:rect l="l" t="t" r="r" b="b"/>
            <a:pathLst>
              <a:path w="933450" h="0">
                <a:moveTo>
                  <a:pt x="0" y="0"/>
                </a:moveTo>
                <a:lnTo>
                  <a:pt x="933449" y="0"/>
                </a:lnTo>
              </a:path>
            </a:pathLst>
          </a:custGeom>
          <a:ln w="19049">
            <a:solidFill>
              <a:srgbClr val="585D6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130300" y="1778000"/>
            <a:ext cx="499109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>
                <a:solidFill>
                  <a:srgbClr val="585D60"/>
                </a:solidFill>
                <a:latin typeface="Arial"/>
                <a:cs typeface="Arial"/>
              </a:rPr>
              <a:t>Data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61071" y="1778000"/>
            <a:ext cx="12134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30">
                <a:solidFill>
                  <a:srgbClr val="585D60"/>
                </a:solidFill>
                <a:latin typeface="Arial"/>
                <a:cs typeface="Arial"/>
              </a:rPr>
              <a:t>Top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5</a:t>
            </a:r>
            <a:r>
              <a:rPr dirty="0" sz="1800" spc="-1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40">
                <a:solidFill>
                  <a:srgbClr val="585D60"/>
                </a:solidFill>
                <a:latin typeface="Arial"/>
                <a:cs typeface="Arial"/>
              </a:rPr>
              <a:t>Rules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705919" y="1778000"/>
            <a:ext cx="23926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Scatter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Plot </a:t>
            </a:r>
            <a:r>
              <a:rPr dirty="0" sz="1800" spc="75">
                <a:solidFill>
                  <a:srgbClr val="585D60"/>
                </a:solidFill>
                <a:latin typeface="Arial"/>
                <a:cs typeface="Arial"/>
              </a:rPr>
              <a:t>of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all</a:t>
            </a:r>
            <a:r>
              <a:rPr dirty="0" sz="1800" spc="-3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40">
                <a:solidFill>
                  <a:srgbClr val="585D60"/>
                </a:solidFill>
                <a:latin typeface="Arial"/>
                <a:cs typeface="Arial"/>
              </a:rPr>
              <a:t>Rules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529933" y="1778000"/>
            <a:ext cx="328485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35">
                <a:solidFill>
                  <a:srgbClr val="585D60"/>
                </a:solidFill>
                <a:latin typeface="Arial"/>
                <a:cs typeface="Arial"/>
              </a:rPr>
              <a:t>Graph-based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Plot </a:t>
            </a:r>
            <a:r>
              <a:rPr dirty="0" sz="1800" spc="75">
                <a:solidFill>
                  <a:srgbClr val="585D60"/>
                </a:solidFill>
                <a:latin typeface="Arial"/>
                <a:cs typeface="Arial"/>
              </a:rPr>
              <a:t>of </a:t>
            </a:r>
            <a:r>
              <a:rPr dirty="0" sz="1800" spc="-30">
                <a:solidFill>
                  <a:srgbClr val="585D60"/>
                </a:solidFill>
                <a:latin typeface="Arial"/>
                <a:cs typeface="Arial"/>
              </a:rPr>
              <a:t>Top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5</a:t>
            </a:r>
            <a:r>
              <a:rPr dirty="0" sz="1800" spc="-36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40">
                <a:solidFill>
                  <a:srgbClr val="585D60"/>
                </a:solidFill>
                <a:latin typeface="Arial"/>
                <a:cs typeface="Arial"/>
              </a:rPr>
              <a:t>Rules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520700"/>
            <a:ext cx="7285990" cy="6540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4100" spc="-195">
                <a:solidFill>
                  <a:srgbClr val="C2132D"/>
                </a:solidFill>
                <a:latin typeface="Trebuchet MS"/>
                <a:cs typeface="Trebuchet MS"/>
              </a:rPr>
              <a:t>Clustering </a:t>
            </a:r>
            <a:r>
              <a:rPr dirty="0" sz="4100" spc="-170">
                <a:solidFill>
                  <a:srgbClr val="C2132D"/>
                </a:solidFill>
                <a:latin typeface="Trebuchet MS"/>
                <a:cs typeface="Trebuchet MS"/>
              </a:rPr>
              <a:t>of </a:t>
            </a:r>
            <a:r>
              <a:rPr dirty="0" sz="4100" spc="-325">
                <a:solidFill>
                  <a:srgbClr val="C2132D"/>
                </a:solidFill>
                <a:latin typeface="Trebuchet MS"/>
                <a:cs typeface="Trebuchet MS"/>
              </a:rPr>
              <a:t>Traffic </a:t>
            </a:r>
            <a:r>
              <a:rPr dirty="0" sz="4100" spc="-240">
                <a:solidFill>
                  <a:srgbClr val="C2132D"/>
                </a:solidFill>
                <a:latin typeface="Trebuchet MS"/>
                <a:cs typeface="Trebuchet MS"/>
              </a:rPr>
              <a:t>Volume </a:t>
            </a:r>
            <a:r>
              <a:rPr dirty="0" sz="4100" spc="-190">
                <a:solidFill>
                  <a:srgbClr val="C2132D"/>
                </a:solidFill>
                <a:latin typeface="Trebuchet MS"/>
                <a:cs typeface="Trebuchet MS"/>
              </a:rPr>
              <a:t>on</a:t>
            </a:r>
            <a:r>
              <a:rPr dirty="0" sz="4100" spc="-630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4100" spc="-204">
                <a:solidFill>
                  <a:srgbClr val="C2132D"/>
                </a:solidFill>
                <a:latin typeface="Trebuchet MS"/>
                <a:cs typeface="Trebuchet MS"/>
              </a:rPr>
              <a:t>I-85</a:t>
            </a:r>
            <a:endParaRPr sz="410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14400" y="2228850"/>
            <a:ext cx="9696450" cy="0"/>
          </a:xfrm>
          <a:custGeom>
            <a:avLst/>
            <a:gdLst/>
            <a:ahLst/>
            <a:cxnLst/>
            <a:rect l="l" t="t" r="r" b="b"/>
            <a:pathLst>
              <a:path w="9696450" h="0">
                <a:moveTo>
                  <a:pt x="0" y="0"/>
                </a:moveTo>
                <a:lnTo>
                  <a:pt x="9696449" y="0"/>
                </a:lnTo>
              </a:path>
            </a:pathLst>
          </a:custGeom>
          <a:ln w="19049">
            <a:solidFill>
              <a:srgbClr val="DDDDD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914400" y="2466975"/>
            <a:ext cx="9696450" cy="40195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14400" y="1657350"/>
            <a:ext cx="933450" cy="0"/>
          </a:xfrm>
          <a:custGeom>
            <a:avLst/>
            <a:gdLst/>
            <a:ahLst/>
            <a:cxnLst/>
            <a:rect l="l" t="t" r="r" b="b"/>
            <a:pathLst>
              <a:path w="933450" h="0">
                <a:moveTo>
                  <a:pt x="0" y="0"/>
                </a:moveTo>
                <a:lnTo>
                  <a:pt x="933449" y="0"/>
                </a:lnTo>
              </a:path>
            </a:pathLst>
          </a:custGeom>
          <a:ln w="19049">
            <a:solidFill>
              <a:srgbClr val="585D6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914400" y="2228850"/>
            <a:ext cx="933450" cy="0"/>
          </a:xfrm>
          <a:custGeom>
            <a:avLst/>
            <a:gdLst/>
            <a:ahLst/>
            <a:cxnLst/>
            <a:rect l="l" t="t" r="r" b="b"/>
            <a:pathLst>
              <a:path w="933450" h="0">
                <a:moveTo>
                  <a:pt x="0" y="0"/>
                </a:moveTo>
                <a:lnTo>
                  <a:pt x="933449" y="0"/>
                </a:lnTo>
              </a:path>
            </a:pathLst>
          </a:custGeom>
          <a:ln w="19049">
            <a:solidFill>
              <a:srgbClr val="585D6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130300" y="1778000"/>
            <a:ext cx="499109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>
                <a:solidFill>
                  <a:srgbClr val="585D60"/>
                </a:solidFill>
                <a:latin typeface="Arial"/>
                <a:cs typeface="Arial"/>
              </a:rPr>
              <a:t>Data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61071" y="1778000"/>
            <a:ext cx="32175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solidFill>
                  <a:srgbClr val="585D60"/>
                </a:solidFill>
                <a:latin typeface="Arial"/>
                <a:cs typeface="Arial"/>
              </a:rPr>
              <a:t>Calendar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Plot </a:t>
            </a:r>
            <a:r>
              <a:rPr dirty="0" sz="1800" spc="75">
                <a:solidFill>
                  <a:srgbClr val="585D60"/>
                </a:solidFill>
                <a:latin typeface="Arial"/>
                <a:cs typeface="Arial"/>
              </a:rPr>
              <a:t>of </a:t>
            </a: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Clustered</a:t>
            </a:r>
            <a:r>
              <a:rPr dirty="0" sz="1800" spc="-32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585D60"/>
                </a:solidFill>
                <a:latin typeface="Arial"/>
                <a:cs typeface="Arial"/>
              </a:rPr>
              <a:t>Data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710187" y="1778000"/>
            <a:ext cx="209867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Insights </a:t>
            </a:r>
            <a:r>
              <a:rPr dirty="0" sz="1800" spc="55">
                <a:solidFill>
                  <a:srgbClr val="585D60"/>
                </a:solidFill>
                <a:latin typeface="Arial"/>
                <a:cs typeface="Arial"/>
              </a:rPr>
              <a:t>from</a:t>
            </a:r>
            <a:r>
              <a:rPr dirty="0" sz="1800" spc="-204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30">
                <a:solidFill>
                  <a:srgbClr val="585D60"/>
                </a:solidFill>
                <a:latin typeface="Arial"/>
                <a:cs typeface="Arial"/>
              </a:rPr>
              <a:t>Chart?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403080" y="182880"/>
            <a:ext cx="1978660" cy="966469"/>
          </a:xfrm>
          <a:custGeom>
            <a:avLst/>
            <a:gdLst/>
            <a:ahLst/>
            <a:cxnLst/>
            <a:rect l="l" t="t" r="r" b="b"/>
            <a:pathLst>
              <a:path w="1978659" h="966469">
                <a:moveTo>
                  <a:pt x="1978152" y="966216"/>
                </a:moveTo>
                <a:lnTo>
                  <a:pt x="0" y="966216"/>
                </a:lnTo>
                <a:lnTo>
                  <a:pt x="0" y="0"/>
                </a:lnTo>
                <a:lnTo>
                  <a:pt x="1978152" y="0"/>
                </a:lnTo>
                <a:lnTo>
                  <a:pt x="1978152" y="102870"/>
                </a:lnTo>
                <a:lnTo>
                  <a:pt x="274319" y="102870"/>
                </a:lnTo>
                <a:lnTo>
                  <a:pt x="261182" y="103504"/>
                </a:lnTo>
                <a:lnTo>
                  <a:pt x="223287" y="113020"/>
                </a:lnTo>
                <a:lnTo>
                  <a:pt x="189762" y="133087"/>
                </a:lnTo>
                <a:lnTo>
                  <a:pt x="163420" y="162120"/>
                </a:lnTo>
                <a:lnTo>
                  <a:pt x="146677" y="197568"/>
                </a:lnTo>
                <a:lnTo>
                  <a:pt x="140969" y="236220"/>
                </a:lnTo>
                <a:lnTo>
                  <a:pt x="140969" y="655320"/>
                </a:lnTo>
                <a:lnTo>
                  <a:pt x="146677" y="693971"/>
                </a:lnTo>
                <a:lnTo>
                  <a:pt x="163420" y="729419"/>
                </a:lnTo>
                <a:lnTo>
                  <a:pt x="189762" y="758452"/>
                </a:lnTo>
                <a:lnTo>
                  <a:pt x="223287" y="778519"/>
                </a:lnTo>
                <a:lnTo>
                  <a:pt x="261182" y="788035"/>
                </a:lnTo>
                <a:lnTo>
                  <a:pt x="274319" y="788670"/>
                </a:lnTo>
                <a:lnTo>
                  <a:pt x="1978152" y="788670"/>
                </a:lnTo>
                <a:lnTo>
                  <a:pt x="1978152" y="966216"/>
                </a:lnTo>
                <a:close/>
              </a:path>
              <a:path w="1978659" h="966469">
                <a:moveTo>
                  <a:pt x="1978152" y="788670"/>
                </a:moveTo>
                <a:lnTo>
                  <a:pt x="1703069" y="788670"/>
                </a:lnTo>
                <a:lnTo>
                  <a:pt x="1716205" y="788035"/>
                </a:lnTo>
                <a:lnTo>
                  <a:pt x="1729088" y="786132"/>
                </a:lnTo>
                <a:lnTo>
                  <a:pt x="1765992" y="772906"/>
                </a:lnTo>
                <a:lnTo>
                  <a:pt x="1797360" y="749612"/>
                </a:lnTo>
                <a:lnTo>
                  <a:pt x="1820653" y="718244"/>
                </a:lnTo>
                <a:lnTo>
                  <a:pt x="1833880" y="681340"/>
                </a:lnTo>
                <a:lnTo>
                  <a:pt x="1836419" y="655320"/>
                </a:lnTo>
                <a:lnTo>
                  <a:pt x="1836419" y="236220"/>
                </a:lnTo>
                <a:lnTo>
                  <a:pt x="1830708" y="197568"/>
                </a:lnTo>
                <a:lnTo>
                  <a:pt x="1813965" y="162120"/>
                </a:lnTo>
                <a:lnTo>
                  <a:pt x="1787623" y="133087"/>
                </a:lnTo>
                <a:lnTo>
                  <a:pt x="1754098" y="113020"/>
                </a:lnTo>
                <a:lnTo>
                  <a:pt x="1716205" y="103504"/>
                </a:lnTo>
                <a:lnTo>
                  <a:pt x="1703069" y="102870"/>
                </a:lnTo>
                <a:lnTo>
                  <a:pt x="1978152" y="102870"/>
                </a:lnTo>
                <a:lnTo>
                  <a:pt x="1978152" y="788670"/>
                </a:lnTo>
                <a:close/>
              </a:path>
            </a:pathLst>
          </a:custGeom>
          <a:solidFill>
            <a:srgbClr val="323232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9548811" y="290512"/>
            <a:ext cx="1685925" cy="676275"/>
          </a:xfrm>
          <a:custGeom>
            <a:avLst/>
            <a:gdLst/>
            <a:ahLst/>
            <a:cxnLst/>
            <a:rect l="l" t="t" r="r" b="b"/>
            <a:pathLst>
              <a:path w="1685925" h="676275">
                <a:moveTo>
                  <a:pt x="1565780" y="676274"/>
                </a:moveTo>
                <a:lnTo>
                  <a:pt x="120144" y="676274"/>
                </a:lnTo>
                <a:lnTo>
                  <a:pt x="111782" y="675451"/>
                </a:lnTo>
                <a:lnTo>
                  <a:pt x="71578" y="663255"/>
                </a:lnTo>
                <a:lnTo>
                  <a:pt x="31692" y="632642"/>
                </a:lnTo>
                <a:lnTo>
                  <a:pt x="6556" y="589095"/>
                </a:lnTo>
                <a:lnTo>
                  <a:pt x="0" y="556130"/>
                </a:lnTo>
                <a:lnTo>
                  <a:pt x="0" y="120144"/>
                </a:lnTo>
                <a:lnTo>
                  <a:pt x="13018" y="71578"/>
                </a:lnTo>
                <a:lnTo>
                  <a:pt x="43632" y="31692"/>
                </a:lnTo>
                <a:lnTo>
                  <a:pt x="87178" y="6557"/>
                </a:lnTo>
                <a:lnTo>
                  <a:pt x="120144" y="0"/>
                </a:lnTo>
                <a:lnTo>
                  <a:pt x="1565780" y="0"/>
                </a:lnTo>
                <a:lnTo>
                  <a:pt x="1614345" y="13019"/>
                </a:lnTo>
                <a:lnTo>
                  <a:pt x="1654232" y="43632"/>
                </a:lnTo>
                <a:lnTo>
                  <a:pt x="1679366" y="87179"/>
                </a:lnTo>
                <a:lnTo>
                  <a:pt x="1685925" y="120144"/>
                </a:lnTo>
                <a:lnTo>
                  <a:pt x="1685925" y="556130"/>
                </a:lnTo>
                <a:lnTo>
                  <a:pt x="1672904" y="604696"/>
                </a:lnTo>
                <a:lnTo>
                  <a:pt x="1642292" y="644582"/>
                </a:lnTo>
                <a:lnTo>
                  <a:pt x="1598743" y="669717"/>
                </a:lnTo>
                <a:lnTo>
                  <a:pt x="1565780" y="67627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9548810" y="290512"/>
            <a:ext cx="1685925" cy="676275"/>
          </a:xfrm>
          <a:custGeom>
            <a:avLst/>
            <a:gdLst/>
            <a:ahLst/>
            <a:cxnLst/>
            <a:rect l="l" t="t" r="r" b="b"/>
            <a:pathLst>
              <a:path w="1685925" h="676275">
                <a:moveTo>
                  <a:pt x="0" y="547687"/>
                </a:moveTo>
                <a:lnTo>
                  <a:pt x="0" y="128587"/>
                </a:lnTo>
                <a:lnTo>
                  <a:pt x="0" y="120144"/>
                </a:lnTo>
                <a:lnTo>
                  <a:pt x="823" y="111782"/>
                </a:lnTo>
                <a:lnTo>
                  <a:pt x="2470" y="103501"/>
                </a:lnTo>
                <a:lnTo>
                  <a:pt x="4117" y="95220"/>
                </a:lnTo>
                <a:lnTo>
                  <a:pt x="6556" y="87179"/>
                </a:lnTo>
                <a:lnTo>
                  <a:pt x="9787" y="79379"/>
                </a:lnTo>
                <a:lnTo>
                  <a:pt x="13018" y="71578"/>
                </a:lnTo>
                <a:lnTo>
                  <a:pt x="37662" y="37662"/>
                </a:lnTo>
                <a:lnTo>
                  <a:pt x="43632" y="31692"/>
                </a:lnTo>
                <a:lnTo>
                  <a:pt x="50127" y="26361"/>
                </a:lnTo>
                <a:lnTo>
                  <a:pt x="57147" y="21670"/>
                </a:lnTo>
                <a:lnTo>
                  <a:pt x="64167" y="16980"/>
                </a:lnTo>
                <a:lnTo>
                  <a:pt x="71577" y="13019"/>
                </a:lnTo>
                <a:lnTo>
                  <a:pt x="79378" y="9788"/>
                </a:lnTo>
                <a:lnTo>
                  <a:pt x="87178" y="6557"/>
                </a:lnTo>
                <a:lnTo>
                  <a:pt x="95219" y="4117"/>
                </a:lnTo>
                <a:lnTo>
                  <a:pt x="103501" y="2470"/>
                </a:lnTo>
                <a:lnTo>
                  <a:pt x="111782" y="823"/>
                </a:lnTo>
                <a:lnTo>
                  <a:pt x="120144" y="0"/>
                </a:lnTo>
                <a:lnTo>
                  <a:pt x="128588" y="0"/>
                </a:lnTo>
                <a:lnTo>
                  <a:pt x="1557337" y="0"/>
                </a:lnTo>
                <a:lnTo>
                  <a:pt x="1565780" y="0"/>
                </a:lnTo>
                <a:lnTo>
                  <a:pt x="1574142" y="823"/>
                </a:lnTo>
                <a:lnTo>
                  <a:pt x="1582422" y="2470"/>
                </a:lnTo>
                <a:lnTo>
                  <a:pt x="1590703" y="4117"/>
                </a:lnTo>
                <a:lnTo>
                  <a:pt x="1598743" y="6557"/>
                </a:lnTo>
                <a:lnTo>
                  <a:pt x="1606544" y="9788"/>
                </a:lnTo>
                <a:lnTo>
                  <a:pt x="1614344" y="13019"/>
                </a:lnTo>
                <a:lnTo>
                  <a:pt x="1648262" y="37662"/>
                </a:lnTo>
                <a:lnTo>
                  <a:pt x="1672904" y="71578"/>
                </a:lnTo>
                <a:lnTo>
                  <a:pt x="1685101" y="111782"/>
                </a:lnTo>
                <a:lnTo>
                  <a:pt x="1685925" y="120144"/>
                </a:lnTo>
                <a:lnTo>
                  <a:pt x="1685925" y="128587"/>
                </a:lnTo>
                <a:lnTo>
                  <a:pt x="1685925" y="547687"/>
                </a:lnTo>
                <a:lnTo>
                  <a:pt x="1685925" y="556130"/>
                </a:lnTo>
                <a:lnTo>
                  <a:pt x="1685101" y="564492"/>
                </a:lnTo>
                <a:lnTo>
                  <a:pt x="1672904" y="604696"/>
                </a:lnTo>
                <a:lnTo>
                  <a:pt x="1648262" y="638612"/>
                </a:lnTo>
                <a:lnTo>
                  <a:pt x="1628775" y="654603"/>
                </a:lnTo>
                <a:lnTo>
                  <a:pt x="1621754" y="659294"/>
                </a:lnTo>
                <a:lnTo>
                  <a:pt x="1614344" y="663255"/>
                </a:lnTo>
                <a:lnTo>
                  <a:pt x="1606544" y="666486"/>
                </a:lnTo>
                <a:lnTo>
                  <a:pt x="1598743" y="669717"/>
                </a:lnTo>
                <a:lnTo>
                  <a:pt x="1590703" y="672156"/>
                </a:lnTo>
                <a:lnTo>
                  <a:pt x="1582422" y="673804"/>
                </a:lnTo>
                <a:lnTo>
                  <a:pt x="1574142" y="675451"/>
                </a:lnTo>
                <a:lnTo>
                  <a:pt x="1565780" y="676274"/>
                </a:lnTo>
                <a:lnTo>
                  <a:pt x="1557337" y="676274"/>
                </a:lnTo>
                <a:lnTo>
                  <a:pt x="128588" y="676274"/>
                </a:lnTo>
                <a:lnTo>
                  <a:pt x="120144" y="676274"/>
                </a:lnTo>
                <a:lnTo>
                  <a:pt x="111782" y="675451"/>
                </a:lnTo>
                <a:lnTo>
                  <a:pt x="103501" y="673804"/>
                </a:lnTo>
                <a:lnTo>
                  <a:pt x="95219" y="672156"/>
                </a:lnTo>
                <a:lnTo>
                  <a:pt x="87178" y="669717"/>
                </a:lnTo>
                <a:lnTo>
                  <a:pt x="79378" y="666486"/>
                </a:lnTo>
                <a:lnTo>
                  <a:pt x="71578" y="663255"/>
                </a:lnTo>
                <a:lnTo>
                  <a:pt x="64167" y="659294"/>
                </a:lnTo>
                <a:lnTo>
                  <a:pt x="57147" y="654603"/>
                </a:lnTo>
                <a:lnTo>
                  <a:pt x="50127" y="649913"/>
                </a:lnTo>
                <a:lnTo>
                  <a:pt x="21670" y="619126"/>
                </a:lnTo>
                <a:lnTo>
                  <a:pt x="16979" y="612106"/>
                </a:lnTo>
                <a:lnTo>
                  <a:pt x="13018" y="604696"/>
                </a:lnTo>
                <a:lnTo>
                  <a:pt x="9787" y="596895"/>
                </a:lnTo>
                <a:lnTo>
                  <a:pt x="6556" y="589095"/>
                </a:lnTo>
                <a:lnTo>
                  <a:pt x="4117" y="581054"/>
                </a:lnTo>
                <a:lnTo>
                  <a:pt x="2470" y="572773"/>
                </a:lnTo>
                <a:lnTo>
                  <a:pt x="823" y="564492"/>
                </a:lnTo>
                <a:lnTo>
                  <a:pt x="0" y="556130"/>
                </a:lnTo>
                <a:lnTo>
                  <a:pt x="0" y="547687"/>
                </a:lnTo>
                <a:close/>
              </a:path>
            </a:pathLst>
          </a:custGeom>
          <a:ln w="28574">
            <a:solidFill>
              <a:srgbClr val="DDDDD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926846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04:00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5"/>
              <a:t>10</a:t>
            </a:fld>
            <a:r>
              <a:rPr dirty="0" spc="5"/>
              <a:t> </a:t>
            </a:r>
            <a:r>
              <a:rPr dirty="0" spc="160"/>
              <a:t>/</a:t>
            </a:r>
            <a:r>
              <a:rPr dirty="0" spc="-165"/>
              <a:t> </a:t>
            </a:r>
            <a:r>
              <a:rPr dirty="0" spc="5"/>
              <a:t>33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20700"/>
            <a:ext cx="5834380" cy="6540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4100" spc="-140">
                <a:latin typeface="Trebuchet MS"/>
                <a:cs typeface="Trebuchet MS"/>
              </a:rPr>
              <a:t>Regression </a:t>
            </a:r>
            <a:r>
              <a:rPr dirty="0" sz="4100" spc="-15">
                <a:latin typeface="Trebuchet MS"/>
                <a:cs typeface="Trebuchet MS"/>
              </a:rPr>
              <a:t>vs</a:t>
            </a:r>
            <a:r>
              <a:rPr dirty="0" sz="4100" spc="-475">
                <a:latin typeface="Trebuchet MS"/>
                <a:cs typeface="Trebuchet MS"/>
              </a:rPr>
              <a:t> </a:t>
            </a:r>
            <a:r>
              <a:rPr dirty="0" sz="4100" spc="-165">
                <a:latin typeface="Trebuchet MS"/>
                <a:cs typeface="Trebuchet MS"/>
              </a:rPr>
              <a:t>Classification</a:t>
            </a:r>
            <a:endParaRPr sz="410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978389" y="1533525"/>
            <a:ext cx="5681804" cy="47053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5"/>
              <a:t>10</a:t>
            </a:fld>
            <a:r>
              <a:rPr dirty="0" spc="5"/>
              <a:t> </a:t>
            </a:r>
            <a:r>
              <a:rPr dirty="0" spc="160"/>
              <a:t>/</a:t>
            </a:r>
            <a:r>
              <a:rPr dirty="0" spc="-165"/>
              <a:t> </a:t>
            </a:r>
            <a:r>
              <a:rPr dirty="0" spc="5"/>
              <a:t>33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20700"/>
            <a:ext cx="9354185" cy="6540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4100" spc="-145">
                <a:latin typeface="Trebuchet MS"/>
                <a:cs typeface="Trebuchet MS"/>
              </a:rPr>
              <a:t>An </a:t>
            </a:r>
            <a:r>
              <a:rPr dirty="0" sz="4100" spc="-290">
                <a:latin typeface="Trebuchet MS"/>
                <a:cs typeface="Trebuchet MS"/>
              </a:rPr>
              <a:t>Overview </a:t>
            </a:r>
            <a:r>
              <a:rPr dirty="0" sz="4100" spc="-170">
                <a:latin typeface="Trebuchet MS"/>
                <a:cs typeface="Trebuchet MS"/>
              </a:rPr>
              <a:t>of </a:t>
            </a:r>
            <a:r>
              <a:rPr dirty="0" sz="4100" spc="-204">
                <a:latin typeface="Trebuchet MS"/>
                <a:cs typeface="Trebuchet MS"/>
              </a:rPr>
              <a:t>Common </a:t>
            </a:r>
            <a:r>
              <a:rPr dirty="0" sz="4100" spc="-235">
                <a:latin typeface="Trebuchet MS"/>
                <a:cs typeface="Trebuchet MS"/>
              </a:rPr>
              <a:t>Data </a:t>
            </a:r>
            <a:r>
              <a:rPr dirty="0" sz="4100" spc="-125">
                <a:latin typeface="Trebuchet MS"/>
                <a:cs typeface="Trebuchet MS"/>
              </a:rPr>
              <a:t>Mining</a:t>
            </a:r>
            <a:r>
              <a:rPr dirty="0" sz="4100" spc="-720">
                <a:latin typeface="Trebuchet MS"/>
                <a:cs typeface="Trebuchet MS"/>
              </a:rPr>
              <a:t> </a:t>
            </a:r>
            <a:r>
              <a:rPr dirty="0" sz="4100" spc="-85">
                <a:latin typeface="Trebuchet MS"/>
                <a:cs typeface="Trebuchet MS"/>
              </a:rPr>
              <a:t>Models</a:t>
            </a:r>
            <a:endParaRPr sz="410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531933" y="1599455"/>
            <a:ext cx="8498439" cy="488706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5"/>
              <a:t>10</a:t>
            </a:fld>
            <a:r>
              <a:rPr dirty="0" spc="5"/>
              <a:t> </a:t>
            </a:r>
            <a:r>
              <a:rPr dirty="0" spc="160"/>
              <a:t>/</a:t>
            </a:r>
            <a:r>
              <a:rPr dirty="0" spc="-165"/>
              <a:t> </a:t>
            </a:r>
            <a:r>
              <a:rPr dirty="0" spc="5"/>
              <a:t>33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76600" y="2773680"/>
            <a:ext cx="4977765" cy="1024255"/>
          </a:xfrm>
          <a:prstGeom prst="rect"/>
          <a:solidFill>
            <a:srgbClr val="333333"/>
          </a:solidFill>
        </p:spPr>
        <p:txBody>
          <a:bodyPr wrap="square" lIns="0" tIns="125095" rIns="0" bIns="0" rtlCol="0" vert="horz">
            <a:spAutoFit/>
          </a:bodyPr>
          <a:lstStyle/>
          <a:p>
            <a:pPr marL="229235">
              <a:lnSpc>
                <a:spcPct val="100000"/>
              </a:lnSpc>
              <a:spcBef>
                <a:spcPts val="985"/>
              </a:spcBef>
            </a:pPr>
            <a:r>
              <a:rPr dirty="0" sz="4100" spc="-1015">
                <a:solidFill>
                  <a:srgbClr val="000000"/>
                </a:solidFill>
                <a:latin typeface="Trebuchet MS"/>
                <a:cs typeface="Trebuchet MS"/>
              </a:rPr>
              <a:t>L</a:t>
            </a:r>
            <a:r>
              <a:rPr dirty="0" sz="4100" spc="-1015">
                <a:solidFill>
                  <a:srgbClr val="FFFFFF"/>
                </a:solidFill>
                <a:latin typeface="Trebuchet MS"/>
                <a:cs typeface="Trebuchet MS"/>
              </a:rPr>
              <a:t>L</a:t>
            </a:r>
            <a:r>
              <a:rPr dirty="0" sz="4100" spc="-1015">
                <a:solidFill>
                  <a:srgbClr val="000000"/>
                </a:solidFill>
                <a:latin typeface="Trebuchet MS"/>
                <a:cs typeface="Trebuchet MS"/>
              </a:rPr>
              <a:t>i</a:t>
            </a:r>
            <a:r>
              <a:rPr dirty="0" sz="4100" spc="-1015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dirty="0" sz="4100" spc="-1015">
                <a:solidFill>
                  <a:srgbClr val="000000"/>
                </a:solidFill>
                <a:latin typeface="Trebuchet MS"/>
                <a:cs typeface="Trebuchet MS"/>
              </a:rPr>
              <a:t>m</a:t>
            </a:r>
            <a:r>
              <a:rPr dirty="0" sz="4100" spc="-1015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dirty="0" sz="4100" spc="-1015">
                <a:solidFill>
                  <a:srgbClr val="000000"/>
                </a:solidFill>
                <a:latin typeface="Trebuchet MS"/>
                <a:cs typeface="Trebuchet MS"/>
              </a:rPr>
              <a:t>i</a:t>
            </a:r>
            <a:r>
              <a:rPr dirty="0" sz="4100" spc="-1015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dirty="0" sz="4100" spc="-1015">
                <a:solidFill>
                  <a:srgbClr val="000000"/>
                </a:solidFill>
                <a:latin typeface="Trebuchet MS"/>
                <a:cs typeface="Trebuchet MS"/>
              </a:rPr>
              <a:t>t</a:t>
            </a:r>
            <a:r>
              <a:rPr dirty="0" sz="4100" spc="-1015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dirty="0" sz="4100" spc="-1015">
                <a:solidFill>
                  <a:srgbClr val="000000"/>
                </a:solidFill>
                <a:latin typeface="Trebuchet MS"/>
                <a:cs typeface="Trebuchet MS"/>
              </a:rPr>
              <a:t>s</a:t>
            </a:r>
            <a:r>
              <a:rPr dirty="0" sz="4100" spc="-1015">
                <a:solidFill>
                  <a:srgbClr val="FFFFFF"/>
                </a:solidFill>
                <a:latin typeface="Trebuchet MS"/>
                <a:cs typeface="Trebuchet MS"/>
              </a:rPr>
              <a:t>s </a:t>
            </a:r>
            <a:r>
              <a:rPr dirty="0" sz="4100" spc="-1205">
                <a:solidFill>
                  <a:srgbClr val="000000"/>
                </a:solidFill>
                <a:latin typeface="Trebuchet MS"/>
                <a:cs typeface="Trebuchet MS"/>
              </a:rPr>
              <a:t>o</a:t>
            </a:r>
            <a:r>
              <a:rPr dirty="0" sz="4100" spc="-1205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dirty="0" sz="4100" spc="-1205">
                <a:solidFill>
                  <a:srgbClr val="000000"/>
                </a:solidFill>
                <a:latin typeface="Trebuchet MS"/>
                <a:cs typeface="Trebuchet MS"/>
              </a:rPr>
              <a:t>n</a:t>
            </a:r>
            <a:r>
              <a:rPr dirty="0" sz="4100" spc="-1205">
                <a:solidFill>
                  <a:srgbClr val="FFFFFF"/>
                </a:solidFill>
                <a:latin typeface="Trebuchet MS"/>
                <a:cs typeface="Trebuchet MS"/>
              </a:rPr>
              <a:t>n </a:t>
            </a:r>
            <a:r>
              <a:rPr dirty="0" sz="4100" spc="-1175">
                <a:solidFill>
                  <a:srgbClr val="000000"/>
                </a:solidFill>
                <a:latin typeface="Trebuchet MS"/>
                <a:cs typeface="Trebuchet MS"/>
              </a:rPr>
              <a:t>D</a:t>
            </a:r>
            <a:r>
              <a:rPr dirty="0" sz="4100" spc="-1175">
                <a:solidFill>
                  <a:srgbClr val="FFFFFF"/>
                </a:solidFill>
                <a:latin typeface="Trebuchet MS"/>
                <a:cs typeface="Trebuchet MS"/>
              </a:rPr>
              <a:t>D</a:t>
            </a:r>
            <a:r>
              <a:rPr dirty="0" sz="4100" spc="-1175">
                <a:solidFill>
                  <a:srgbClr val="000000"/>
                </a:solidFill>
                <a:latin typeface="Trebuchet MS"/>
                <a:cs typeface="Trebuchet MS"/>
              </a:rPr>
              <a:t>a</a:t>
            </a:r>
            <a:r>
              <a:rPr dirty="0" sz="4100" spc="-1175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4100" spc="-1175">
                <a:solidFill>
                  <a:srgbClr val="000000"/>
                </a:solidFill>
                <a:latin typeface="Trebuchet MS"/>
                <a:cs typeface="Trebuchet MS"/>
              </a:rPr>
              <a:t>t</a:t>
            </a:r>
            <a:r>
              <a:rPr dirty="0" sz="4100" spc="-1175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dirty="0" sz="4100" spc="-1175">
                <a:solidFill>
                  <a:srgbClr val="000000"/>
                </a:solidFill>
                <a:latin typeface="Trebuchet MS"/>
                <a:cs typeface="Trebuchet MS"/>
              </a:rPr>
              <a:t>a</a:t>
            </a:r>
            <a:r>
              <a:rPr dirty="0" sz="4100" spc="-1175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4100" spc="-116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4100" spc="-1050">
                <a:solidFill>
                  <a:srgbClr val="000000"/>
                </a:solidFill>
                <a:latin typeface="Trebuchet MS"/>
                <a:cs typeface="Trebuchet MS"/>
              </a:rPr>
              <a:t>M</a:t>
            </a:r>
            <a:r>
              <a:rPr dirty="0" sz="4100" spc="-105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dirty="0" sz="4100" spc="-1050">
                <a:solidFill>
                  <a:srgbClr val="000000"/>
                </a:solidFill>
                <a:latin typeface="Trebuchet MS"/>
                <a:cs typeface="Trebuchet MS"/>
              </a:rPr>
              <a:t>i</a:t>
            </a:r>
            <a:r>
              <a:rPr dirty="0" sz="4100" spc="-1050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dirty="0" sz="4100" spc="-1050">
                <a:solidFill>
                  <a:srgbClr val="000000"/>
                </a:solidFill>
                <a:latin typeface="Trebuchet MS"/>
                <a:cs typeface="Trebuchet MS"/>
              </a:rPr>
              <a:t>n</a:t>
            </a:r>
            <a:r>
              <a:rPr dirty="0" sz="4100" spc="-105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dirty="0" sz="4100" spc="-1050">
                <a:solidFill>
                  <a:srgbClr val="000000"/>
                </a:solidFill>
                <a:latin typeface="Trebuchet MS"/>
                <a:cs typeface="Trebuchet MS"/>
              </a:rPr>
              <a:t>i</a:t>
            </a:r>
            <a:r>
              <a:rPr dirty="0" sz="4100" spc="-1050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dirty="0" sz="4100" spc="-1050">
                <a:solidFill>
                  <a:srgbClr val="000000"/>
                </a:solidFill>
                <a:latin typeface="Trebuchet MS"/>
                <a:cs typeface="Trebuchet MS"/>
              </a:rPr>
              <a:t>n</a:t>
            </a:r>
            <a:r>
              <a:rPr dirty="0" sz="4100" spc="-105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dirty="0" sz="4100" spc="-1050">
                <a:solidFill>
                  <a:srgbClr val="000000"/>
                </a:solidFill>
                <a:latin typeface="Trebuchet MS"/>
                <a:cs typeface="Trebuchet MS"/>
              </a:rPr>
              <a:t>g</a:t>
            </a:r>
            <a:r>
              <a:rPr dirty="0" sz="4100" spc="-1050">
                <a:solidFill>
                  <a:srgbClr val="FFFFFF"/>
                </a:solidFill>
                <a:latin typeface="Trebuchet MS"/>
                <a:cs typeface="Trebuchet MS"/>
              </a:rPr>
              <a:t>g</a:t>
            </a:r>
            <a:endParaRPr sz="410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637519" y="5995415"/>
            <a:ext cx="887730" cy="491490"/>
          </a:xfrm>
          <a:custGeom>
            <a:avLst/>
            <a:gdLst/>
            <a:ahLst/>
            <a:cxnLst/>
            <a:rect l="l" t="t" r="r" b="b"/>
            <a:pathLst>
              <a:path w="887729" h="491489">
                <a:moveTo>
                  <a:pt x="0" y="0"/>
                </a:moveTo>
                <a:lnTo>
                  <a:pt x="887729" y="0"/>
                </a:lnTo>
                <a:lnTo>
                  <a:pt x="887729" y="491109"/>
                </a:lnTo>
                <a:lnTo>
                  <a:pt x="0" y="491109"/>
                </a:lnTo>
                <a:lnTo>
                  <a:pt x="0" y="0"/>
                </a:lnTo>
                <a:close/>
              </a:path>
            </a:pathLst>
          </a:custGeom>
          <a:solidFill>
            <a:srgbClr val="333333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0878987" y="6218137"/>
            <a:ext cx="506730" cy="204470"/>
          </a:xfrm>
          <a:prstGeom prst="rect">
            <a:avLst/>
          </a:prstGeom>
        </p:spPr>
        <p:txBody>
          <a:bodyPr wrap="square" lIns="0" tIns="12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1200" spc="-295">
                <a:latin typeface="Trebuchet MS"/>
                <a:cs typeface="Trebuchet MS"/>
              </a:rPr>
              <a:t>1</a:t>
            </a:r>
            <a:r>
              <a:rPr dirty="0" sz="1200" spc="-295">
                <a:solidFill>
                  <a:srgbClr val="FFFFFF"/>
                </a:solidFill>
                <a:latin typeface="Trebuchet MS"/>
                <a:cs typeface="Trebuchet MS"/>
              </a:rPr>
              <a:t>1</a:t>
            </a:r>
            <a:r>
              <a:rPr dirty="0" sz="1200" spc="-295">
                <a:latin typeface="Trebuchet MS"/>
                <a:cs typeface="Trebuchet MS"/>
              </a:rPr>
              <a:t>3</a:t>
            </a:r>
            <a:r>
              <a:rPr dirty="0" sz="1200" spc="-295">
                <a:solidFill>
                  <a:srgbClr val="FFFFFF"/>
                </a:solidFill>
                <a:latin typeface="Trebuchet MS"/>
                <a:cs typeface="Trebuchet MS"/>
              </a:rPr>
              <a:t>3 </a:t>
            </a:r>
            <a:r>
              <a:rPr dirty="0" sz="1200" spc="-385">
                <a:latin typeface="Trebuchet MS"/>
                <a:cs typeface="Trebuchet MS"/>
              </a:rPr>
              <a:t>/</a:t>
            </a:r>
            <a:r>
              <a:rPr dirty="0" sz="1200" spc="-385">
                <a:solidFill>
                  <a:srgbClr val="FFFFFF"/>
                </a:solidFill>
                <a:latin typeface="Trebuchet MS"/>
                <a:cs typeface="Trebuchet MS"/>
              </a:rPr>
              <a:t>/</a:t>
            </a:r>
            <a:r>
              <a:rPr dirty="0" sz="1200" spc="-9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295">
                <a:latin typeface="Trebuchet MS"/>
                <a:cs typeface="Trebuchet MS"/>
              </a:rPr>
              <a:t>3</a:t>
            </a:r>
            <a:r>
              <a:rPr dirty="0" sz="1200" spc="-295">
                <a:solidFill>
                  <a:srgbClr val="FFFFFF"/>
                </a:solidFill>
                <a:latin typeface="Trebuchet MS"/>
                <a:cs typeface="Trebuchet MS"/>
              </a:rPr>
              <a:t>3</a:t>
            </a:r>
            <a:r>
              <a:rPr dirty="0" sz="1200" spc="-295">
                <a:latin typeface="Trebuchet MS"/>
                <a:cs typeface="Trebuchet MS"/>
              </a:rPr>
              <a:t>3</a:t>
            </a:r>
            <a:r>
              <a:rPr dirty="0" sz="1200" spc="-295">
                <a:solidFill>
                  <a:srgbClr val="FFFFFF"/>
                </a:solidFill>
                <a:latin typeface="Trebuchet MS"/>
                <a:cs typeface="Trebuchet MS"/>
              </a:rPr>
              <a:t>3</a:t>
            </a:r>
            <a:endParaRPr sz="1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20700"/>
            <a:ext cx="9324975" cy="6540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4100" spc="-135">
                <a:latin typeface="Trebuchet MS"/>
                <a:cs typeface="Trebuchet MS"/>
              </a:rPr>
              <a:t>Meaningfulness </a:t>
            </a:r>
            <a:r>
              <a:rPr dirty="0" sz="4100" spc="-170">
                <a:latin typeface="Trebuchet MS"/>
                <a:cs typeface="Trebuchet MS"/>
              </a:rPr>
              <a:t>of </a:t>
            </a:r>
            <a:r>
              <a:rPr dirty="0" sz="4100" spc="-125">
                <a:latin typeface="Trebuchet MS"/>
                <a:cs typeface="Trebuchet MS"/>
              </a:rPr>
              <a:t>Answers </a:t>
            </a:r>
            <a:r>
              <a:rPr dirty="0" sz="4100" spc="-254">
                <a:latin typeface="Trebuchet MS"/>
                <a:cs typeface="Trebuchet MS"/>
              </a:rPr>
              <a:t>from </a:t>
            </a:r>
            <a:r>
              <a:rPr dirty="0" sz="4100" spc="20">
                <a:latin typeface="Trebuchet MS"/>
                <a:cs typeface="Trebuchet MS"/>
              </a:rPr>
              <a:t>DM</a:t>
            </a:r>
            <a:r>
              <a:rPr dirty="0" sz="4100" spc="-760">
                <a:latin typeface="Trebuchet MS"/>
                <a:cs typeface="Trebuchet MS"/>
              </a:rPr>
              <a:t> </a:t>
            </a:r>
            <a:r>
              <a:rPr dirty="0" sz="4100" spc="-85">
                <a:latin typeface="Trebuchet MS"/>
                <a:cs typeface="Trebuchet MS"/>
              </a:rPr>
              <a:t>Models</a:t>
            </a:r>
            <a:endParaRPr sz="41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8754" y="1530350"/>
            <a:ext cx="9424670" cy="1052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 indent="-133985">
              <a:lnSpc>
                <a:spcPct val="100000"/>
              </a:lnSpc>
              <a:spcBef>
                <a:spcPts val="100"/>
              </a:spcBef>
              <a:buClr>
                <a:srgbClr val="C2132D"/>
              </a:buClr>
              <a:buFont typeface="Trebuchet MS"/>
              <a:buChar char="•"/>
              <a:tabLst>
                <a:tab pos="146685" algn="l"/>
              </a:tabLst>
            </a:pPr>
            <a:r>
              <a:rPr dirty="0" sz="1800" spc="65" b="1">
                <a:latin typeface="Trebuchet MS"/>
                <a:cs typeface="Trebuchet MS"/>
              </a:rPr>
              <a:t>A</a:t>
            </a:r>
            <a:r>
              <a:rPr dirty="0" sz="1800" spc="-95" b="1">
                <a:latin typeface="Trebuchet MS"/>
                <a:cs typeface="Trebuchet MS"/>
              </a:rPr>
              <a:t> </a:t>
            </a:r>
            <a:r>
              <a:rPr dirty="0" sz="1800" spc="10" b="1">
                <a:latin typeface="Trebuchet MS"/>
                <a:cs typeface="Trebuchet MS"/>
              </a:rPr>
              <a:t>big</a:t>
            </a:r>
            <a:r>
              <a:rPr dirty="0" sz="1800" spc="-90" b="1">
                <a:latin typeface="Trebuchet MS"/>
                <a:cs typeface="Trebuchet MS"/>
              </a:rPr>
              <a:t> </a:t>
            </a:r>
            <a:r>
              <a:rPr dirty="0" sz="1800" spc="-15" b="1">
                <a:latin typeface="Trebuchet MS"/>
                <a:cs typeface="Trebuchet MS"/>
              </a:rPr>
              <a:t>risk</a:t>
            </a:r>
            <a:r>
              <a:rPr dirty="0" sz="1800" spc="-95" b="1">
                <a:latin typeface="Trebuchet MS"/>
                <a:cs typeface="Trebuchet MS"/>
              </a:rPr>
              <a:t> </a:t>
            </a:r>
            <a:r>
              <a:rPr dirty="0" sz="1800" spc="-70" b="1">
                <a:latin typeface="Trebuchet MS"/>
                <a:cs typeface="Trebuchet MS"/>
              </a:rPr>
              <a:t>when</a:t>
            </a:r>
            <a:r>
              <a:rPr dirty="0" sz="1800" spc="-90" b="1">
                <a:latin typeface="Trebuchet MS"/>
                <a:cs typeface="Trebuchet MS"/>
              </a:rPr>
              <a:t> </a:t>
            </a:r>
            <a:r>
              <a:rPr dirty="0" sz="1800" spc="-35" b="1">
                <a:latin typeface="Trebuchet MS"/>
                <a:cs typeface="Trebuchet MS"/>
              </a:rPr>
              <a:t>data</a:t>
            </a:r>
            <a:r>
              <a:rPr dirty="0" sz="1800" spc="-95" b="1">
                <a:latin typeface="Trebuchet MS"/>
                <a:cs typeface="Trebuchet MS"/>
              </a:rPr>
              <a:t> </a:t>
            </a:r>
            <a:r>
              <a:rPr dirty="0" sz="1800" spc="-20" b="1">
                <a:latin typeface="Trebuchet MS"/>
                <a:cs typeface="Trebuchet MS"/>
              </a:rPr>
              <a:t>mining</a:t>
            </a:r>
            <a:r>
              <a:rPr dirty="0" sz="1800" spc="-90" b="1">
                <a:latin typeface="Trebuchet MS"/>
                <a:cs typeface="Trebuchet MS"/>
              </a:rPr>
              <a:t> </a:t>
            </a:r>
            <a:r>
              <a:rPr dirty="0" sz="1800" spc="40" b="1">
                <a:latin typeface="Trebuchet MS"/>
                <a:cs typeface="Trebuchet MS"/>
              </a:rPr>
              <a:t>is</a:t>
            </a:r>
            <a:r>
              <a:rPr dirty="0" sz="1800" spc="-90" b="1">
                <a:latin typeface="Trebuchet MS"/>
                <a:cs typeface="Trebuchet MS"/>
              </a:rPr>
              <a:t> </a:t>
            </a:r>
            <a:r>
              <a:rPr dirty="0" sz="1800" spc="-70" b="1">
                <a:latin typeface="Trebuchet MS"/>
                <a:cs typeface="Trebuchet MS"/>
              </a:rPr>
              <a:t>that</a:t>
            </a:r>
            <a:r>
              <a:rPr dirty="0" sz="1800" spc="-95" b="1">
                <a:latin typeface="Trebuchet MS"/>
                <a:cs typeface="Trebuchet MS"/>
              </a:rPr>
              <a:t> </a:t>
            </a:r>
            <a:r>
              <a:rPr dirty="0" sz="1800" spc="-45" b="1">
                <a:latin typeface="Trebuchet MS"/>
                <a:cs typeface="Trebuchet MS"/>
              </a:rPr>
              <a:t>you</a:t>
            </a:r>
            <a:r>
              <a:rPr dirty="0" sz="1800" spc="-90" b="1">
                <a:latin typeface="Trebuchet MS"/>
                <a:cs typeface="Trebuchet MS"/>
              </a:rPr>
              <a:t> </a:t>
            </a:r>
            <a:r>
              <a:rPr dirty="0" sz="1800" spc="-65" b="1">
                <a:latin typeface="Trebuchet MS"/>
                <a:cs typeface="Trebuchet MS"/>
              </a:rPr>
              <a:t>will</a:t>
            </a:r>
            <a:r>
              <a:rPr dirty="0" sz="1800" spc="-95" b="1">
                <a:latin typeface="Trebuchet MS"/>
                <a:cs typeface="Trebuchet MS"/>
              </a:rPr>
              <a:t> </a:t>
            </a:r>
            <a:r>
              <a:rPr dirty="0" sz="1800" spc="-25" b="1">
                <a:latin typeface="Trebuchet MS"/>
                <a:cs typeface="Trebuchet MS"/>
              </a:rPr>
              <a:t>discover</a:t>
            </a:r>
            <a:r>
              <a:rPr dirty="0" sz="1800" spc="-90" b="1">
                <a:latin typeface="Trebuchet MS"/>
                <a:cs typeface="Trebuchet MS"/>
              </a:rPr>
              <a:t> </a:t>
            </a:r>
            <a:r>
              <a:rPr dirty="0" sz="1800" spc="-40" b="1">
                <a:latin typeface="Trebuchet MS"/>
                <a:cs typeface="Trebuchet MS"/>
              </a:rPr>
              <a:t>patterns</a:t>
            </a:r>
            <a:r>
              <a:rPr dirty="0" sz="1800" spc="-90" b="1">
                <a:latin typeface="Trebuchet MS"/>
                <a:cs typeface="Trebuchet MS"/>
              </a:rPr>
              <a:t> </a:t>
            </a:r>
            <a:r>
              <a:rPr dirty="0" sz="1800" spc="-70" b="1">
                <a:latin typeface="Trebuchet MS"/>
                <a:cs typeface="Trebuchet MS"/>
              </a:rPr>
              <a:t>that</a:t>
            </a:r>
            <a:r>
              <a:rPr dirty="0" sz="1800" spc="-95" b="1">
                <a:latin typeface="Trebuchet MS"/>
                <a:cs typeface="Trebuchet MS"/>
              </a:rPr>
              <a:t> </a:t>
            </a:r>
            <a:r>
              <a:rPr dirty="0" sz="1800" spc="-65" b="1">
                <a:latin typeface="Trebuchet MS"/>
                <a:cs typeface="Trebuchet MS"/>
              </a:rPr>
              <a:t>are</a:t>
            </a:r>
            <a:r>
              <a:rPr dirty="0" sz="1800" spc="-90" b="1">
                <a:latin typeface="Trebuchet MS"/>
                <a:cs typeface="Trebuchet MS"/>
              </a:rPr>
              <a:t> </a:t>
            </a:r>
            <a:r>
              <a:rPr dirty="0" sz="1800" spc="-5" b="1">
                <a:latin typeface="Trebuchet MS"/>
                <a:cs typeface="Trebuchet MS"/>
              </a:rPr>
              <a:t>meaningless.</a:t>
            </a:r>
            <a:endParaRPr sz="1800">
              <a:latin typeface="Trebuchet MS"/>
              <a:cs typeface="Trebuchet MS"/>
            </a:endParaRPr>
          </a:p>
          <a:p>
            <a:pPr marL="146050" marR="5080" indent="-133985">
              <a:lnSpc>
                <a:spcPct val="114599"/>
              </a:lnSpc>
              <a:spcBef>
                <a:spcPts val="975"/>
              </a:spcBef>
              <a:buFont typeface="Trebuchet MS"/>
              <a:buChar char="•"/>
              <a:tabLst>
                <a:tab pos="146685" algn="l"/>
              </a:tabLst>
            </a:pPr>
            <a:r>
              <a:rPr dirty="0" sz="1800" spc="-65" b="1">
                <a:solidFill>
                  <a:srgbClr val="C2132D"/>
                </a:solidFill>
                <a:latin typeface="Trebuchet MS"/>
                <a:cs typeface="Trebuchet MS"/>
              </a:rPr>
              <a:t>Bonferroni’s</a:t>
            </a:r>
            <a:r>
              <a:rPr dirty="0" sz="1800" spc="-8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50" b="1">
                <a:solidFill>
                  <a:srgbClr val="C2132D"/>
                </a:solidFill>
                <a:latin typeface="Trebuchet MS"/>
                <a:cs typeface="Trebuchet MS"/>
              </a:rPr>
              <a:t>Principle: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(roughly)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585D60"/>
                </a:solidFill>
                <a:latin typeface="Arial"/>
                <a:cs typeface="Arial"/>
              </a:rPr>
              <a:t>if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585D60"/>
                </a:solidFill>
                <a:latin typeface="Arial"/>
                <a:cs typeface="Arial"/>
              </a:rPr>
              <a:t>you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5">
                <a:solidFill>
                  <a:srgbClr val="585D60"/>
                </a:solidFill>
                <a:latin typeface="Arial"/>
                <a:cs typeface="Arial"/>
              </a:rPr>
              <a:t>look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in</a:t>
            </a:r>
            <a:r>
              <a:rPr dirty="0" sz="18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more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places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585D60"/>
                </a:solidFill>
                <a:latin typeface="Arial"/>
                <a:cs typeface="Arial"/>
              </a:rPr>
              <a:t>for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interesting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patterns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than</a:t>
            </a:r>
            <a:r>
              <a:rPr dirty="0" sz="18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your  </a:t>
            </a:r>
            <a:r>
              <a:rPr dirty="0" sz="1800" spc="25">
                <a:solidFill>
                  <a:srgbClr val="585D60"/>
                </a:solidFill>
                <a:latin typeface="Arial"/>
                <a:cs typeface="Arial"/>
              </a:rPr>
              <a:t>amount</a:t>
            </a:r>
            <a:r>
              <a:rPr dirty="0" sz="1800" spc="-6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Arial"/>
                <a:cs typeface="Arial"/>
              </a:rPr>
              <a:t>of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data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40">
                <a:solidFill>
                  <a:srgbClr val="585D60"/>
                </a:solidFill>
                <a:latin typeface="Arial"/>
                <a:cs typeface="Arial"/>
              </a:rPr>
              <a:t>will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support,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585D60"/>
                </a:solidFill>
                <a:latin typeface="Arial"/>
                <a:cs typeface="Arial"/>
              </a:rPr>
              <a:t>you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30">
                <a:solidFill>
                  <a:srgbClr val="585D60"/>
                </a:solidFill>
                <a:latin typeface="Arial"/>
                <a:cs typeface="Arial"/>
              </a:rPr>
              <a:t>are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bound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585D60"/>
                </a:solidFill>
                <a:latin typeface="Arial"/>
                <a:cs typeface="Arial"/>
              </a:rPr>
              <a:t>to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find.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571875" y="2876549"/>
            <a:ext cx="4391024" cy="277177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5"/>
              <a:t>14</a:t>
            </a:fld>
            <a:r>
              <a:rPr dirty="0" spc="5"/>
              <a:t> </a:t>
            </a:r>
            <a:r>
              <a:rPr dirty="0" spc="160"/>
              <a:t>/</a:t>
            </a:r>
            <a:r>
              <a:rPr dirty="0" spc="-165"/>
              <a:t> </a:t>
            </a:r>
            <a:r>
              <a:rPr dirty="0" spc="5"/>
              <a:t>33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5"/>
              <a:t>14</a:t>
            </a:fld>
            <a:r>
              <a:rPr dirty="0" spc="5"/>
              <a:t> </a:t>
            </a:r>
            <a:r>
              <a:rPr dirty="0" spc="160"/>
              <a:t>/</a:t>
            </a:r>
            <a:r>
              <a:rPr dirty="0" spc="-165"/>
              <a:t> </a:t>
            </a:r>
            <a:r>
              <a:rPr dirty="0" spc="5"/>
              <a:t>33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20700"/>
            <a:ext cx="9107805" cy="1254125"/>
          </a:xfrm>
          <a:prstGeom prst="rect"/>
        </p:spPr>
        <p:txBody>
          <a:bodyPr wrap="square" lIns="0" tIns="55880" rIns="0" bIns="0" rtlCol="0" vert="horz">
            <a:spAutoFit/>
          </a:bodyPr>
          <a:lstStyle/>
          <a:p>
            <a:pPr marL="12700" marR="5080">
              <a:lnSpc>
                <a:spcPts val="4730"/>
              </a:lnSpc>
              <a:spcBef>
                <a:spcPts val="440"/>
              </a:spcBef>
            </a:pPr>
            <a:r>
              <a:rPr dirty="0" sz="4100" spc="-170">
                <a:latin typeface="Trebuchet MS"/>
                <a:cs typeface="Trebuchet MS"/>
              </a:rPr>
              <a:t>Rhines </a:t>
            </a:r>
            <a:r>
              <a:rPr dirty="0" sz="4100" spc="-254">
                <a:latin typeface="Trebuchet MS"/>
                <a:cs typeface="Trebuchet MS"/>
              </a:rPr>
              <a:t>Paradox: </a:t>
            </a:r>
            <a:r>
              <a:rPr dirty="0" sz="4100" spc="-145">
                <a:latin typeface="Trebuchet MS"/>
                <a:cs typeface="Trebuchet MS"/>
              </a:rPr>
              <a:t>An </a:t>
            </a:r>
            <a:r>
              <a:rPr dirty="0" sz="4100" spc="-240">
                <a:latin typeface="Trebuchet MS"/>
                <a:cs typeface="Trebuchet MS"/>
              </a:rPr>
              <a:t>Example </a:t>
            </a:r>
            <a:r>
              <a:rPr dirty="0" sz="4100" spc="-170">
                <a:latin typeface="Trebuchet MS"/>
                <a:cs typeface="Trebuchet MS"/>
              </a:rPr>
              <a:t>of</a:t>
            </a:r>
            <a:r>
              <a:rPr dirty="0" sz="4100" spc="-620">
                <a:latin typeface="Trebuchet MS"/>
                <a:cs typeface="Trebuchet MS"/>
              </a:rPr>
              <a:t> </a:t>
            </a:r>
            <a:r>
              <a:rPr dirty="0" sz="4100" spc="-210">
                <a:latin typeface="Trebuchet MS"/>
                <a:cs typeface="Trebuchet MS"/>
              </a:rPr>
              <a:t>Overzealous  </a:t>
            </a:r>
            <a:r>
              <a:rPr dirty="0" sz="4100" spc="90">
                <a:latin typeface="Trebuchet MS"/>
                <a:cs typeface="Trebuchet MS"/>
              </a:rPr>
              <a:t>DM?</a:t>
            </a:r>
            <a:endParaRPr sz="41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62230" rIns="0" bIns="0" rtlCol="0" vert="horz">
            <a:spAutoFit/>
          </a:bodyPr>
          <a:lstStyle/>
          <a:p>
            <a:pPr marL="356870" indent="-133985">
              <a:lnSpc>
                <a:spcPct val="100000"/>
              </a:lnSpc>
              <a:spcBef>
                <a:spcPts val="490"/>
              </a:spcBef>
              <a:buClr>
                <a:srgbClr val="C2132D"/>
              </a:buClr>
              <a:buFont typeface="Trebuchet MS"/>
              <a:buChar char="•"/>
              <a:tabLst>
                <a:tab pos="357505" algn="l"/>
              </a:tabLst>
            </a:pPr>
            <a:r>
              <a:rPr dirty="0" spc="15"/>
              <a:t>Joseph</a:t>
            </a:r>
            <a:r>
              <a:rPr dirty="0" spc="-50"/>
              <a:t> </a:t>
            </a:r>
            <a:r>
              <a:rPr dirty="0" spc="-45"/>
              <a:t>Rhine</a:t>
            </a:r>
            <a:r>
              <a:rPr dirty="0" spc="-50"/>
              <a:t> </a:t>
            </a:r>
            <a:r>
              <a:rPr dirty="0" spc="15"/>
              <a:t>was</a:t>
            </a:r>
            <a:r>
              <a:rPr dirty="0" spc="-50"/>
              <a:t> </a:t>
            </a:r>
            <a:r>
              <a:rPr dirty="0" spc="-25"/>
              <a:t>a</a:t>
            </a:r>
            <a:r>
              <a:rPr dirty="0" spc="-50"/>
              <a:t> </a:t>
            </a:r>
            <a:r>
              <a:rPr dirty="0" spc="10"/>
              <a:t>parapsychologist</a:t>
            </a:r>
            <a:r>
              <a:rPr dirty="0" spc="-50"/>
              <a:t> </a:t>
            </a:r>
            <a:r>
              <a:rPr dirty="0" spc="15"/>
              <a:t>in</a:t>
            </a:r>
            <a:r>
              <a:rPr dirty="0" spc="-50"/>
              <a:t> </a:t>
            </a:r>
            <a:r>
              <a:rPr dirty="0" spc="10"/>
              <a:t>the</a:t>
            </a:r>
            <a:r>
              <a:rPr dirty="0" spc="-50"/>
              <a:t> </a:t>
            </a:r>
            <a:r>
              <a:rPr dirty="0" spc="10"/>
              <a:t>1950s</a:t>
            </a:r>
            <a:r>
              <a:rPr dirty="0" spc="-45"/>
              <a:t> </a:t>
            </a:r>
            <a:r>
              <a:rPr dirty="0" spc="20"/>
              <a:t>who</a:t>
            </a:r>
            <a:r>
              <a:rPr dirty="0" spc="-50"/>
              <a:t> </a:t>
            </a:r>
            <a:r>
              <a:rPr dirty="0"/>
              <a:t>hypothesized</a:t>
            </a:r>
            <a:r>
              <a:rPr dirty="0" spc="-50"/>
              <a:t> </a:t>
            </a:r>
            <a:r>
              <a:rPr dirty="0" spc="35"/>
              <a:t>that</a:t>
            </a:r>
            <a:r>
              <a:rPr dirty="0" spc="-50"/>
              <a:t> </a:t>
            </a:r>
            <a:r>
              <a:rPr dirty="0" spc="20"/>
              <a:t>some</a:t>
            </a:r>
            <a:r>
              <a:rPr dirty="0" spc="-50"/>
              <a:t> </a:t>
            </a:r>
            <a:r>
              <a:rPr dirty="0" spc="-5"/>
              <a:t>people</a:t>
            </a:r>
            <a:r>
              <a:rPr dirty="0" spc="-50"/>
              <a:t> </a:t>
            </a:r>
            <a:r>
              <a:rPr dirty="0" spc="-10"/>
              <a:t>had</a:t>
            </a:r>
          </a:p>
          <a:p>
            <a:pPr marL="356870">
              <a:lnSpc>
                <a:spcPct val="100000"/>
              </a:lnSpc>
              <a:spcBef>
                <a:spcPts val="390"/>
              </a:spcBef>
            </a:pPr>
            <a:r>
              <a:rPr dirty="0" spc="-20" b="1">
                <a:solidFill>
                  <a:srgbClr val="C2132D"/>
                </a:solidFill>
                <a:latin typeface="Trebuchet MS"/>
                <a:cs typeface="Trebuchet MS"/>
              </a:rPr>
              <a:t>Extra-Sensory</a:t>
            </a:r>
            <a:r>
              <a:rPr dirty="0" spc="-10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pc="-40" b="1">
                <a:solidFill>
                  <a:srgbClr val="C2132D"/>
                </a:solidFill>
                <a:latin typeface="Trebuchet MS"/>
                <a:cs typeface="Trebuchet MS"/>
              </a:rPr>
              <a:t>Perception</a:t>
            </a:r>
            <a:r>
              <a:rPr dirty="0" spc="-40"/>
              <a:t>.</a:t>
            </a:r>
          </a:p>
          <a:p>
            <a:pPr marL="356870" indent="-133985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Font typeface="Trebuchet MS"/>
              <a:buChar char="•"/>
              <a:tabLst>
                <a:tab pos="357505" algn="l"/>
              </a:tabLst>
            </a:pPr>
            <a:r>
              <a:rPr dirty="0" spc="-35"/>
              <a:t>He</a:t>
            </a:r>
            <a:r>
              <a:rPr dirty="0" spc="-55"/>
              <a:t> </a:t>
            </a:r>
            <a:r>
              <a:rPr dirty="0" spc="-10"/>
              <a:t>devised</a:t>
            </a:r>
            <a:r>
              <a:rPr dirty="0" spc="-50"/>
              <a:t> </a:t>
            </a:r>
            <a:r>
              <a:rPr dirty="0" spc="-15"/>
              <a:t>an</a:t>
            </a:r>
            <a:r>
              <a:rPr dirty="0" spc="-50"/>
              <a:t> </a:t>
            </a:r>
            <a:r>
              <a:rPr dirty="0" spc="5"/>
              <a:t>experiment</a:t>
            </a:r>
            <a:r>
              <a:rPr dirty="0" spc="-50"/>
              <a:t> </a:t>
            </a:r>
            <a:r>
              <a:rPr dirty="0" spc="-15"/>
              <a:t>where</a:t>
            </a:r>
            <a:r>
              <a:rPr dirty="0" spc="-50"/>
              <a:t> </a:t>
            </a:r>
            <a:r>
              <a:rPr dirty="0" spc="20"/>
              <a:t>subjects</a:t>
            </a:r>
            <a:r>
              <a:rPr dirty="0" spc="-50"/>
              <a:t> </a:t>
            </a:r>
            <a:r>
              <a:rPr dirty="0" spc="-15"/>
              <a:t>were</a:t>
            </a:r>
            <a:r>
              <a:rPr dirty="0" spc="-50"/>
              <a:t> </a:t>
            </a:r>
            <a:r>
              <a:rPr dirty="0" spc="-10"/>
              <a:t>asked</a:t>
            </a:r>
            <a:r>
              <a:rPr dirty="0" spc="-50"/>
              <a:t> </a:t>
            </a:r>
            <a:r>
              <a:rPr dirty="0" spc="45"/>
              <a:t>to</a:t>
            </a:r>
            <a:r>
              <a:rPr dirty="0" spc="-50"/>
              <a:t> </a:t>
            </a:r>
            <a:r>
              <a:rPr dirty="0"/>
              <a:t>guess</a:t>
            </a:r>
            <a:r>
              <a:rPr dirty="0" spc="-50"/>
              <a:t> </a:t>
            </a:r>
            <a:r>
              <a:rPr dirty="0" spc="10"/>
              <a:t>10</a:t>
            </a:r>
            <a:r>
              <a:rPr dirty="0" spc="-50"/>
              <a:t> </a:t>
            </a:r>
            <a:r>
              <a:rPr dirty="0"/>
              <a:t>hidden</a:t>
            </a:r>
            <a:r>
              <a:rPr dirty="0" spc="-50"/>
              <a:t> </a:t>
            </a:r>
            <a:r>
              <a:rPr dirty="0" spc="10"/>
              <a:t>cards</a:t>
            </a:r>
            <a:r>
              <a:rPr dirty="0" spc="-50"/>
              <a:t> </a:t>
            </a:r>
            <a:r>
              <a:rPr dirty="0" spc="-45">
                <a:solidFill>
                  <a:srgbClr val="C2132D"/>
                </a:solidFill>
                <a:latin typeface="Trebuchet MS"/>
                <a:cs typeface="Trebuchet MS"/>
              </a:rPr>
              <a:t>red</a:t>
            </a:r>
            <a:r>
              <a:rPr dirty="0" spc="-95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pc="15"/>
              <a:t>or</a:t>
            </a:r>
            <a:r>
              <a:rPr dirty="0" spc="-50"/>
              <a:t> </a:t>
            </a:r>
            <a:r>
              <a:rPr dirty="0" spc="-30">
                <a:solidFill>
                  <a:srgbClr val="0000FF"/>
                </a:solidFill>
                <a:latin typeface="Trebuchet MS"/>
                <a:cs typeface="Trebuchet MS"/>
              </a:rPr>
              <a:t>blue</a:t>
            </a:r>
            <a:r>
              <a:rPr dirty="0" spc="-30"/>
              <a:t>.</a:t>
            </a:r>
          </a:p>
          <a:p>
            <a:pPr marL="35687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Font typeface="Trebuchet MS"/>
              <a:buChar char="•"/>
              <a:tabLst>
                <a:tab pos="357505" algn="l"/>
              </a:tabLst>
            </a:pPr>
            <a:r>
              <a:rPr dirty="0" spc="-35"/>
              <a:t>He</a:t>
            </a:r>
            <a:r>
              <a:rPr dirty="0" spc="-55"/>
              <a:t> </a:t>
            </a:r>
            <a:r>
              <a:rPr dirty="0"/>
              <a:t>discovered</a:t>
            </a:r>
            <a:r>
              <a:rPr dirty="0" spc="-55"/>
              <a:t> </a:t>
            </a:r>
            <a:r>
              <a:rPr dirty="0" spc="35"/>
              <a:t>that</a:t>
            </a:r>
            <a:r>
              <a:rPr dirty="0" spc="-55"/>
              <a:t> </a:t>
            </a:r>
            <a:r>
              <a:rPr dirty="0" spc="35"/>
              <a:t>almost</a:t>
            </a:r>
            <a:r>
              <a:rPr dirty="0" spc="-55"/>
              <a:t> </a:t>
            </a:r>
            <a:r>
              <a:rPr dirty="0" spc="10"/>
              <a:t>1</a:t>
            </a:r>
            <a:r>
              <a:rPr dirty="0" spc="-55"/>
              <a:t> </a:t>
            </a:r>
            <a:r>
              <a:rPr dirty="0" spc="15"/>
              <a:t>in</a:t>
            </a:r>
            <a:r>
              <a:rPr dirty="0" spc="-55"/>
              <a:t> </a:t>
            </a:r>
            <a:r>
              <a:rPr dirty="0" spc="10"/>
              <a:t>1000</a:t>
            </a:r>
            <a:r>
              <a:rPr dirty="0" spc="-50"/>
              <a:t> </a:t>
            </a:r>
            <a:r>
              <a:rPr dirty="0" spc="-10"/>
              <a:t>had</a:t>
            </a:r>
            <a:r>
              <a:rPr dirty="0" spc="-55"/>
              <a:t> </a:t>
            </a:r>
            <a:r>
              <a:rPr dirty="0" spc="-125"/>
              <a:t>ESP</a:t>
            </a:r>
            <a:r>
              <a:rPr dirty="0" spc="-55"/>
              <a:t> </a:t>
            </a:r>
            <a:r>
              <a:rPr dirty="0" spc="-10"/>
              <a:t>they</a:t>
            </a:r>
            <a:r>
              <a:rPr dirty="0" spc="-55"/>
              <a:t> </a:t>
            </a:r>
            <a:r>
              <a:rPr dirty="0" spc="-15"/>
              <a:t>were</a:t>
            </a:r>
            <a:r>
              <a:rPr dirty="0" spc="-55"/>
              <a:t> </a:t>
            </a:r>
            <a:r>
              <a:rPr dirty="0" spc="-10"/>
              <a:t>able</a:t>
            </a:r>
            <a:r>
              <a:rPr dirty="0" spc="-55"/>
              <a:t> </a:t>
            </a:r>
            <a:r>
              <a:rPr dirty="0" spc="45"/>
              <a:t>to</a:t>
            </a:r>
            <a:r>
              <a:rPr dirty="0" spc="-55"/>
              <a:t> </a:t>
            </a:r>
            <a:r>
              <a:rPr dirty="0" spc="15"/>
              <a:t>get</a:t>
            </a:r>
            <a:r>
              <a:rPr dirty="0" spc="-50"/>
              <a:t> </a:t>
            </a:r>
            <a:r>
              <a:rPr dirty="0" spc="15"/>
              <a:t>all</a:t>
            </a:r>
            <a:r>
              <a:rPr dirty="0" spc="-55"/>
              <a:t> </a:t>
            </a:r>
            <a:r>
              <a:rPr dirty="0" spc="10"/>
              <a:t>10</a:t>
            </a:r>
            <a:r>
              <a:rPr dirty="0" spc="-55"/>
              <a:t> </a:t>
            </a:r>
            <a:r>
              <a:rPr dirty="0" spc="15"/>
              <a:t>right!</a:t>
            </a:r>
          </a:p>
          <a:p>
            <a:pPr marL="35687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Font typeface="Trebuchet MS"/>
              <a:buChar char="•"/>
              <a:tabLst>
                <a:tab pos="357505" algn="l"/>
              </a:tabLst>
            </a:pPr>
            <a:r>
              <a:rPr dirty="0" spc="-35"/>
              <a:t>He</a:t>
            </a:r>
            <a:r>
              <a:rPr dirty="0" spc="-55"/>
              <a:t> </a:t>
            </a:r>
            <a:r>
              <a:rPr dirty="0" spc="35"/>
              <a:t>told</a:t>
            </a:r>
            <a:r>
              <a:rPr dirty="0" spc="-55"/>
              <a:t> </a:t>
            </a:r>
            <a:r>
              <a:rPr dirty="0"/>
              <a:t>these</a:t>
            </a:r>
            <a:r>
              <a:rPr dirty="0" spc="-55"/>
              <a:t> </a:t>
            </a:r>
            <a:r>
              <a:rPr dirty="0" spc="-5"/>
              <a:t>people</a:t>
            </a:r>
            <a:r>
              <a:rPr dirty="0" spc="-55"/>
              <a:t> </a:t>
            </a:r>
            <a:r>
              <a:rPr dirty="0" spc="-10"/>
              <a:t>they</a:t>
            </a:r>
            <a:r>
              <a:rPr dirty="0" spc="-50"/>
              <a:t> </a:t>
            </a:r>
            <a:r>
              <a:rPr dirty="0" spc="-10"/>
              <a:t>had</a:t>
            </a:r>
            <a:r>
              <a:rPr dirty="0" spc="-55"/>
              <a:t> </a:t>
            </a:r>
            <a:r>
              <a:rPr dirty="0" spc="-125"/>
              <a:t>ESP</a:t>
            </a:r>
            <a:r>
              <a:rPr dirty="0" spc="-55"/>
              <a:t> </a:t>
            </a:r>
            <a:r>
              <a:rPr dirty="0" spc="-5"/>
              <a:t>and</a:t>
            </a:r>
            <a:r>
              <a:rPr dirty="0" spc="-55"/>
              <a:t> </a:t>
            </a:r>
            <a:r>
              <a:rPr dirty="0" spc="10"/>
              <a:t>called</a:t>
            </a:r>
            <a:r>
              <a:rPr dirty="0" spc="-50"/>
              <a:t> </a:t>
            </a:r>
            <a:r>
              <a:rPr dirty="0" spc="25"/>
              <a:t>them</a:t>
            </a:r>
            <a:r>
              <a:rPr dirty="0" spc="-55"/>
              <a:t> </a:t>
            </a:r>
            <a:r>
              <a:rPr dirty="0" spc="15"/>
              <a:t>in</a:t>
            </a:r>
            <a:r>
              <a:rPr dirty="0" spc="-55"/>
              <a:t> </a:t>
            </a:r>
            <a:r>
              <a:rPr dirty="0" spc="50"/>
              <a:t>for</a:t>
            </a:r>
            <a:r>
              <a:rPr dirty="0" spc="-55"/>
              <a:t> </a:t>
            </a:r>
            <a:r>
              <a:rPr dirty="0" spc="5"/>
              <a:t>another</a:t>
            </a:r>
            <a:r>
              <a:rPr dirty="0" spc="-55"/>
              <a:t> </a:t>
            </a:r>
            <a:r>
              <a:rPr dirty="0" spc="40"/>
              <a:t>test</a:t>
            </a:r>
            <a:r>
              <a:rPr dirty="0" spc="-50"/>
              <a:t> </a:t>
            </a:r>
            <a:r>
              <a:rPr dirty="0" spc="75"/>
              <a:t>of</a:t>
            </a:r>
            <a:r>
              <a:rPr dirty="0" spc="-55"/>
              <a:t> </a:t>
            </a:r>
            <a:r>
              <a:rPr dirty="0" spc="10"/>
              <a:t>the</a:t>
            </a:r>
            <a:r>
              <a:rPr dirty="0" spc="-55"/>
              <a:t> </a:t>
            </a:r>
            <a:r>
              <a:rPr dirty="0" spc="5"/>
              <a:t>same</a:t>
            </a:r>
            <a:r>
              <a:rPr dirty="0" spc="-55"/>
              <a:t> </a:t>
            </a:r>
            <a:r>
              <a:rPr dirty="0" spc="-5"/>
              <a:t>type.</a:t>
            </a:r>
          </a:p>
          <a:p>
            <a:pPr marL="356870" indent="-133985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Font typeface="Trebuchet MS"/>
              <a:buChar char="•"/>
              <a:tabLst>
                <a:tab pos="357505" algn="l"/>
              </a:tabLst>
            </a:pPr>
            <a:r>
              <a:rPr dirty="0" spc="-30"/>
              <a:t>Alas,</a:t>
            </a:r>
            <a:r>
              <a:rPr dirty="0" spc="-55"/>
              <a:t> </a:t>
            </a:r>
            <a:r>
              <a:rPr dirty="0" spc="-30"/>
              <a:t>he</a:t>
            </a:r>
            <a:r>
              <a:rPr dirty="0" spc="-55"/>
              <a:t> </a:t>
            </a:r>
            <a:r>
              <a:rPr dirty="0"/>
              <a:t>discovered</a:t>
            </a:r>
            <a:r>
              <a:rPr dirty="0" spc="-55"/>
              <a:t> </a:t>
            </a:r>
            <a:r>
              <a:rPr dirty="0" spc="35"/>
              <a:t>that</a:t>
            </a:r>
            <a:r>
              <a:rPr dirty="0" spc="-55"/>
              <a:t> </a:t>
            </a:r>
            <a:r>
              <a:rPr dirty="0" spc="35"/>
              <a:t>almost</a:t>
            </a:r>
            <a:r>
              <a:rPr dirty="0" spc="-55"/>
              <a:t> </a:t>
            </a:r>
            <a:r>
              <a:rPr dirty="0" spc="15"/>
              <a:t>all</a:t>
            </a:r>
            <a:r>
              <a:rPr dirty="0" spc="-55"/>
              <a:t> </a:t>
            </a:r>
            <a:r>
              <a:rPr dirty="0" spc="75"/>
              <a:t>of</a:t>
            </a:r>
            <a:r>
              <a:rPr dirty="0" spc="-55"/>
              <a:t> </a:t>
            </a:r>
            <a:r>
              <a:rPr dirty="0" spc="25"/>
              <a:t>them</a:t>
            </a:r>
            <a:r>
              <a:rPr dirty="0" spc="-55"/>
              <a:t> </a:t>
            </a:r>
            <a:r>
              <a:rPr dirty="0" spc="-10"/>
              <a:t>had</a:t>
            </a:r>
            <a:r>
              <a:rPr dirty="0" spc="-55"/>
              <a:t> </a:t>
            </a:r>
            <a:r>
              <a:rPr dirty="0" spc="45"/>
              <a:t>lost</a:t>
            </a:r>
            <a:r>
              <a:rPr dirty="0" spc="-55"/>
              <a:t> </a:t>
            </a:r>
            <a:r>
              <a:rPr dirty="0" spc="15"/>
              <a:t>their</a:t>
            </a:r>
            <a:r>
              <a:rPr dirty="0" spc="-55"/>
              <a:t> </a:t>
            </a:r>
            <a:r>
              <a:rPr dirty="0" spc="-175"/>
              <a:t>ESP.</a:t>
            </a:r>
          </a:p>
          <a:p>
            <a:pPr marL="356870" indent="-133985">
              <a:lnSpc>
                <a:spcPct val="100000"/>
              </a:lnSpc>
              <a:spcBef>
                <a:spcPts val="1290"/>
              </a:spcBef>
              <a:buFont typeface="Trebuchet MS"/>
              <a:buChar char="•"/>
              <a:tabLst>
                <a:tab pos="357505" algn="l"/>
              </a:tabLst>
            </a:pPr>
            <a:r>
              <a:rPr dirty="0" spc="-45" b="1">
                <a:solidFill>
                  <a:srgbClr val="C2132D"/>
                </a:solidFill>
                <a:latin typeface="Trebuchet MS"/>
                <a:cs typeface="Trebuchet MS"/>
              </a:rPr>
              <a:t>What did </a:t>
            </a:r>
            <a:r>
              <a:rPr dirty="0" spc="-65" b="1">
                <a:solidFill>
                  <a:srgbClr val="C2132D"/>
                </a:solidFill>
                <a:latin typeface="Trebuchet MS"/>
                <a:cs typeface="Trebuchet MS"/>
              </a:rPr>
              <a:t>he</a:t>
            </a:r>
            <a:r>
              <a:rPr dirty="0" spc="-20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pc="-15" b="1">
                <a:solidFill>
                  <a:srgbClr val="C2132D"/>
                </a:solidFill>
                <a:latin typeface="Trebuchet MS"/>
                <a:cs typeface="Trebuchet MS"/>
              </a:rPr>
              <a:t>conclude?</a:t>
            </a:r>
          </a:p>
          <a:p>
            <a:pPr lvl="1" marL="737870" indent="-134620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Font typeface="Trebuchet MS"/>
              <a:buChar char="•"/>
              <a:tabLst>
                <a:tab pos="738505" algn="l"/>
              </a:tabLst>
            </a:pPr>
            <a:r>
              <a:rPr dirty="0" sz="1800" spc="-35">
                <a:solidFill>
                  <a:srgbClr val="585D60"/>
                </a:solidFill>
                <a:latin typeface="Arial"/>
                <a:cs typeface="Arial"/>
              </a:rPr>
              <a:t>He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concluded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5">
                <a:solidFill>
                  <a:srgbClr val="585D60"/>
                </a:solidFill>
                <a:latin typeface="Arial"/>
                <a:cs typeface="Arial"/>
              </a:rPr>
              <a:t>that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585D60"/>
                </a:solidFill>
                <a:latin typeface="Arial"/>
                <a:cs typeface="Arial"/>
              </a:rPr>
              <a:t>you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should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5">
                <a:solidFill>
                  <a:srgbClr val="585D60"/>
                </a:solidFill>
                <a:latin typeface="Arial"/>
                <a:cs typeface="Arial"/>
              </a:rPr>
              <a:t>not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5">
                <a:solidFill>
                  <a:srgbClr val="585D60"/>
                </a:solidFill>
                <a:latin typeface="Arial"/>
                <a:cs typeface="Arial"/>
              </a:rPr>
              <a:t>tell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people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they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35">
                <a:solidFill>
                  <a:srgbClr val="585D60"/>
                </a:solidFill>
                <a:latin typeface="Arial"/>
                <a:cs typeface="Arial"/>
              </a:rPr>
              <a:t>have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25">
                <a:solidFill>
                  <a:srgbClr val="585D60"/>
                </a:solidFill>
                <a:latin typeface="Arial"/>
                <a:cs typeface="Arial"/>
              </a:rPr>
              <a:t>ESP;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60">
                <a:solidFill>
                  <a:srgbClr val="585D60"/>
                </a:solidFill>
                <a:latin typeface="Arial"/>
                <a:cs typeface="Arial"/>
              </a:rPr>
              <a:t>it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causes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5">
                <a:solidFill>
                  <a:srgbClr val="585D60"/>
                </a:solidFill>
                <a:latin typeface="Arial"/>
                <a:cs typeface="Arial"/>
              </a:rPr>
              <a:t>them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585D60"/>
                </a:solidFill>
                <a:latin typeface="Arial"/>
                <a:cs typeface="Arial"/>
              </a:rPr>
              <a:t>to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lose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Arial"/>
                <a:cs typeface="Arial"/>
              </a:rPr>
              <a:t>it.</a:t>
            </a:r>
            <a:endParaRPr sz="1800">
              <a:latin typeface="Arial"/>
              <a:cs typeface="Arial"/>
            </a:endParaRPr>
          </a:p>
          <a:p>
            <a:pPr lvl="1" marL="737870" indent="-134620">
              <a:lnSpc>
                <a:spcPct val="100000"/>
              </a:lnSpc>
              <a:spcBef>
                <a:spcPts val="1290"/>
              </a:spcBef>
              <a:buFont typeface="Trebuchet MS"/>
              <a:buChar char="•"/>
              <a:tabLst>
                <a:tab pos="738505" algn="l"/>
              </a:tabLst>
            </a:pPr>
            <a:r>
              <a:rPr dirty="0" sz="1800" spc="-45" b="1">
                <a:solidFill>
                  <a:srgbClr val="C2132D"/>
                </a:solidFill>
                <a:latin typeface="Trebuchet MS"/>
                <a:cs typeface="Trebuchet MS"/>
              </a:rPr>
              <a:t>Why </a:t>
            </a:r>
            <a:r>
              <a:rPr dirty="0" sz="1800" spc="40" b="1">
                <a:solidFill>
                  <a:srgbClr val="C2132D"/>
                </a:solidFill>
                <a:latin typeface="Trebuchet MS"/>
                <a:cs typeface="Trebuchet MS"/>
              </a:rPr>
              <a:t>is </a:t>
            </a:r>
            <a:r>
              <a:rPr dirty="0" sz="1800" spc="-20" b="1">
                <a:solidFill>
                  <a:srgbClr val="C2132D"/>
                </a:solidFill>
                <a:latin typeface="Trebuchet MS"/>
                <a:cs typeface="Trebuchet MS"/>
              </a:rPr>
              <a:t>this </a:t>
            </a:r>
            <a:r>
              <a:rPr dirty="0" sz="1800" spc="-25" b="1">
                <a:solidFill>
                  <a:srgbClr val="C2132D"/>
                </a:solidFill>
                <a:latin typeface="Trebuchet MS"/>
                <a:cs typeface="Trebuchet MS"/>
              </a:rPr>
              <a:t>an</a:t>
            </a:r>
            <a:r>
              <a:rPr dirty="0" sz="1800" spc="-40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55" b="1">
                <a:solidFill>
                  <a:srgbClr val="C2132D"/>
                </a:solidFill>
                <a:latin typeface="Trebuchet MS"/>
                <a:cs typeface="Trebuchet MS"/>
              </a:rPr>
              <a:t>incorrect </a:t>
            </a:r>
            <a:r>
              <a:rPr dirty="0" sz="1800" b="1">
                <a:solidFill>
                  <a:srgbClr val="C2132D"/>
                </a:solidFill>
                <a:latin typeface="Trebuchet MS"/>
                <a:cs typeface="Trebuchet MS"/>
              </a:rPr>
              <a:t>conclusion?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3999" y="1647825"/>
            <a:ext cx="3152774" cy="475297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838950" y="1647825"/>
            <a:ext cx="3171824" cy="475297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01700" y="520700"/>
            <a:ext cx="6481445" cy="6540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4100" spc="-229">
                <a:latin typeface="Trebuchet MS"/>
                <a:cs typeface="Trebuchet MS"/>
              </a:rPr>
              <a:t>Ethical </a:t>
            </a:r>
            <a:r>
              <a:rPr dirty="0" sz="4100">
                <a:latin typeface="Trebuchet MS"/>
                <a:cs typeface="Trebuchet MS"/>
              </a:rPr>
              <a:t>Issues </a:t>
            </a:r>
            <a:r>
              <a:rPr dirty="0" sz="4100" spc="-315">
                <a:latin typeface="Trebuchet MS"/>
                <a:cs typeface="Trebuchet MS"/>
              </a:rPr>
              <a:t>with </a:t>
            </a:r>
            <a:r>
              <a:rPr dirty="0" sz="4100" spc="-235">
                <a:latin typeface="Trebuchet MS"/>
                <a:cs typeface="Trebuchet MS"/>
              </a:rPr>
              <a:t>Data</a:t>
            </a:r>
            <a:r>
              <a:rPr dirty="0" sz="4100" spc="-650">
                <a:latin typeface="Trebuchet MS"/>
                <a:cs typeface="Trebuchet MS"/>
              </a:rPr>
              <a:t> </a:t>
            </a:r>
            <a:r>
              <a:rPr dirty="0" sz="4100" spc="-125">
                <a:latin typeface="Trebuchet MS"/>
                <a:cs typeface="Trebuchet MS"/>
              </a:rPr>
              <a:t>Mining</a:t>
            </a:r>
            <a:endParaRPr sz="41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5"/>
              <a:t>14</a:t>
            </a:fld>
            <a:r>
              <a:rPr dirty="0" spc="5"/>
              <a:t> </a:t>
            </a:r>
            <a:r>
              <a:rPr dirty="0" spc="160"/>
              <a:t>/</a:t>
            </a:r>
            <a:r>
              <a:rPr dirty="0" spc="-165"/>
              <a:t> </a:t>
            </a:r>
            <a:r>
              <a:rPr dirty="0" spc="5"/>
              <a:t>33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20700"/>
            <a:ext cx="8499475" cy="6540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4100" spc="-180">
                <a:latin typeface="Trebuchet MS"/>
                <a:cs typeface="Trebuchet MS"/>
              </a:rPr>
              <a:t>In </a:t>
            </a:r>
            <a:r>
              <a:rPr dirty="0" sz="4100" spc="-320">
                <a:latin typeface="Trebuchet MS"/>
                <a:cs typeface="Trebuchet MS"/>
              </a:rPr>
              <a:t>the </a:t>
            </a:r>
            <a:r>
              <a:rPr dirty="0" sz="4100" spc="-215">
                <a:latin typeface="Trebuchet MS"/>
                <a:cs typeface="Trebuchet MS"/>
              </a:rPr>
              <a:t>News: </a:t>
            </a:r>
            <a:r>
              <a:rPr dirty="0" sz="4100" spc="-75">
                <a:latin typeface="Trebuchet MS"/>
                <a:cs typeface="Trebuchet MS"/>
              </a:rPr>
              <a:t>AI </a:t>
            </a:r>
            <a:r>
              <a:rPr dirty="0" sz="4100" spc="-265">
                <a:latin typeface="Trebuchet MS"/>
                <a:cs typeface="Trebuchet MS"/>
              </a:rPr>
              <a:t>Implementation</a:t>
            </a:r>
            <a:r>
              <a:rPr dirty="0" sz="4100" spc="-660">
                <a:latin typeface="Trebuchet MS"/>
                <a:cs typeface="Trebuchet MS"/>
              </a:rPr>
              <a:t> </a:t>
            </a:r>
            <a:r>
              <a:rPr dirty="0" sz="4100" spc="-105">
                <a:latin typeface="Trebuchet MS"/>
                <a:cs typeface="Trebuchet MS"/>
              </a:rPr>
              <a:t>Scandals</a:t>
            </a:r>
            <a:endParaRPr sz="410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557593" y="1533525"/>
            <a:ext cx="5357806" cy="486727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5"/>
              <a:t>14</a:t>
            </a:fld>
            <a:r>
              <a:rPr dirty="0" spc="5"/>
              <a:t> </a:t>
            </a:r>
            <a:r>
              <a:rPr dirty="0" spc="160"/>
              <a:t>/</a:t>
            </a:r>
            <a:r>
              <a:rPr dirty="0" spc="-165"/>
              <a:t> </a:t>
            </a:r>
            <a:r>
              <a:rPr dirty="0" spc="5"/>
              <a:t>33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29128" y="2758440"/>
            <a:ext cx="5657215" cy="1039494"/>
          </a:xfrm>
          <a:prstGeom prst="rect"/>
          <a:solidFill>
            <a:srgbClr val="333333"/>
          </a:solidFill>
        </p:spPr>
        <p:txBody>
          <a:bodyPr wrap="square" lIns="0" tIns="140335" rIns="0" bIns="0" rtlCol="0" vert="horz">
            <a:spAutoFit/>
          </a:bodyPr>
          <a:lstStyle/>
          <a:p>
            <a:pPr marL="251460">
              <a:lnSpc>
                <a:spcPct val="100000"/>
              </a:lnSpc>
              <a:spcBef>
                <a:spcPts val="1105"/>
              </a:spcBef>
            </a:pPr>
            <a:r>
              <a:rPr dirty="0" sz="4100" spc="-1275">
                <a:solidFill>
                  <a:srgbClr val="000000"/>
                </a:solidFill>
                <a:latin typeface="Trebuchet MS"/>
                <a:cs typeface="Trebuchet MS"/>
              </a:rPr>
              <a:t>T</a:t>
            </a:r>
            <a:r>
              <a:rPr dirty="0" sz="4100" spc="-1275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dirty="0" sz="4100" spc="-1275">
                <a:solidFill>
                  <a:srgbClr val="000000"/>
                </a:solidFill>
                <a:latin typeface="Trebuchet MS"/>
                <a:cs typeface="Trebuchet MS"/>
              </a:rPr>
              <a:t>h</a:t>
            </a:r>
            <a:r>
              <a:rPr dirty="0" sz="4100" spc="-1275">
                <a:solidFill>
                  <a:srgbClr val="FFFFFF"/>
                </a:solidFill>
                <a:latin typeface="Trebuchet MS"/>
                <a:cs typeface="Trebuchet MS"/>
              </a:rPr>
              <a:t>h</a:t>
            </a:r>
            <a:r>
              <a:rPr dirty="0" sz="4100" spc="-1275">
                <a:solidFill>
                  <a:srgbClr val="000000"/>
                </a:solidFill>
                <a:latin typeface="Trebuchet MS"/>
                <a:cs typeface="Trebuchet MS"/>
              </a:rPr>
              <a:t>e</a:t>
            </a:r>
            <a:r>
              <a:rPr dirty="0" sz="4100" spc="-1275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dirty="0" sz="4100" spc="-28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4100" spc="-1175">
                <a:solidFill>
                  <a:srgbClr val="000000"/>
                </a:solidFill>
                <a:latin typeface="Trebuchet MS"/>
                <a:cs typeface="Trebuchet MS"/>
              </a:rPr>
              <a:t>D</a:t>
            </a:r>
            <a:r>
              <a:rPr dirty="0" sz="4100" spc="-1175">
                <a:solidFill>
                  <a:srgbClr val="FFFFFF"/>
                </a:solidFill>
                <a:latin typeface="Trebuchet MS"/>
                <a:cs typeface="Trebuchet MS"/>
              </a:rPr>
              <a:t>D</a:t>
            </a:r>
            <a:r>
              <a:rPr dirty="0" sz="4100" spc="-1175">
                <a:solidFill>
                  <a:srgbClr val="000000"/>
                </a:solidFill>
                <a:latin typeface="Trebuchet MS"/>
                <a:cs typeface="Trebuchet MS"/>
              </a:rPr>
              <a:t>a</a:t>
            </a:r>
            <a:r>
              <a:rPr dirty="0" sz="4100" spc="-1175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4100" spc="-1175">
                <a:solidFill>
                  <a:srgbClr val="000000"/>
                </a:solidFill>
                <a:latin typeface="Trebuchet MS"/>
                <a:cs typeface="Trebuchet MS"/>
              </a:rPr>
              <a:t>t</a:t>
            </a:r>
            <a:r>
              <a:rPr dirty="0" sz="4100" spc="-1175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dirty="0" sz="4100" spc="-1175">
                <a:solidFill>
                  <a:srgbClr val="000000"/>
                </a:solidFill>
                <a:latin typeface="Trebuchet MS"/>
                <a:cs typeface="Trebuchet MS"/>
              </a:rPr>
              <a:t>a</a:t>
            </a:r>
            <a:r>
              <a:rPr dirty="0" sz="4100" spc="-1175">
                <a:solidFill>
                  <a:srgbClr val="FFFFFF"/>
                </a:solidFill>
                <a:latin typeface="Trebuchet MS"/>
                <a:cs typeface="Trebuchet MS"/>
              </a:rPr>
              <a:t>a </a:t>
            </a:r>
            <a:r>
              <a:rPr dirty="0" sz="4100" spc="-1050">
                <a:solidFill>
                  <a:srgbClr val="000000"/>
                </a:solidFill>
                <a:latin typeface="Trebuchet MS"/>
                <a:cs typeface="Trebuchet MS"/>
              </a:rPr>
              <a:t>M</a:t>
            </a:r>
            <a:r>
              <a:rPr dirty="0" sz="4100" spc="-105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dirty="0" sz="4100" spc="-1050">
                <a:solidFill>
                  <a:srgbClr val="000000"/>
                </a:solidFill>
                <a:latin typeface="Trebuchet MS"/>
                <a:cs typeface="Trebuchet MS"/>
              </a:rPr>
              <a:t>i</a:t>
            </a:r>
            <a:r>
              <a:rPr dirty="0" sz="4100" spc="-1050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dirty="0" sz="4100" spc="-1050">
                <a:solidFill>
                  <a:srgbClr val="000000"/>
                </a:solidFill>
                <a:latin typeface="Trebuchet MS"/>
                <a:cs typeface="Trebuchet MS"/>
              </a:rPr>
              <a:t>n</a:t>
            </a:r>
            <a:r>
              <a:rPr dirty="0" sz="4100" spc="-105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dirty="0" sz="4100" spc="-1050">
                <a:solidFill>
                  <a:srgbClr val="000000"/>
                </a:solidFill>
                <a:latin typeface="Trebuchet MS"/>
                <a:cs typeface="Trebuchet MS"/>
              </a:rPr>
              <a:t>i</a:t>
            </a:r>
            <a:r>
              <a:rPr dirty="0" sz="4100" spc="-1050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dirty="0" sz="4100" spc="-1050">
                <a:solidFill>
                  <a:srgbClr val="000000"/>
                </a:solidFill>
                <a:latin typeface="Trebuchet MS"/>
                <a:cs typeface="Trebuchet MS"/>
              </a:rPr>
              <a:t>n</a:t>
            </a:r>
            <a:r>
              <a:rPr dirty="0" sz="4100" spc="-105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dirty="0" sz="4100" spc="-1050">
                <a:solidFill>
                  <a:srgbClr val="000000"/>
                </a:solidFill>
                <a:latin typeface="Trebuchet MS"/>
                <a:cs typeface="Trebuchet MS"/>
              </a:rPr>
              <a:t>g</a:t>
            </a:r>
            <a:r>
              <a:rPr dirty="0" sz="4100" spc="-1050">
                <a:solidFill>
                  <a:srgbClr val="FFFFFF"/>
                </a:solidFill>
                <a:latin typeface="Trebuchet MS"/>
                <a:cs typeface="Trebuchet MS"/>
              </a:rPr>
              <a:t>g</a:t>
            </a:r>
            <a:r>
              <a:rPr dirty="0" sz="4100" spc="-10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4100" spc="-1015">
                <a:solidFill>
                  <a:srgbClr val="000000"/>
                </a:solidFill>
                <a:latin typeface="Trebuchet MS"/>
                <a:cs typeface="Trebuchet MS"/>
              </a:rPr>
              <a:t>P</a:t>
            </a:r>
            <a:r>
              <a:rPr dirty="0" sz="4100" spc="-1015">
                <a:solidFill>
                  <a:srgbClr val="FFFFFF"/>
                </a:solidFill>
                <a:latin typeface="Trebuchet MS"/>
                <a:cs typeface="Trebuchet MS"/>
              </a:rPr>
              <a:t>P</a:t>
            </a:r>
            <a:r>
              <a:rPr dirty="0" sz="4100" spc="-1015">
                <a:solidFill>
                  <a:srgbClr val="000000"/>
                </a:solidFill>
                <a:latin typeface="Trebuchet MS"/>
                <a:cs typeface="Trebuchet MS"/>
              </a:rPr>
              <a:t>r</a:t>
            </a:r>
            <a:r>
              <a:rPr dirty="0" sz="4100" spc="-1015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dirty="0" sz="4100" spc="-1015">
                <a:solidFill>
                  <a:srgbClr val="000000"/>
                </a:solidFill>
                <a:latin typeface="Trebuchet MS"/>
                <a:cs typeface="Trebuchet MS"/>
              </a:rPr>
              <a:t>o</a:t>
            </a:r>
            <a:r>
              <a:rPr dirty="0" sz="4100" spc="-1015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dirty="0" sz="4100" spc="-1015">
                <a:solidFill>
                  <a:srgbClr val="000000"/>
                </a:solidFill>
                <a:latin typeface="Trebuchet MS"/>
                <a:cs typeface="Trebuchet MS"/>
              </a:rPr>
              <a:t>c</a:t>
            </a:r>
            <a:r>
              <a:rPr dirty="0" sz="4100" spc="-1015">
                <a:solidFill>
                  <a:srgbClr val="FFFFFF"/>
                </a:solidFill>
                <a:latin typeface="Trebuchet MS"/>
                <a:cs typeface="Trebuchet MS"/>
              </a:rPr>
              <a:t>c</a:t>
            </a:r>
            <a:r>
              <a:rPr dirty="0" sz="4100" spc="-1015">
                <a:solidFill>
                  <a:srgbClr val="000000"/>
                </a:solidFill>
                <a:latin typeface="Trebuchet MS"/>
                <a:cs typeface="Trebuchet MS"/>
              </a:rPr>
              <a:t>e</a:t>
            </a:r>
            <a:r>
              <a:rPr dirty="0" sz="4100" spc="-1015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dirty="0" sz="4100" spc="-1015">
                <a:solidFill>
                  <a:srgbClr val="000000"/>
                </a:solidFill>
                <a:latin typeface="Trebuchet MS"/>
                <a:cs typeface="Trebuchet MS"/>
              </a:rPr>
              <a:t>s</a:t>
            </a:r>
            <a:r>
              <a:rPr dirty="0" sz="4100" spc="-1015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dirty="0" sz="4100" spc="-1015">
                <a:solidFill>
                  <a:srgbClr val="000000"/>
                </a:solidFill>
                <a:latin typeface="Trebuchet MS"/>
                <a:cs typeface="Trebuchet MS"/>
              </a:rPr>
              <a:t>s</a:t>
            </a:r>
            <a:r>
              <a:rPr dirty="0" sz="4100" spc="-1015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endParaRPr sz="410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637519" y="5995415"/>
            <a:ext cx="887730" cy="491490"/>
          </a:xfrm>
          <a:custGeom>
            <a:avLst/>
            <a:gdLst/>
            <a:ahLst/>
            <a:cxnLst/>
            <a:rect l="l" t="t" r="r" b="b"/>
            <a:pathLst>
              <a:path w="887729" h="491489">
                <a:moveTo>
                  <a:pt x="0" y="0"/>
                </a:moveTo>
                <a:lnTo>
                  <a:pt x="887729" y="0"/>
                </a:lnTo>
                <a:lnTo>
                  <a:pt x="887729" y="491109"/>
                </a:lnTo>
                <a:lnTo>
                  <a:pt x="0" y="491109"/>
                </a:lnTo>
                <a:lnTo>
                  <a:pt x="0" y="0"/>
                </a:lnTo>
                <a:close/>
              </a:path>
            </a:pathLst>
          </a:custGeom>
          <a:solidFill>
            <a:srgbClr val="333333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0878987" y="6218137"/>
            <a:ext cx="506730" cy="204470"/>
          </a:xfrm>
          <a:prstGeom prst="rect">
            <a:avLst/>
          </a:prstGeom>
        </p:spPr>
        <p:txBody>
          <a:bodyPr wrap="square" lIns="0" tIns="12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1200" spc="-295">
                <a:latin typeface="Trebuchet MS"/>
                <a:cs typeface="Trebuchet MS"/>
              </a:rPr>
              <a:t>1</a:t>
            </a:r>
            <a:r>
              <a:rPr dirty="0" sz="1200" spc="-295">
                <a:solidFill>
                  <a:srgbClr val="FFFFFF"/>
                </a:solidFill>
                <a:latin typeface="Trebuchet MS"/>
                <a:cs typeface="Trebuchet MS"/>
              </a:rPr>
              <a:t>1</a:t>
            </a:r>
            <a:r>
              <a:rPr dirty="0" sz="1200" spc="-295">
                <a:latin typeface="Trebuchet MS"/>
                <a:cs typeface="Trebuchet MS"/>
              </a:rPr>
              <a:t>8</a:t>
            </a:r>
            <a:r>
              <a:rPr dirty="0" sz="1200" spc="-295">
                <a:solidFill>
                  <a:srgbClr val="FFFFFF"/>
                </a:solidFill>
                <a:latin typeface="Trebuchet MS"/>
                <a:cs typeface="Trebuchet MS"/>
              </a:rPr>
              <a:t>8 </a:t>
            </a:r>
            <a:r>
              <a:rPr dirty="0" sz="1200" spc="-385">
                <a:latin typeface="Trebuchet MS"/>
                <a:cs typeface="Trebuchet MS"/>
              </a:rPr>
              <a:t>/</a:t>
            </a:r>
            <a:r>
              <a:rPr dirty="0" sz="1200" spc="-385">
                <a:solidFill>
                  <a:srgbClr val="FFFFFF"/>
                </a:solidFill>
                <a:latin typeface="Trebuchet MS"/>
                <a:cs typeface="Trebuchet MS"/>
              </a:rPr>
              <a:t>/</a:t>
            </a:r>
            <a:r>
              <a:rPr dirty="0" sz="1200" spc="-9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295">
                <a:latin typeface="Trebuchet MS"/>
                <a:cs typeface="Trebuchet MS"/>
              </a:rPr>
              <a:t>3</a:t>
            </a:r>
            <a:r>
              <a:rPr dirty="0" sz="1200" spc="-295">
                <a:solidFill>
                  <a:srgbClr val="FFFFFF"/>
                </a:solidFill>
                <a:latin typeface="Trebuchet MS"/>
                <a:cs typeface="Trebuchet MS"/>
              </a:rPr>
              <a:t>3</a:t>
            </a:r>
            <a:r>
              <a:rPr dirty="0" sz="1200" spc="-295">
                <a:latin typeface="Trebuchet MS"/>
                <a:cs typeface="Trebuchet MS"/>
              </a:rPr>
              <a:t>3</a:t>
            </a:r>
            <a:r>
              <a:rPr dirty="0" sz="1200" spc="-295">
                <a:solidFill>
                  <a:srgbClr val="FFFFFF"/>
                </a:solidFill>
                <a:latin typeface="Trebuchet MS"/>
                <a:cs typeface="Trebuchet MS"/>
              </a:rPr>
              <a:t>3</a:t>
            </a:r>
            <a:endParaRPr sz="1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20700"/>
            <a:ext cx="7683500" cy="6540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4100" spc="-225">
                <a:latin typeface="Trebuchet MS"/>
                <a:cs typeface="Trebuchet MS"/>
              </a:rPr>
              <a:t>Frameworks </a:t>
            </a:r>
            <a:r>
              <a:rPr dirty="0" sz="4100" spc="-229">
                <a:latin typeface="Trebuchet MS"/>
                <a:cs typeface="Trebuchet MS"/>
              </a:rPr>
              <a:t>for </a:t>
            </a:r>
            <a:r>
              <a:rPr dirty="0" sz="4100" spc="-235">
                <a:latin typeface="Trebuchet MS"/>
                <a:cs typeface="Trebuchet MS"/>
              </a:rPr>
              <a:t>Data </a:t>
            </a:r>
            <a:r>
              <a:rPr dirty="0" sz="4100" spc="-125">
                <a:latin typeface="Trebuchet MS"/>
                <a:cs typeface="Trebuchet MS"/>
              </a:rPr>
              <a:t>Mining</a:t>
            </a:r>
            <a:r>
              <a:rPr dirty="0" sz="4100" spc="-515">
                <a:latin typeface="Trebuchet MS"/>
                <a:cs typeface="Trebuchet MS"/>
              </a:rPr>
              <a:t> </a:t>
            </a:r>
            <a:r>
              <a:rPr dirty="0" sz="4100" spc="-215">
                <a:latin typeface="Trebuchet MS"/>
                <a:cs typeface="Trebuchet MS"/>
              </a:rPr>
              <a:t>Projects</a:t>
            </a:r>
            <a:endParaRPr sz="410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838449" y="1552575"/>
            <a:ext cx="5857874" cy="376237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5"/>
              <a:t>19</a:t>
            </a:fld>
            <a:r>
              <a:rPr dirty="0" spc="5"/>
              <a:t> </a:t>
            </a:r>
            <a:r>
              <a:rPr dirty="0" spc="160"/>
              <a:t>/</a:t>
            </a:r>
            <a:r>
              <a:rPr dirty="0" spc="-165"/>
              <a:t> </a:t>
            </a:r>
            <a:r>
              <a:rPr dirty="0" spc="5"/>
              <a:t>33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48754" y="1709420"/>
            <a:ext cx="3923029" cy="1854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 marR="5080" indent="-133985">
              <a:lnSpc>
                <a:spcPct val="118100"/>
              </a:lnSpc>
              <a:spcBef>
                <a:spcPts val="100"/>
              </a:spcBef>
              <a:buFont typeface="Trebuchet MS"/>
              <a:buChar char="•"/>
              <a:tabLst>
                <a:tab pos="146685" algn="l"/>
              </a:tabLst>
            </a:pPr>
            <a:r>
              <a:rPr dirty="0" sz="1800" spc="-40" b="1">
                <a:solidFill>
                  <a:srgbClr val="C2132D"/>
                </a:solidFill>
                <a:latin typeface="Trebuchet MS"/>
                <a:cs typeface="Trebuchet MS"/>
              </a:rPr>
              <a:t>You </a:t>
            </a:r>
            <a:r>
              <a:rPr dirty="0" sz="1800" spc="-65" b="1">
                <a:solidFill>
                  <a:srgbClr val="C2132D"/>
                </a:solidFill>
                <a:latin typeface="Trebuchet MS"/>
                <a:cs typeface="Trebuchet MS"/>
              </a:rPr>
              <a:t>are </a:t>
            </a:r>
            <a:r>
              <a:rPr dirty="0" sz="1800" spc="-55" b="1">
                <a:solidFill>
                  <a:srgbClr val="C2132D"/>
                </a:solidFill>
                <a:latin typeface="Trebuchet MS"/>
                <a:cs typeface="Trebuchet MS"/>
              </a:rPr>
              <a:t>expected </a:t>
            </a:r>
            <a:r>
              <a:rPr dirty="0" sz="1800" spc="-70" b="1">
                <a:solidFill>
                  <a:srgbClr val="C2132D"/>
                </a:solidFill>
                <a:latin typeface="Trebuchet MS"/>
                <a:cs typeface="Trebuchet MS"/>
              </a:rPr>
              <a:t>to </a:t>
            </a:r>
            <a:r>
              <a:rPr dirty="0" sz="1800" spc="-55" b="1">
                <a:solidFill>
                  <a:srgbClr val="C2132D"/>
                </a:solidFill>
                <a:latin typeface="Trebuchet MS"/>
                <a:cs typeface="Trebuchet MS"/>
              </a:rPr>
              <a:t>read </a:t>
            </a:r>
            <a:r>
              <a:rPr dirty="0" sz="1800" spc="-80" b="1">
                <a:solidFill>
                  <a:srgbClr val="C2132D"/>
                </a:solidFill>
                <a:latin typeface="Trebuchet MS"/>
                <a:cs typeface="Trebuchet MS"/>
              </a:rPr>
              <a:t>the</a:t>
            </a:r>
            <a:r>
              <a:rPr dirty="0" sz="1800" spc="-30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30" b="1">
                <a:solidFill>
                  <a:srgbClr val="83D5D3"/>
                </a:solidFill>
                <a:latin typeface="Trebuchet MS"/>
                <a:cs typeface="Trebuchet MS"/>
                <a:hlinkClick r:id="rId2"/>
              </a:rPr>
              <a:t>original </a:t>
            </a:r>
            <a:r>
              <a:rPr dirty="0" sz="1800" spc="-30" b="1">
                <a:solidFill>
                  <a:srgbClr val="83D5D3"/>
                </a:solidFill>
                <a:latin typeface="Trebuchet MS"/>
                <a:cs typeface="Trebuchet MS"/>
                <a:hlinkClick r:id="rId2"/>
              </a:rPr>
              <a:t> </a:t>
            </a:r>
            <a:r>
              <a:rPr dirty="0" sz="1800" spc="90" b="1">
                <a:solidFill>
                  <a:srgbClr val="83D5D3"/>
                </a:solidFill>
                <a:latin typeface="Trebuchet MS"/>
                <a:cs typeface="Trebuchet MS"/>
                <a:hlinkClick r:id="rId2"/>
              </a:rPr>
              <a:t>CRISP-DM</a:t>
            </a:r>
            <a:r>
              <a:rPr dirty="0" sz="1800" spc="-100" b="1">
                <a:solidFill>
                  <a:srgbClr val="83D5D3"/>
                </a:solidFill>
                <a:latin typeface="Trebuchet MS"/>
                <a:cs typeface="Trebuchet MS"/>
                <a:hlinkClick r:id="rId2"/>
              </a:rPr>
              <a:t> </a:t>
            </a:r>
            <a:r>
              <a:rPr dirty="0" sz="1800" spc="-50" b="1">
                <a:solidFill>
                  <a:srgbClr val="83D5D3"/>
                </a:solidFill>
                <a:latin typeface="Trebuchet MS"/>
                <a:cs typeface="Trebuchet MS"/>
                <a:hlinkClick r:id="rId2"/>
              </a:rPr>
              <a:t>paper</a:t>
            </a:r>
            <a:endParaRPr sz="1800">
              <a:latin typeface="Trebuchet MS"/>
              <a:cs typeface="Trebuchet MS"/>
            </a:endParaRPr>
          </a:p>
          <a:p>
            <a:pPr marL="146050" indent="-133985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Font typeface="Trebuchet MS"/>
              <a:buChar char="•"/>
              <a:tabLst>
                <a:tab pos="146685" algn="l"/>
              </a:tabLst>
            </a:pP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Each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step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has </a:t>
            </a:r>
            <a:r>
              <a:rPr dirty="0" sz="1800" spc="-20">
                <a:solidFill>
                  <a:srgbClr val="585D60"/>
                </a:solidFill>
                <a:latin typeface="Arial"/>
                <a:cs typeface="Arial"/>
              </a:rPr>
              <a:t>several</a:t>
            </a:r>
            <a:r>
              <a:rPr dirty="0" sz="1800" spc="-204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substeps</a:t>
            </a:r>
            <a:endParaRPr sz="1800">
              <a:latin typeface="Arial"/>
              <a:cs typeface="Arial"/>
            </a:endParaRPr>
          </a:p>
          <a:p>
            <a:pPr marL="146050" marR="150495" indent="-133985">
              <a:lnSpc>
                <a:spcPct val="114599"/>
              </a:lnSpc>
              <a:spcBef>
                <a:spcPts val="969"/>
              </a:spcBef>
              <a:buFont typeface="Trebuchet MS"/>
              <a:buChar char="•"/>
              <a:tabLst>
                <a:tab pos="146685" algn="l"/>
              </a:tabLst>
            </a:pPr>
            <a:r>
              <a:rPr dirty="0" sz="1800" spc="65" b="1">
                <a:solidFill>
                  <a:srgbClr val="C2132D"/>
                </a:solidFill>
                <a:latin typeface="Trebuchet MS"/>
                <a:cs typeface="Trebuchet MS"/>
              </a:rPr>
              <a:t>Most</a:t>
            </a:r>
            <a:r>
              <a:rPr dirty="0" sz="1800" spc="-10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15" b="1">
                <a:solidFill>
                  <a:srgbClr val="C2132D"/>
                </a:solidFill>
                <a:latin typeface="Trebuchet MS"/>
                <a:cs typeface="Trebuchet MS"/>
              </a:rPr>
              <a:t>of</a:t>
            </a:r>
            <a:r>
              <a:rPr dirty="0" sz="1800" spc="-10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80" b="1">
                <a:solidFill>
                  <a:srgbClr val="C2132D"/>
                </a:solidFill>
                <a:latin typeface="Trebuchet MS"/>
                <a:cs typeface="Trebuchet MS"/>
              </a:rPr>
              <a:t>the</a:t>
            </a:r>
            <a:r>
              <a:rPr dirty="0" sz="1800" spc="-10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75" b="1">
                <a:solidFill>
                  <a:srgbClr val="C2132D"/>
                </a:solidFill>
                <a:latin typeface="Trebuchet MS"/>
                <a:cs typeface="Trebuchet MS"/>
              </a:rPr>
              <a:t>project</a:t>
            </a:r>
            <a:r>
              <a:rPr dirty="0" sz="1800" spc="-10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55" b="1">
                <a:solidFill>
                  <a:srgbClr val="C2132D"/>
                </a:solidFill>
                <a:latin typeface="Trebuchet MS"/>
                <a:cs typeface="Trebuchet MS"/>
              </a:rPr>
              <a:t>time</a:t>
            </a:r>
            <a:r>
              <a:rPr dirty="0" sz="1800" spc="-10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40" b="1">
                <a:solidFill>
                  <a:srgbClr val="C2132D"/>
                </a:solidFill>
                <a:latin typeface="Trebuchet MS"/>
                <a:cs typeface="Trebuchet MS"/>
              </a:rPr>
              <a:t>is</a:t>
            </a:r>
            <a:r>
              <a:rPr dirty="0" sz="1800" spc="-10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45" b="1">
                <a:solidFill>
                  <a:srgbClr val="C2132D"/>
                </a:solidFill>
                <a:latin typeface="Trebuchet MS"/>
                <a:cs typeface="Trebuchet MS"/>
              </a:rPr>
              <a:t>typically  </a:t>
            </a:r>
            <a:r>
              <a:rPr dirty="0" sz="1800" spc="-25" b="1">
                <a:solidFill>
                  <a:srgbClr val="C2132D"/>
                </a:solidFill>
                <a:latin typeface="Trebuchet MS"/>
                <a:cs typeface="Trebuchet MS"/>
              </a:rPr>
              <a:t>spent </a:t>
            </a:r>
            <a:r>
              <a:rPr dirty="0" sz="1800" spc="-60" b="1">
                <a:solidFill>
                  <a:srgbClr val="C2132D"/>
                </a:solidFill>
                <a:latin typeface="Trebuchet MS"/>
                <a:cs typeface="Trebuchet MS"/>
              </a:rPr>
              <a:t>in </a:t>
            </a:r>
            <a:r>
              <a:rPr dirty="0" sz="1800" spc="15" b="1">
                <a:solidFill>
                  <a:srgbClr val="C2132D"/>
                </a:solidFill>
                <a:latin typeface="Trebuchet MS"/>
                <a:cs typeface="Trebuchet MS"/>
              </a:rPr>
              <a:t>steps</a:t>
            </a:r>
            <a:r>
              <a:rPr dirty="0" sz="1800" spc="-204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b="1">
                <a:solidFill>
                  <a:srgbClr val="C2132D"/>
                </a:solidFill>
                <a:latin typeface="Trebuchet MS"/>
                <a:cs typeface="Trebuchet MS"/>
              </a:rPr>
              <a:t>1-3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248399" y="1647825"/>
            <a:ext cx="4362449" cy="448627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01700" y="520700"/>
            <a:ext cx="4803140" cy="6540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4100" spc="-265">
                <a:latin typeface="Trebuchet MS"/>
                <a:cs typeface="Trebuchet MS"/>
              </a:rPr>
              <a:t>The </a:t>
            </a:r>
            <a:r>
              <a:rPr dirty="0" sz="4100" spc="-90">
                <a:latin typeface="Trebuchet MS"/>
                <a:cs typeface="Trebuchet MS"/>
              </a:rPr>
              <a:t>CRISP-DM</a:t>
            </a:r>
            <a:r>
              <a:rPr dirty="0" sz="4100" spc="-345">
                <a:latin typeface="Trebuchet MS"/>
                <a:cs typeface="Trebuchet MS"/>
              </a:rPr>
              <a:t> </a:t>
            </a:r>
            <a:r>
              <a:rPr dirty="0" sz="4100" spc="-75">
                <a:latin typeface="Trebuchet MS"/>
                <a:cs typeface="Trebuchet MS"/>
              </a:rPr>
              <a:t>Process</a:t>
            </a:r>
            <a:endParaRPr sz="41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5"/>
              <a:t>19</a:t>
            </a:fld>
            <a:r>
              <a:rPr dirty="0" spc="5"/>
              <a:t> </a:t>
            </a:r>
            <a:r>
              <a:rPr dirty="0" spc="160"/>
              <a:t>/</a:t>
            </a:r>
            <a:r>
              <a:rPr dirty="0" spc="-165"/>
              <a:t> </a:t>
            </a:r>
            <a:r>
              <a:rPr dirty="0" spc="5"/>
              <a:t>33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3925" y="2625725"/>
            <a:ext cx="9176385" cy="1177925"/>
          </a:xfrm>
          <a:prstGeom prst="rect">
            <a:avLst/>
          </a:prstGeom>
        </p:spPr>
        <p:txBody>
          <a:bodyPr wrap="square" lIns="0" tIns="117475" rIns="0" bIns="0" rtlCol="0" vert="horz">
            <a:spAutoFit/>
          </a:bodyPr>
          <a:lstStyle/>
          <a:p>
            <a:pPr marL="2344420" marR="5080" indent="-2345055">
              <a:lnSpc>
                <a:spcPts val="4120"/>
              </a:lnSpc>
              <a:spcBef>
                <a:spcPts val="925"/>
              </a:spcBef>
              <a:tabLst>
                <a:tab pos="5929630" algn="l"/>
              </a:tabLst>
            </a:pPr>
            <a:r>
              <a:rPr dirty="0" sz="4100" spc="-1185">
                <a:latin typeface="Trebuchet MS"/>
                <a:cs typeface="Trebuchet MS"/>
              </a:rPr>
              <a:t>F</a:t>
            </a:r>
            <a:r>
              <a:rPr dirty="0" sz="4100" spc="-1185">
                <a:solidFill>
                  <a:srgbClr val="FFFFFF"/>
                </a:solidFill>
                <a:latin typeface="Trebuchet MS"/>
                <a:cs typeface="Trebuchet MS"/>
              </a:rPr>
              <a:t>F</a:t>
            </a:r>
            <a:r>
              <a:rPr dirty="0" sz="4100" spc="-1185">
                <a:latin typeface="Trebuchet MS"/>
                <a:cs typeface="Trebuchet MS"/>
              </a:rPr>
              <a:t>r</a:t>
            </a:r>
            <a:r>
              <a:rPr dirty="0" sz="4100" spc="-1185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dirty="0" sz="4100" spc="-1185">
                <a:latin typeface="Trebuchet MS"/>
                <a:cs typeface="Trebuchet MS"/>
              </a:rPr>
              <a:t>e</a:t>
            </a:r>
            <a:r>
              <a:rPr dirty="0" sz="4100" spc="-1185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dirty="0" sz="4100" spc="-1185">
                <a:latin typeface="Trebuchet MS"/>
                <a:cs typeface="Trebuchet MS"/>
              </a:rPr>
              <a:t>q</a:t>
            </a:r>
            <a:r>
              <a:rPr dirty="0" sz="4100" spc="-1185">
                <a:solidFill>
                  <a:srgbClr val="FFFFFF"/>
                </a:solidFill>
                <a:latin typeface="Trebuchet MS"/>
                <a:cs typeface="Trebuchet MS"/>
              </a:rPr>
              <a:t>q</a:t>
            </a:r>
            <a:r>
              <a:rPr dirty="0" sz="4100" spc="-1185">
                <a:latin typeface="Trebuchet MS"/>
                <a:cs typeface="Trebuchet MS"/>
              </a:rPr>
              <a:t>u</a:t>
            </a:r>
            <a:r>
              <a:rPr dirty="0" sz="4100" spc="-1185">
                <a:solidFill>
                  <a:srgbClr val="FFFFFF"/>
                </a:solidFill>
                <a:latin typeface="Trebuchet MS"/>
                <a:cs typeface="Trebuchet MS"/>
              </a:rPr>
              <a:t>u</a:t>
            </a:r>
            <a:r>
              <a:rPr dirty="0" sz="4100" spc="-1185">
                <a:latin typeface="Trebuchet MS"/>
                <a:cs typeface="Trebuchet MS"/>
              </a:rPr>
              <a:t>e</a:t>
            </a:r>
            <a:r>
              <a:rPr dirty="0" sz="4100" spc="-1185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dirty="0" sz="4100" spc="-1185">
                <a:latin typeface="Trebuchet MS"/>
                <a:cs typeface="Trebuchet MS"/>
              </a:rPr>
              <a:t>n</a:t>
            </a:r>
            <a:r>
              <a:rPr dirty="0" sz="4100" spc="-1185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dirty="0" sz="4100" spc="-1185">
                <a:latin typeface="Trebuchet MS"/>
                <a:cs typeface="Trebuchet MS"/>
              </a:rPr>
              <a:t>t</a:t>
            </a:r>
            <a:r>
              <a:rPr dirty="0" sz="4100" spc="-1185">
                <a:solidFill>
                  <a:srgbClr val="FFFFFF"/>
                </a:solidFill>
                <a:latin typeface="Trebuchet MS"/>
                <a:cs typeface="Trebuchet MS"/>
              </a:rPr>
              <a:t>t </a:t>
            </a:r>
            <a:r>
              <a:rPr dirty="0" sz="4100" spc="-1070">
                <a:latin typeface="Trebuchet MS"/>
                <a:cs typeface="Trebuchet MS"/>
              </a:rPr>
              <a:t>I</a:t>
            </a:r>
            <a:r>
              <a:rPr dirty="0" sz="4100" spc="-1070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dirty="0" sz="4100" spc="-1070">
                <a:latin typeface="Trebuchet MS"/>
                <a:cs typeface="Trebuchet MS"/>
              </a:rPr>
              <a:t>t</a:t>
            </a:r>
            <a:r>
              <a:rPr dirty="0" sz="4100" spc="-107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dirty="0" sz="4100" spc="-1070">
                <a:latin typeface="Trebuchet MS"/>
                <a:cs typeface="Trebuchet MS"/>
              </a:rPr>
              <a:t>e</a:t>
            </a:r>
            <a:r>
              <a:rPr dirty="0" sz="4100" spc="-107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dirty="0" sz="4100" spc="-1070">
                <a:latin typeface="Trebuchet MS"/>
                <a:cs typeface="Trebuchet MS"/>
              </a:rPr>
              <a:t>m</a:t>
            </a:r>
            <a:r>
              <a:rPr dirty="0" sz="4100" spc="-107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dirty="0" sz="4100" spc="-1070">
                <a:latin typeface="Trebuchet MS"/>
                <a:cs typeface="Trebuchet MS"/>
              </a:rPr>
              <a:t>s</a:t>
            </a:r>
            <a:r>
              <a:rPr dirty="0" sz="4100" spc="-107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dirty="0" sz="4100" spc="-1070">
                <a:latin typeface="Trebuchet MS"/>
                <a:cs typeface="Trebuchet MS"/>
              </a:rPr>
              <a:t>e</a:t>
            </a:r>
            <a:r>
              <a:rPr dirty="0" sz="4100" spc="-107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dirty="0" sz="4100" spc="-1070">
                <a:latin typeface="Trebuchet MS"/>
                <a:cs typeface="Trebuchet MS"/>
              </a:rPr>
              <a:t>t</a:t>
            </a:r>
            <a:r>
              <a:rPr dirty="0" sz="4100" spc="-107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dirty="0" sz="4100" spc="-1070">
                <a:latin typeface="Trebuchet MS"/>
                <a:cs typeface="Trebuchet MS"/>
              </a:rPr>
              <a:t>s</a:t>
            </a:r>
            <a:r>
              <a:rPr dirty="0" sz="4100" spc="-107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dirty="0" sz="4100" spc="-1070">
                <a:latin typeface="Trebuchet MS"/>
                <a:cs typeface="Trebuchet MS"/>
              </a:rPr>
              <a:t>,</a:t>
            </a:r>
            <a:r>
              <a:rPr dirty="0" sz="4100" spc="-1070">
                <a:solidFill>
                  <a:srgbClr val="FFFFFF"/>
                </a:solidFill>
                <a:latin typeface="Trebuchet MS"/>
                <a:cs typeface="Trebuchet MS"/>
              </a:rPr>
              <a:t>, </a:t>
            </a:r>
            <a:r>
              <a:rPr dirty="0" sz="4100" spc="-1160">
                <a:latin typeface="Trebuchet MS"/>
                <a:cs typeface="Trebuchet MS"/>
              </a:rPr>
              <a:t>M</a:t>
            </a:r>
            <a:r>
              <a:rPr dirty="0" sz="4100" spc="-1160">
                <a:solidFill>
                  <a:srgbClr val="FFFFFF"/>
                </a:solidFill>
                <a:latin typeface="Trebuchet MS"/>
                <a:cs typeface="Trebuchet MS"/>
              </a:rPr>
              <a:t>Ma</a:t>
            </a:r>
            <a:r>
              <a:rPr dirty="0" sz="4100" spc="-1160">
                <a:latin typeface="Trebuchet MS"/>
                <a:cs typeface="Trebuchet MS"/>
              </a:rPr>
              <a:t>ar</a:t>
            </a:r>
            <a:r>
              <a:rPr dirty="0" sz="4100" spc="-116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dirty="0" sz="4100" spc="-1160">
                <a:latin typeface="Trebuchet MS"/>
                <a:cs typeface="Trebuchet MS"/>
              </a:rPr>
              <a:t>k</a:t>
            </a:r>
            <a:r>
              <a:rPr dirty="0" sz="4100" spc="-1160">
                <a:solidFill>
                  <a:srgbClr val="FFFFFF"/>
                </a:solidFill>
                <a:latin typeface="Trebuchet MS"/>
                <a:cs typeface="Trebuchet MS"/>
              </a:rPr>
              <a:t>k</a:t>
            </a:r>
            <a:r>
              <a:rPr dirty="0" sz="4100" spc="-1160">
                <a:latin typeface="Trebuchet MS"/>
                <a:cs typeface="Trebuchet MS"/>
              </a:rPr>
              <a:t>e</a:t>
            </a:r>
            <a:r>
              <a:rPr dirty="0" sz="4100" spc="-1160">
                <a:solidFill>
                  <a:srgbClr val="FFFFFF"/>
                </a:solidFill>
                <a:latin typeface="Trebuchet MS"/>
                <a:cs typeface="Trebuchet MS"/>
              </a:rPr>
              <a:t>et</a:t>
            </a:r>
            <a:r>
              <a:rPr dirty="0" sz="4100" spc="-1160">
                <a:latin typeface="Trebuchet MS"/>
                <a:cs typeface="Trebuchet MS"/>
              </a:rPr>
              <a:t>t </a:t>
            </a:r>
            <a:r>
              <a:rPr dirty="0" sz="4100" spc="-1090">
                <a:latin typeface="Trebuchet MS"/>
                <a:cs typeface="Trebuchet MS"/>
              </a:rPr>
              <a:t>B</a:t>
            </a:r>
            <a:r>
              <a:rPr dirty="0" sz="4100" spc="-1090">
                <a:solidFill>
                  <a:srgbClr val="FFFFFF"/>
                </a:solidFill>
                <a:latin typeface="Trebuchet MS"/>
                <a:cs typeface="Trebuchet MS"/>
              </a:rPr>
              <a:t>Ba</a:t>
            </a:r>
            <a:r>
              <a:rPr dirty="0" sz="4100" spc="-1090">
                <a:latin typeface="Trebuchet MS"/>
                <a:cs typeface="Trebuchet MS"/>
              </a:rPr>
              <a:t>a</a:t>
            </a:r>
            <a:r>
              <a:rPr dirty="0" sz="4100" spc="-109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dirty="0" sz="4100" spc="-1090">
                <a:latin typeface="Trebuchet MS"/>
                <a:cs typeface="Trebuchet MS"/>
              </a:rPr>
              <a:t>s</a:t>
            </a:r>
            <a:r>
              <a:rPr dirty="0" sz="4100" spc="-1090">
                <a:solidFill>
                  <a:srgbClr val="FFFFFF"/>
                </a:solidFill>
                <a:latin typeface="Trebuchet MS"/>
                <a:cs typeface="Trebuchet MS"/>
              </a:rPr>
              <a:t>k</a:t>
            </a:r>
            <a:r>
              <a:rPr dirty="0" sz="4100" spc="-1090">
                <a:latin typeface="Trebuchet MS"/>
                <a:cs typeface="Trebuchet MS"/>
              </a:rPr>
              <a:t>ke</a:t>
            </a:r>
            <a:r>
              <a:rPr dirty="0" sz="4100" spc="-1090">
                <a:solidFill>
                  <a:srgbClr val="FFFFFF"/>
                </a:solidFill>
                <a:latin typeface="Trebuchet MS"/>
                <a:cs typeface="Trebuchet MS"/>
              </a:rPr>
              <a:t>et</a:t>
            </a:r>
            <a:r>
              <a:rPr dirty="0" sz="4100" spc="-1090">
                <a:latin typeface="Trebuchet MS"/>
                <a:cs typeface="Trebuchet MS"/>
              </a:rPr>
              <a:t>t </a:t>
            </a:r>
            <a:r>
              <a:rPr dirty="0" sz="4100" spc="-965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4100" spc="-965">
                <a:latin typeface="Trebuchet MS"/>
                <a:cs typeface="Trebuchet MS"/>
              </a:rPr>
              <a:t>An</a:t>
            </a:r>
            <a:r>
              <a:rPr dirty="0" sz="4100" spc="-965">
                <a:solidFill>
                  <a:srgbClr val="FFFFFF"/>
                </a:solidFill>
                <a:latin typeface="Trebuchet MS"/>
                <a:cs typeface="Trebuchet MS"/>
              </a:rPr>
              <a:t>na</a:t>
            </a:r>
            <a:r>
              <a:rPr dirty="0" sz="4100" spc="-965">
                <a:latin typeface="Trebuchet MS"/>
                <a:cs typeface="Trebuchet MS"/>
              </a:rPr>
              <a:t>al</a:t>
            </a:r>
            <a:r>
              <a:rPr dirty="0" sz="4100" spc="-965">
                <a:solidFill>
                  <a:srgbClr val="FFFFFF"/>
                </a:solidFill>
                <a:latin typeface="Trebuchet MS"/>
                <a:cs typeface="Trebuchet MS"/>
              </a:rPr>
              <a:t>l</a:t>
            </a:r>
            <a:r>
              <a:rPr dirty="0" sz="4100" spc="-965">
                <a:latin typeface="Trebuchet MS"/>
                <a:cs typeface="Trebuchet MS"/>
              </a:rPr>
              <a:t>y</a:t>
            </a:r>
            <a:r>
              <a:rPr dirty="0" sz="4100" spc="-965">
                <a:solidFill>
                  <a:srgbClr val="FFFFFF"/>
                </a:solidFill>
                <a:latin typeface="Trebuchet MS"/>
                <a:cs typeface="Trebuchet MS"/>
              </a:rPr>
              <a:t>y</a:t>
            </a:r>
            <a:r>
              <a:rPr dirty="0" sz="4100" spc="-965">
                <a:latin typeface="Trebuchet MS"/>
                <a:cs typeface="Trebuchet MS"/>
              </a:rPr>
              <a:t>s</a:t>
            </a:r>
            <a:r>
              <a:rPr dirty="0" sz="4100" spc="-965">
                <a:solidFill>
                  <a:srgbClr val="FFFFFF"/>
                </a:solidFill>
                <a:latin typeface="Trebuchet MS"/>
                <a:cs typeface="Trebuchet MS"/>
              </a:rPr>
              <a:t>si</a:t>
            </a:r>
            <a:r>
              <a:rPr dirty="0" sz="4100" spc="-965">
                <a:latin typeface="Trebuchet MS"/>
                <a:cs typeface="Trebuchet MS"/>
              </a:rPr>
              <a:t>is</a:t>
            </a:r>
            <a:r>
              <a:rPr dirty="0" sz="4100" spc="-965">
                <a:solidFill>
                  <a:srgbClr val="FFFFFF"/>
                </a:solidFill>
                <a:latin typeface="Trebuchet MS"/>
                <a:cs typeface="Trebuchet MS"/>
              </a:rPr>
              <a:t>s </a:t>
            </a:r>
            <a:r>
              <a:rPr dirty="0" sz="4100" spc="-1170">
                <a:latin typeface="Trebuchet MS"/>
                <a:cs typeface="Trebuchet MS"/>
              </a:rPr>
              <a:t>a</a:t>
            </a:r>
            <a:r>
              <a:rPr dirty="0" sz="4100" spc="-1170">
                <a:solidFill>
                  <a:srgbClr val="FFFFFF"/>
                </a:solidFill>
                <a:latin typeface="Trebuchet MS"/>
                <a:cs typeface="Trebuchet MS"/>
              </a:rPr>
              <a:t>a  </a:t>
            </a:r>
            <a:r>
              <a:rPr dirty="0" sz="4100" spc="-994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4100" spc="-994">
                <a:latin typeface="Trebuchet MS"/>
                <a:cs typeface="Trebuchet MS"/>
              </a:rPr>
              <a:t>A</a:t>
            </a:r>
            <a:r>
              <a:rPr dirty="0" sz="4100" spc="-994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dirty="0" sz="4100" spc="-994">
                <a:latin typeface="Trebuchet MS"/>
                <a:cs typeface="Trebuchet MS"/>
              </a:rPr>
              <a:t>s</a:t>
            </a:r>
            <a:r>
              <a:rPr dirty="0" sz="4100" spc="-994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dirty="0" sz="4100" spc="-994">
                <a:latin typeface="Trebuchet MS"/>
                <a:cs typeface="Trebuchet MS"/>
              </a:rPr>
              <a:t>s</a:t>
            </a:r>
            <a:r>
              <a:rPr dirty="0" sz="4100" spc="-994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dirty="0" sz="4100" spc="-994">
                <a:latin typeface="Trebuchet MS"/>
                <a:cs typeface="Trebuchet MS"/>
              </a:rPr>
              <a:t>o</a:t>
            </a:r>
            <a:r>
              <a:rPr dirty="0" sz="4100" spc="-994">
                <a:solidFill>
                  <a:srgbClr val="FFFFFF"/>
                </a:solidFill>
                <a:latin typeface="Trebuchet MS"/>
                <a:cs typeface="Trebuchet MS"/>
              </a:rPr>
              <a:t>c</a:t>
            </a:r>
            <a:r>
              <a:rPr dirty="0" sz="4100" spc="-994">
                <a:latin typeface="Trebuchet MS"/>
                <a:cs typeface="Trebuchet MS"/>
              </a:rPr>
              <a:t>ci</a:t>
            </a:r>
            <a:r>
              <a:rPr dirty="0" sz="4100" spc="-994">
                <a:solidFill>
                  <a:srgbClr val="FFFFFF"/>
                </a:solidFill>
                <a:latin typeface="Trebuchet MS"/>
                <a:cs typeface="Trebuchet MS"/>
              </a:rPr>
              <a:t>ia</a:t>
            </a:r>
            <a:r>
              <a:rPr dirty="0" sz="4100" spc="-994">
                <a:latin typeface="Trebuchet MS"/>
                <a:cs typeface="Trebuchet MS"/>
              </a:rPr>
              <a:t>at</a:t>
            </a:r>
            <a:r>
              <a:rPr dirty="0" sz="4100" spc="-994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dirty="0" sz="4100" spc="-994">
                <a:latin typeface="Trebuchet MS"/>
                <a:cs typeface="Trebuchet MS"/>
              </a:rPr>
              <a:t>i</a:t>
            </a:r>
            <a:r>
              <a:rPr dirty="0" sz="4100" spc="-994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dirty="0" sz="4100" spc="-994">
                <a:latin typeface="Trebuchet MS"/>
                <a:cs typeface="Trebuchet MS"/>
              </a:rPr>
              <a:t>o</a:t>
            </a:r>
            <a:r>
              <a:rPr dirty="0" sz="4100" spc="-994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dirty="0" sz="4100" spc="-994">
                <a:latin typeface="Trebuchet MS"/>
                <a:cs typeface="Trebuchet MS"/>
              </a:rPr>
              <a:t>n</a:t>
            </a:r>
            <a:r>
              <a:rPr dirty="0" sz="4100" spc="-994">
                <a:solidFill>
                  <a:srgbClr val="FFFFFF"/>
                </a:solidFill>
                <a:latin typeface="Trebuchet MS"/>
                <a:cs typeface="Trebuchet MS"/>
              </a:rPr>
              <a:t>n   </a:t>
            </a:r>
            <a:r>
              <a:rPr dirty="0" sz="4100" spc="-97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4100" spc="-1095">
                <a:latin typeface="Trebuchet MS"/>
                <a:cs typeface="Trebuchet MS"/>
              </a:rPr>
              <a:t>R</a:t>
            </a:r>
            <a:r>
              <a:rPr dirty="0" sz="4100" spc="-1095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dirty="0" sz="4100" spc="-1095">
                <a:latin typeface="Trebuchet MS"/>
                <a:cs typeface="Trebuchet MS"/>
              </a:rPr>
              <a:t>u</a:t>
            </a:r>
            <a:r>
              <a:rPr dirty="0" sz="4100" spc="-1095">
                <a:solidFill>
                  <a:srgbClr val="FFFFFF"/>
                </a:solidFill>
                <a:latin typeface="Trebuchet MS"/>
                <a:cs typeface="Trebuchet MS"/>
              </a:rPr>
              <a:t>u</a:t>
            </a:r>
            <a:r>
              <a:rPr dirty="0" sz="4100" spc="-1095">
                <a:latin typeface="Trebuchet MS"/>
                <a:cs typeface="Trebuchet MS"/>
              </a:rPr>
              <a:t>l</a:t>
            </a:r>
            <a:r>
              <a:rPr dirty="0" sz="4100" spc="-1095">
                <a:solidFill>
                  <a:srgbClr val="FFFFFF"/>
                </a:solidFill>
                <a:latin typeface="Trebuchet MS"/>
                <a:cs typeface="Trebuchet MS"/>
              </a:rPr>
              <a:t>l	</a:t>
            </a:r>
            <a:r>
              <a:rPr dirty="0" sz="4100" spc="-105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dirty="0" sz="4100" spc="-1050">
                <a:latin typeface="Trebuchet MS"/>
                <a:cs typeface="Trebuchet MS"/>
              </a:rPr>
              <a:t>M</a:t>
            </a:r>
            <a:r>
              <a:rPr dirty="0" sz="4100" spc="-1050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dirty="0" sz="4100" spc="-1050">
                <a:latin typeface="Trebuchet MS"/>
                <a:cs typeface="Trebuchet MS"/>
              </a:rPr>
              <a:t>in</a:t>
            </a:r>
            <a:r>
              <a:rPr dirty="0" sz="4100" spc="-1050">
                <a:solidFill>
                  <a:srgbClr val="FFFFFF"/>
                </a:solidFill>
                <a:latin typeface="Trebuchet MS"/>
                <a:cs typeface="Trebuchet MS"/>
              </a:rPr>
              <a:t>ni</a:t>
            </a:r>
            <a:r>
              <a:rPr dirty="0" sz="4100" spc="-1050">
                <a:latin typeface="Trebuchet MS"/>
                <a:cs typeface="Trebuchet MS"/>
              </a:rPr>
              <a:t>in</a:t>
            </a:r>
            <a:r>
              <a:rPr dirty="0" sz="4100" spc="-105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dirty="0" sz="4100" spc="-1050">
                <a:latin typeface="Trebuchet MS"/>
                <a:cs typeface="Trebuchet MS"/>
              </a:rPr>
              <a:t>g</a:t>
            </a:r>
            <a:r>
              <a:rPr dirty="0" sz="4100" spc="-1050">
                <a:solidFill>
                  <a:srgbClr val="FFFFFF"/>
                </a:solidFill>
                <a:latin typeface="Trebuchet MS"/>
                <a:cs typeface="Trebuchet MS"/>
              </a:rPr>
              <a:t>g</a:t>
            </a:r>
            <a:endParaRPr sz="410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631423" y="5995415"/>
            <a:ext cx="894080" cy="491490"/>
          </a:xfrm>
          <a:custGeom>
            <a:avLst/>
            <a:gdLst/>
            <a:ahLst/>
            <a:cxnLst/>
            <a:rect l="l" t="t" r="r" b="b"/>
            <a:pathLst>
              <a:path w="894079" h="491489">
                <a:moveTo>
                  <a:pt x="0" y="0"/>
                </a:moveTo>
                <a:lnTo>
                  <a:pt x="893825" y="0"/>
                </a:lnTo>
                <a:lnTo>
                  <a:pt x="893825" y="491109"/>
                </a:lnTo>
                <a:lnTo>
                  <a:pt x="0" y="491109"/>
                </a:lnTo>
                <a:lnTo>
                  <a:pt x="0" y="0"/>
                </a:lnTo>
                <a:close/>
              </a:path>
            </a:pathLst>
          </a:custGeom>
          <a:solidFill>
            <a:srgbClr val="333333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0878987" y="6218137"/>
            <a:ext cx="506730" cy="204470"/>
          </a:xfrm>
          <a:prstGeom prst="rect">
            <a:avLst/>
          </a:prstGeom>
        </p:spPr>
        <p:txBody>
          <a:bodyPr wrap="square" lIns="0" tIns="12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1200" spc="-295">
                <a:latin typeface="Trebuchet MS"/>
                <a:cs typeface="Trebuchet MS"/>
              </a:rPr>
              <a:t>2</a:t>
            </a:r>
            <a:r>
              <a:rPr dirty="0" sz="1200" spc="-295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r>
              <a:rPr dirty="0" sz="1200" spc="-295">
                <a:latin typeface="Trebuchet MS"/>
                <a:cs typeface="Trebuchet MS"/>
              </a:rPr>
              <a:t>1</a:t>
            </a:r>
            <a:r>
              <a:rPr dirty="0" sz="1200" spc="-295">
                <a:solidFill>
                  <a:srgbClr val="FFFFFF"/>
                </a:solidFill>
                <a:latin typeface="Trebuchet MS"/>
                <a:cs typeface="Trebuchet MS"/>
              </a:rPr>
              <a:t>1 </a:t>
            </a:r>
            <a:r>
              <a:rPr dirty="0" sz="1200" spc="-385">
                <a:latin typeface="Trebuchet MS"/>
                <a:cs typeface="Trebuchet MS"/>
              </a:rPr>
              <a:t>/</a:t>
            </a:r>
            <a:r>
              <a:rPr dirty="0" sz="1200" spc="-385">
                <a:solidFill>
                  <a:srgbClr val="FFFFFF"/>
                </a:solidFill>
                <a:latin typeface="Trebuchet MS"/>
                <a:cs typeface="Trebuchet MS"/>
              </a:rPr>
              <a:t>/</a:t>
            </a:r>
            <a:r>
              <a:rPr dirty="0" sz="1200" spc="-9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295">
                <a:latin typeface="Trebuchet MS"/>
                <a:cs typeface="Trebuchet MS"/>
              </a:rPr>
              <a:t>3</a:t>
            </a:r>
            <a:r>
              <a:rPr dirty="0" sz="1200" spc="-295">
                <a:solidFill>
                  <a:srgbClr val="FFFFFF"/>
                </a:solidFill>
                <a:latin typeface="Trebuchet MS"/>
                <a:cs typeface="Trebuchet MS"/>
              </a:rPr>
              <a:t>3</a:t>
            </a:r>
            <a:r>
              <a:rPr dirty="0" sz="1200" spc="-295">
                <a:latin typeface="Trebuchet MS"/>
                <a:cs typeface="Trebuchet MS"/>
              </a:rPr>
              <a:t>3</a:t>
            </a:r>
            <a:r>
              <a:rPr dirty="0" sz="1200" spc="-295">
                <a:solidFill>
                  <a:srgbClr val="FFFFFF"/>
                </a:solidFill>
                <a:latin typeface="Trebuchet MS"/>
                <a:cs typeface="Trebuchet MS"/>
              </a:rPr>
              <a:t>3</a:t>
            </a:r>
            <a:endParaRPr sz="1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20700"/>
            <a:ext cx="5619115" cy="6540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4100" spc="-114">
                <a:latin typeface="Trebuchet MS"/>
                <a:cs typeface="Trebuchet MS"/>
              </a:rPr>
              <a:t>Association </a:t>
            </a:r>
            <a:r>
              <a:rPr dirty="0" sz="4100" spc="-254">
                <a:latin typeface="Trebuchet MS"/>
                <a:cs typeface="Trebuchet MS"/>
              </a:rPr>
              <a:t>Rule</a:t>
            </a:r>
            <a:r>
              <a:rPr dirty="0" sz="4100" spc="-505">
                <a:latin typeface="Trebuchet MS"/>
                <a:cs typeface="Trebuchet MS"/>
              </a:rPr>
              <a:t> </a:t>
            </a:r>
            <a:r>
              <a:rPr dirty="0" sz="4100" spc="-185">
                <a:latin typeface="Trebuchet MS"/>
                <a:cs typeface="Trebuchet MS"/>
              </a:rPr>
              <a:t>Discovery</a:t>
            </a:r>
            <a:endParaRPr sz="41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1700" y="1530350"/>
            <a:ext cx="9335135" cy="29095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35" b="1">
                <a:solidFill>
                  <a:srgbClr val="C2132D"/>
                </a:solidFill>
                <a:latin typeface="Trebuchet MS"/>
                <a:cs typeface="Trebuchet MS"/>
              </a:rPr>
              <a:t>Supermarket </a:t>
            </a:r>
            <a:r>
              <a:rPr dirty="0" sz="1800" spc="-10" b="1">
                <a:solidFill>
                  <a:srgbClr val="C2132D"/>
                </a:solidFill>
                <a:latin typeface="Trebuchet MS"/>
                <a:cs typeface="Trebuchet MS"/>
              </a:rPr>
              <a:t>shelf </a:t>
            </a:r>
            <a:r>
              <a:rPr dirty="0" sz="1800" spc="-20" b="1">
                <a:solidFill>
                  <a:srgbClr val="C2132D"/>
                </a:solidFill>
                <a:latin typeface="Trebuchet MS"/>
                <a:cs typeface="Trebuchet MS"/>
              </a:rPr>
              <a:t>management </a:t>
            </a:r>
            <a:r>
              <a:rPr dirty="0" sz="1800" spc="470" b="1">
                <a:solidFill>
                  <a:srgbClr val="C2132D"/>
                </a:solidFill>
                <a:latin typeface="Trebuchet MS"/>
                <a:cs typeface="Trebuchet MS"/>
              </a:rPr>
              <a:t>–</a:t>
            </a:r>
            <a:r>
              <a:rPr dirty="0" sz="1800" spc="-40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10" b="1">
                <a:solidFill>
                  <a:srgbClr val="C2132D"/>
                </a:solidFill>
                <a:latin typeface="Trebuchet MS"/>
                <a:cs typeface="Trebuchet MS"/>
              </a:rPr>
              <a:t>Market-basket </a:t>
            </a:r>
            <a:r>
              <a:rPr dirty="0" sz="1800" spc="-50" b="1">
                <a:solidFill>
                  <a:srgbClr val="C2132D"/>
                </a:solidFill>
                <a:latin typeface="Trebuchet MS"/>
                <a:cs typeface="Trebuchet MS"/>
              </a:rPr>
              <a:t>model: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850">
              <a:latin typeface="Trebuchet MS"/>
              <a:cs typeface="Trebuchet MS"/>
            </a:endParaRPr>
          </a:p>
          <a:p>
            <a:pPr marL="393700" indent="-133985">
              <a:lnSpc>
                <a:spcPct val="100000"/>
              </a:lnSpc>
              <a:buFont typeface="Trebuchet MS"/>
              <a:buChar char="•"/>
              <a:tabLst>
                <a:tab pos="393700" algn="l"/>
              </a:tabLst>
            </a:pPr>
            <a:r>
              <a:rPr dirty="0" sz="1800" spc="-40" b="1">
                <a:solidFill>
                  <a:srgbClr val="C2132D"/>
                </a:solidFill>
                <a:latin typeface="Trebuchet MS"/>
                <a:cs typeface="Trebuchet MS"/>
              </a:rPr>
              <a:t>Goal:</a:t>
            </a:r>
            <a:r>
              <a:rPr dirty="0" sz="1800" spc="-9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Identify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5">
                <a:solidFill>
                  <a:srgbClr val="585D60"/>
                </a:solidFill>
                <a:latin typeface="Arial"/>
                <a:cs typeface="Arial"/>
              </a:rPr>
              <a:t>items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5">
                <a:solidFill>
                  <a:srgbClr val="585D60"/>
                </a:solidFill>
                <a:latin typeface="Arial"/>
                <a:cs typeface="Arial"/>
              </a:rPr>
              <a:t>that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30">
                <a:solidFill>
                  <a:srgbClr val="585D60"/>
                </a:solidFill>
                <a:latin typeface="Arial"/>
                <a:cs typeface="Arial"/>
              </a:rPr>
              <a:t>are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bought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together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585D60"/>
                </a:solidFill>
                <a:latin typeface="Arial"/>
                <a:cs typeface="Arial"/>
              </a:rPr>
              <a:t>by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sufficiently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many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5">
                <a:solidFill>
                  <a:srgbClr val="585D60"/>
                </a:solidFill>
                <a:latin typeface="Arial"/>
                <a:cs typeface="Arial"/>
              </a:rPr>
              <a:t>customers</a:t>
            </a:r>
            <a:endParaRPr sz="1800">
              <a:latin typeface="Arial"/>
              <a:cs typeface="Arial"/>
            </a:endParaRPr>
          </a:p>
          <a:p>
            <a:pPr marL="393065" marR="5080" indent="-133985">
              <a:lnSpc>
                <a:spcPct val="118100"/>
              </a:lnSpc>
              <a:spcBef>
                <a:spcPts val="825"/>
              </a:spcBef>
              <a:buFont typeface="Trebuchet MS"/>
              <a:buChar char="•"/>
              <a:tabLst>
                <a:tab pos="393700" algn="l"/>
              </a:tabLst>
            </a:pPr>
            <a:r>
              <a:rPr dirty="0" sz="1800" spc="-45" b="1">
                <a:solidFill>
                  <a:srgbClr val="C2132D"/>
                </a:solidFill>
                <a:latin typeface="Trebuchet MS"/>
                <a:cs typeface="Trebuchet MS"/>
              </a:rPr>
              <a:t>Approach:</a:t>
            </a:r>
            <a:r>
              <a:rPr dirty="0" sz="1800" spc="-10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Process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sales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data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collected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40">
                <a:solidFill>
                  <a:srgbClr val="585D60"/>
                </a:solidFill>
                <a:latin typeface="Arial"/>
                <a:cs typeface="Arial"/>
              </a:rPr>
              <a:t>with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barcode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scanners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585D60"/>
                </a:solidFill>
                <a:latin typeface="Arial"/>
                <a:cs typeface="Arial"/>
              </a:rPr>
              <a:t>to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5">
                <a:solidFill>
                  <a:srgbClr val="585D60"/>
                </a:solidFill>
                <a:latin typeface="Arial"/>
                <a:cs typeface="Arial"/>
              </a:rPr>
              <a:t>find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dependencies 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among</a:t>
            </a:r>
            <a:r>
              <a:rPr dirty="0" sz="1800" spc="-6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5">
                <a:solidFill>
                  <a:srgbClr val="585D60"/>
                </a:solidFill>
                <a:latin typeface="Arial"/>
                <a:cs typeface="Arial"/>
              </a:rPr>
              <a:t>items</a:t>
            </a:r>
            <a:endParaRPr sz="1800">
              <a:latin typeface="Arial"/>
              <a:cs typeface="Arial"/>
            </a:endParaRPr>
          </a:p>
          <a:p>
            <a:pPr marL="393700" indent="-133985">
              <a:lnSpc>
                <a:spcPct val="100000"/>
              </a:lnSpc>
              <a:spcBef>
                <a:spcPts val="1215"/>
              </a:spcBef>
              <a:buFont typeface="Trebuchet MS"/>
              <a:buChar char="•"/>
              <a:tabLst>
                <a:tab pos="393700" algn="l"/>
              </a:tabLst>
            </a:pPr>
            <a:r>
              <a:rPr dirty="0" sz="1800" spc="65" b="1">
                <a:solidFill>
                  <a:srgbClr val="C2132D"/>
                </a:solidFill>
                <a:latin typeface="Trebuchet MS"/>
                <a:cs typeface="Trebuchet MS"/>
              </a:rPr>
              <a:t>A </a:t>
            </a:r>
            <a:r>
              <a:rPr dirty="0" sz="1800" spc="30" b="1">
                <a:solidFill>
                  <a:srgbClr val="C2132D"/>
                </a:solidFill>
                <a:latin typeface="Trebuchet MS"/>
                <a:cs typeface="Trebuchet MS"/>
              </a:rPr>
              <a:t>classic</a:t>
            </a:r>
            <a:r>
              <a:rPr dirty="0" sz="1800" spc="-26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rule:</a:t>
            </a:r>
            <a:endParaRPr sz="1800">
              <a:latin typeface="Trebuchet MS"/>
              <a:cs typeface="Trebuchet MS"/>
            </a:endParaRPr>
          </a:p>
          <a:p>
            <a:pPr lvl="1" marL="77470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Font typeface="Trebuchet MS"/>
              <a:buChar char="•"/>
              <a:tabLst>
                <a:tab pos="774700" algn="l"/>
              </a:tabLst>
            </a:pPr>
            <a:r>
              <a:rPr dirty="0" sz="1800" spc="55">
                <a:solidFill>
                  <a:srgbClr val="585D60"/>
                </a:solidFill>
                <a:latin typeface="Arial"/>
                <a:cs typeface="Arial"/>
              </a:rPr>
              <a:t>If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someone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buys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diaper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and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milk,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then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5">
                <a:solidFill>
                  <a:srgbClr val="585D60"/>
                </a:solidFill>
                <a:latin typeface="Arial"/>
                <a:cs typeface="Arial"/>
              </a:rPr>
              <a:t>he/she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Arial"/>
                <a:cs typeface="Arial"/>
              </a:rPr>
              <a:t>is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likely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585D60"/>
                </a:solidFill>
                <a:latin typeface="Arial"/>
                <a:cs typeface="Arial"/>
              </a:rPr>
              <a:t>to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585D60"/>
                </a:solidFill>
                <a:latin typeface="Arial"/>
                <a:cs typeface="Arial"/>
              </a:rPr>
              <a:t>buy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585D60"/>
                </a:solidFill>
                <a:latin typeface="Arial"/>
                <a:cs typeface="Arial"/>
              </a:rPr>
              <a:t>beer</a:t>
            </a:r>
            <a:endParaRPr sz="1800">
              <a:latin typeface="Arial"/>
              <a:cs typeface="Arial"/>
            </a:endParaRPr>
          </a:p>
          <a:p>
            <a:pPr lvl="1" marL="77470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Font typeface="Trebuchet MS"/>
              <a:buChar char="•"/>
              <a:tabLst>
                <a:tab pos="774700" algn="l"/>
              </a:tabLst>
            </a:pPr>
            <a:r>
              <a:rPr dirty="0" sz="1800" spc="-30">
                <a:solidFill>
                  <a:srgbClr val="585D60"/>
                </a:solidFill>
                <a:latin typeface="Arial"/>
                <a:cs typeface="Arial"/>
              </a:rPr>
              <a:t>Don’t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585D60"/>
                </a:solidFill>
                <a:latin typeface="Arial"/>
                <a:cs typeface="Arial"/>
              </a:rPr>
              <a:t>be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surprised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585D60"/>
                </a:solidFill>
                <a:latin typeface="Arial"/>
                <a:cs typeface="Arial"/>
              </a:rPr>
              <a:t>if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585D60"/>
                </a:solidFill>
                <a:latin typeface="Arial"/>
                <a:cs typeface="Arial"/>
              </a:rPr>
              <a:t>you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5">
                <a:solidFill>
                  <a:srgbClr val="585D60"/>
                </a:solidFill>
                <a:latin typeface="Arial"/>
                <a:cs typeface="Arial"/>
              </a:rPr>
              <a:t>find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six-packs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next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585D60"/>
                </a:solidFill>
                <a:latin typeface="Arial"/>
                <a:cs typeface="Arial"/>
              </a:rPr>
              <a:t>to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diapers!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14400" y="6205537"/>
            <a:ext cx="6867525" cy="0"/>
          </a:xfrm>
          <a:custGeom>
            <a:avLst/>
            <a:gdLst/>
            <a:ahLst/>
            <a:cxnLst/>
            <a:rect l="l" t="t" r="r" b="b"/>
            <a:pathLst>
              <a:path w="6867525" h="0">
                <a:moveTo>
                  <a:pt x="0" y="0"/>
                </a:moveTo>
                <a:lnTo>
                  <a:pt x="6867524" y="0"/>
                </a:lnTo>
              </a:path>
            </a:pathLst>
          </a:custGeom>
          <a:ln w="9524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14400" y="6215062"/>
            <a:ext cx="6867525" cy="0"/>
          </a:xfrm>
          <a:custGeom>
            <a:avLst/>
            <a:gdLst/>
            <a:ahLst/>
            <a:cxnLst/>
            <a:rect l="l" t="t" r="r" b="b"/>
            <a:pathLst>
              <a:path w="6867525" h="0">
                <a:moveTo>
                  <a:pt x="0" y="0"/>
                </a:moveTo>
                <a:lnTo>
                  <a:pt x="6867524" y="0"/>
                </a:lnTo>
              </a:path>
            </a:pathLst>
          </a:custGeom>
          <a:ln w="9524">
            <a:solidFill>
              <a:srgbClr val="EDED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772400" y="6200774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9524" y="19049"/>
                </a:moveTo>
                <a:lnTo>
                  <a:pt x="0" y="19049"/>
                </a:lnTo>
                <a:lnTo>
                  <a:pt x="0" y="9524"/>
                </a:lnTo>
                <a:lnTo>
                  <a:pt x="9524" y="0"/>
                </a:lnTo>
                <a:lnTo>
                  <a:pt x="9524" y="19049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14400" y="6200774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0" y="19049"/>
                </a:moveTo>
                <a:lnTo>
                  <a:pt x="0" y="0"/>
                </a:lnTo>
                <a:lnTo>
                  <a:pt x="9524" y="0"/>
                </a:lnTo>
                <a:lnTo>
                  <a:pt x="9524" y="9524"/>
                </a:lnTo>
                <a:lnTo>
                  <a:pt x="0" y="19049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5"/>
              <a:t>22</a:t>
            </a:fld>
            <a:r>
              <a:rPr dirty="0" spc="5"/>
              <a:t> </a:t>
            </a:r>
            <a:r>
              <a:rPr dirty="0" spc="160"/>
              <a:t>/</a:t>
            </a:r>
            <a:r>
              <a:rPr dirty="0" spc="-165"/>
              <a:t> </a:t>
            </a:r>
            <a:r>
              <a:rPr dirty="0" spc="5"/>
              <a:t>33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901700" y="6287356"/>
            <a:ext cx="6897370" cy="213360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1250" spc="-20" b="1">
                <a:solidFill>
                  <a:srgbClr val="C2132D"/>
                </a:solidFill>
                <a:latin typeface="Trebuchet MS"/>
                <a:cs typeface="Trebuchet MS"/>
              </a:rPr>
              <a:t>Source:</a:t>
            </a:r>
            <a:r>
              <a:rPr dirty="0" sz="1250" spc="-6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250" spc="25">
                <a:solidFill>
                  <a:srgbClr val="585D60"/>
                </a:solidFill>
                <a:latin typeface="Arial"/>
                <a:cs typeface="Arial"/>
              </a:rPr>
              <a:t>J.</a:t>
            </a:r>
            <a:r>
              <a:rPr dirty="0" sz="1250" spc="-3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250" spc="-15">
                <a:solidFill>
                  <a:srgbClr val="585D60"/>
                </a:solidFill>
                <a:latin typeface="Arial"/>
                <a:cs typeface="Arial"/>
              </a:rPr>
              <a:t>Leskovec,</a:t>
            </a:r>
            <a:r>
              <a:rPr dirty="0" sz="1250" spc="-3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250" spc="-15">
                <a:solidFill>
                  <a:srgbClr val="585D60"/>
                </a:solidFill>
                <a:latin typeface="Arial"/>
                <a:cs typeface="Arial"/>
              </a:rPr>
              <a:t>A.</a:t>
            </a:r>
            <a:r>
              <a:rPr dirty="0" sz="1250" spc="-3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250" spc="-20">
                <a:solidFill>
                  <a:srgbClr val="585D60"/>
                </a:solidFill>
                <a:latin typeface="Arial"/>
                <a:cs typeface="Arial"/>
              </a:rPr>
              <a:t>Rajaraman,</a:t>
            </a:r>
            <a:r>
              <a:rPr dirty="0" sz="1250" spc="-3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250" spc="25">
                <a:solidFill>
                  <a:srgbClr val="585D60"/>
                </a:solidFill>
                <a:latin typeface="Arial"/>
                <a:cs typeface="Arial"/>
              </a:rPr>
              <a:t>J.</a:t>
            </a:r>
            <a:r>
              <a:rPr dirty="0" sz="1250" spc="-3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250" spc="-5">
                <a:solidFill>
                  <a:srgbClr val="585D60"/>
                </a:solidFill>
                <a:latin typeface="Arial"/>
                <a:cs typeface="Arial"/>
              </a:rPr>
              <a:t>Ullman:</a:t>
            </a:r>
            <a:r>
              <a:rPr dirty="0" sz="1250" spc="-3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250" spc="20">
                <a:solidFill>
                  <a:srgbClr val="585D60"/>
                </a:solidFill>
                <a:latin typeface="Arial"/>
                <a:cs typeface="Arial"/>
              </a:rPr>
              <a:t>Mining</a:t>
            </a:r>
            <a:r>
              <a:rPr dirty="0" sz="1250" spc="-3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250" spc="55">
                <a:solidFill>
                  <a:srgbClr val="585D60"/>
                </a:solidFill>
                <a:latin typeface="Arial"/>
                <a:cs typeface="Arial"/>
              </a:rPr>
              <a:t>of</a:t>
            </a:r>
            <a:r>
              <a:rPr dirty="0" sz="1250" spc="-3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250" spc="10">
                <a:solidFill>
                  <a:srgbClr val="585D60"/>
                </a:solidFill>
                <a:latin typeface="Arial"/>
                <a:cs typeface="Arial"/>
              </a:rPr>
              <a:t>Massive</a:t>
            </a:r>
            <a:r>
              <a:rPr dirty="0" sz="1250" spc="-3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250" spc="-5">
                <a:solidFill>
                  <a:srgbClr val="585D60"/>
                </a:solidFill>
                <a:latin typeface="Arial"/>
                <a:cs typeface="Arial"/>
              </a:rPr>
              <a:t>Datasets,</a:t>
            </a:r>
            <a:r>
              <a:rPr dirty="0" sz="1250" spc="-3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250" spc="-5">
                <a:solidFill>
                  <a:srgbClr val="83D5D3"/>
                </a:solidFill>
                <a:latin typeface="Cambria"/>
                <a:cs typeface="Cambria"/>
                <a:hlinkClick r:id="rId2"/>
              </a:rPr>
              <a:t>http://www.mmds.org</a:t>
            </a:r>
            <a:endParaRPr sz="12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48754" y="1758950"/>
            <a:ext cx="4073525" cy="39763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 indent="-133985">
              <a:lnSpc>
                <a:spcPct val="100000"/>
              </a:lnSpc>
              <a:spcBef>
                <a:spcPts val="100"/>
              </a:spcBef>
              <a:buClr>
                <a:srgbClr val="C2132D"/>
              </a:buClr>
              <a:buFont typeface="Trebuchet MS"/>
              <a:buChar char="•"/>
              <a:tabLst>
                <a:tab pos="146685" algn="l"/>
              </a:tabLst>
            </a:pPr>
            <a:r>
              <a:rPr dirty="0" sz="1800" spc="-30">
                <a:solidFill>
                  <a:srgbClr val="585D60"/>
                </a:solidFill>
                <a:latin typeface="Arial"/>
                <a:cs typeface="Arial"/>
              </a:rPr>
              <a:t>A </a:t>
            </a: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large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set </a:t>
            </a:r>
            <a:r>
              <a:rPr dirty="0" sz="1800" spc="75">
                <a:solidFill>
                  <a:srgbClr val="585D60"/>
                </a:solidFill>
                <a:latin typeface="Arial"/>
                <a:cs typeface="Arial"/>
              </a:rPr>
              <a:t>of</a:t>
            </a:r>
            <a:r>
              <a:rPr dirty="0" sz="1800" spc="-2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5" b="1">
                <a:solidFill>
                  <a:srgbClr val="C2132D"/>
                </a:solidFill>
                <a:latin typeface="Trebuchet MS"/>
                <a:cs typeface="Trebuchet MS"/>
              </a:rPr>
              <a:t>items</a:t>
            </a:r>
            <a:endParaRPr sz="1800">
              <a:latin typeface="Trebuchet MS"/>
              <a:cs typeface="Trebuchet MS"/>
            </a:endParaRPr>
          </a:p>
          <a:p>
            <a:pPr lvl="1" marL="527050" indent="-134620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Font typeface="Trebuchet MS"/>
              <a:buChar char="•"/>
              <a:tabLst>
                <a:tab pos="527685" algn="l"/>
              </a:tabLst>
            </a:pP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e.g.,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things </a:t>
            </a:r>
            <a:r>
              <a:rPr dirty="0" sz="1800" spc="25">
                <a:solidFill>
                  <a:srgbClr val="585D60"/>
                </a:solidFill>
                <a:latin typeface="Arial"/>
                <a:cs typeface="Arial"/>
              </a:rPr>
              <a:t>sold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in </a:t>
            </a:r>
            <a:r>
              <a:rPr dirty="0" sz="1800" spc="-25">
                <a:solidFill>
                  <a:srgbClr val="585D60"/>
                </a:solidFill>
                <a:latin typeface="Arial"/>
                <a:cs typeface="Arial"/>
              </a:rPr>
              <a:t>a</a:t>
            </a:r>
            <a:r>
              <a:rPr dirty="0" sz="1800" spc="-29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supermarket</a:t>
            </a:r>
            <a:endParaRPr sz="1800">
              <a:latin typeface="Arial"/>
              <a:cs typeface="Arial"/>
            </a:endParaRPr>
          </a:p>
          <a:p>
            <a:pPr marL="146050" indent="-133985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Font typeface="Trebuchet MS"/>
              <a:buChar char="•"/>
              <a:tabLst>
                <a:tab pos="146685" algn="l"/>
              </a:tabLst>
            </a:pPr>
            <a:r>
              <a:rPr dirty="0" sz="1800" spc="-30">
                <a:solidFill>
                  <a:srgbClr val="585D60"/>
                </a:solidFill>
                <a:latin typeface="Arial"/>
                <a:cs typeface="Arial"/>
              </a:rPr>
              <a:t>A </a:t>
            </a: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large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set </a:t>
            </a:r>
            <a:r>
              <a:rPr dirty="0" sz="1800" spc="75">
                <a:solidFill>
                  <a:srgbClr val="585D60"/>
                </a:solidFill>
                <a:latin typeface="Arial"/>
                <a:cs typeface="Arial"/>
              </a:rPr>
              <a:t>of</a:t>
            </a:r>
            <a:r>
              <a:rPr dirty="0" sz="1800" spc="-204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 b="1">
                <a:solidFill>
                  <a:srgbClr val="C2132D"/>
                </a:solidFill>
                <a:latin typeface="Trebuchet MS"/>
                <a:cs typeface="Trebuchet MS"/>
              </a:rPr>
              <a:t>baskets</a:t>
            </a:r>
            <a:endParaRPr sz="1800">
              <a:latin typeface="Trebuchet MS"/>
              <a:cs typeface="Trebuchet MS"/>
            </a:endParaRPr>
          </a:p>
          <a:p>
            <a:pPr marL="14605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Font typeface="Trebuchet MS"/>
              <a:buChar char="•"/>
              <a:tabLst>
                <a:tab pos="146685" algn="l"/>
              </a:tabLst>
            </a:pP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Each</a:t>
            </a:r>
            <a:r>
              <a:rPr dirty="0" sz="1800" spc="-6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basket</a:t>
            </a:r>
            <a:r>
              <a:rPr dirty="0" sz="1800" spc="-6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Arial"/>
                <a:cs typeface="Arial"/>
              </a:rPr>
              <a:t>is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585D60"/>
                </a:solidFill>
                <a:latin typeface="Arial"/>
                <a:cs typeface="Arial"/>
              </a:rPr>
              <a:t>a</a:t>
            </a:r>
            <a:r>
              <a:rPr dirty="0" sz="1800" spc="-6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 b="1">
                <a:solidFill>
                  <a:srgbClr val="C2132D"/>
                </a:solidFill>
                <a:latin typeface="Trebuchet MS"/>
                <a:cs typeface="Trebuchet MS"/>
              </a:rPr>
              <a:t>small</a:t>
            </a:r>
            <a:r>
              <a:rPr dirty="0" sz="1800" spc="-9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5" b="1">
                <a:solidFill>
                  <a:srgbClr val="C2132D"/>
                </a:solidFill>
                <a:latin typeface="Trebuchet MS"/>
                <a:cs typeface="Trebuchet MS"/>
              </a:rPr>
              <a:t>subset</a:t>
            </a:r>
            <a:r>
              <a:rPr dirty="0" sz="1800" spc="-10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15" b="1">
                <a:solidFill>
                  <a:srgbClr val="C2132D"/>
                </a:solidFill>
                <a:latin typeface="Trebuchet MS"/>
                <a:cs typeface="Trebuchet MS"/>
              </a:rPr>
              <a:t>of</a:t>
            </a:r>
            <a:r>
              <a:rPr dirty="0" sz="1800" spc="-10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15" b="1">
                <a:solidFill>
                  <a:srgbClr val="C2132D"/>
                </a:solidFill>
                <a:latin typeface="Trebuchet MS"/>
                <a:cs typeface="Trebuchet MS"/>
              </a:rPr>
              <a:t>items</a:t>
            </a:r>
            <a:endParaRPr sz="1800">
              <a:latin typeface="Trebuchet MS"/>
              <a:cs typeface="Trebuchet MS"/>
            </a:endParaRPr>
          </a:p>
          <a:p>
            <a:pPr lvl="1" marL="527050" marR="64135" indent="-133985">
              <a:lnSpc>
                <a:spcPct val="118100"/>
              </a:lnSpc>
              <a:spcBef>
                <a:spcPts val="825"/>
              </a:spcBef>
              <a:buClr>
                <a:srgbClr val="C2132D"/>
              </a:buClr>
              <a:buFont typeface="Trebuchet MS"/>
              <a:buChar char="•"/>
              <a:tabLst>
                <a:tab pos="527685" algn="l"/>
              </a:tabLst>
            </a:pP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e.g.,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things </a:t>
            </a: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one </a:t>
            </a:r>
            <a:r>
              <a:rPr dirty="0" sz="1800" spc="25">
                <a:solidFill>
                  <a:srgbClr val="585D60"/>
                </a:solidFill>
                <a:latin typeface="Arial"/>
                <a:cs typeface="Arial"/>
              </a:rPr>
              <a:t>customer</a:t>
            </a:r>
            <a:r>
              <a:rPr dirty="0" sz="1800" spc="-29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buys 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on </a:t>
            </a: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one</a:t>
            </a:r>
            <a:r>
              <a:rPr dirty="0" sz="1800" spc="-12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585D60"/>
                </a:solidFill>
                <a:latin typeface="Arial"/>
                <a:cs typeface="Arial"/>
              </a:rPr>
              <a:t>day</a:t>
            </a:r>
            <a:endParaRPr sz="1800">
              <a:latin typeface="Arial"/>
              <a:cs typeface="Arial"/>
            </a:endParaRPr>
          </a:p>
          <a:p>
            <a:pPr marL="14605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Font typeface="Trebuchet MS"/>
              <a:buChar char="•"/>
              <a:tabLst>
                <a:tab pos="146685" algn="l"/>
              </a:tabLst>
            </a:pPr>
            <a:r>
              <a:rPr dirty="0" sz="1800" spc="-20">
                <a:solidFill>
                  <a:srgbClr val="585D60"/>
                </a:solidFill>
                <a:latin typeface="Arial"/>
                <a:cs typeface="Arial"/>
              </a:rPr>
              <a:t>Want </a:t>
            </a:r>
            <a:r>
              <a:rPr dirty="0" sz="1800" spc="45">
                <a:solidFill>
                  <a:srgbClr val="585D60"/>
                </a:solidFill>
                <a:latin typeface="Arial"/>
                <a:cs typeface="Arial"/>
              </a:rPr>
              <a:t>to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discover </a:t>
            </a:r>
            <a:r>
              <a:rPr dirty="0" sz="1800" b="1">
                <a:solidFill>
                  <a:srgbClr val="C2132D"/>
                </a:solidFill>
                <a:latin typeface="Trebuchet MS"/>
                <a:cs typeface="Trebuchet MS"/>
              </a:rPr>
              <a:t>association</a:t>
            </a:r>
            <a:r>
              <a:rPr dirty="0" sz="1800" spc="-30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30" b="1">
                <a:solidFill>
                  <a:srgbClr val="C2132D"/>
                </a:solidFill>
                <a:latin typeface="Trebuchet MS"/>
                <a:cs typeface="Trebuchet MS"/>
              </a:rPr>
              <a:t>rules</a:t>
            </a:r>
            <a:endParaRPr sz="1800">
              <a:latin typeface="Trebuchet MS"/>
              <a:cs typeface="Trebuchet MS"/>
            </a:endParaRPr>
          </a:p>
          <a:p>
            <a:pPr lvl="1" marL="527050" marR="191135" indent="-133985">
              <a:lnSpc>
                <a:spcPct val="118100"/>
              </a:lnSpc>
              <a:spcBef>
                <a:spcPts val="819"/>
              </a:spcBef>
              <a:buClr>
                <a:srgbClr val="C2132D"/>
              </a:buClr>
              <a:buFont typeface="Trebuchet MS"/>
              <a:buChar char="•"/>
              <a:tabLst>
                <a:tab pos="527685" algn="l"/>
              </a:tabLst>
            </a:pPr>
            <a:r>
              <a:rPr dirty="0" sz="1800" spc="-20">
                <a:solidFill>
                  <a:srgbClr val="585D60"/>
                </a:solidFill>
                <a:latin typeface="Arial"/>
                <a:cs typeface="Arial"/>
              </a:rPr>
              <a:t>People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who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bought </a:t>
            </a:r>
            <a:r>
              <a:rPr dirty="0" sz="1800" spc="-65">
                <a:solidFill>
                  <a:srgbClr val="585D60"/>
                </a:solidFill>
                <a:latin typeface="Arial"/>
                <a:cs typeface="Arial"/>
              </a:rPr>
              <a:t>{x,y,z}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tend</a:t>
            </a:r>
            <a:r>
              <a:rPr dirty="0" sz="1800" spc="-2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585D60"/>
                </a:solidFill>
                <a:latin typeface="Arial"/>
                <a:cs typeface="Arial"/>
              </a:rPr>
              <a:t>to  </a:t>
            </a:r>
            <a:r>
              <a:rPr dirty="0" sz="1800" spc="-20">
                <a:solidFill>
                  <a:srgbClr val="585D60"/>
                </a:solidFill>
                <a:latin typeface="Arial"/>
                <a:cs typeface="Arial"/>
              </a:rPr>
              <a:t>buy</a:t>
            </a:r>
            <a:r>
              <a:rPr dirty="0" sz="1800" spc="-6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{v,w}</a:t>
            </a:r>
            <a:endParaRPr sz="1800">
              <a:latin typeface="Arial"/>
              <a:cs typeface="Arial"/>
            </a:endParaRPr>
          </a:p>
          <a:p>
            <a:pPr lvl="1" marL="527050" indent="-134620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Font typeface="Trebuchet MS"/>
              <a:buChar char="•"/>
              <a:tabLst>
                <a:tab pos="527685" algn="l"/>
              </a:tabLst>
            </a:pP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Amazon!</a:t>
            </a:r>
            <a:endParaRPr sz="1800">
              <a:latin typeface="Arial"/>
              <a:cs typeface="Arial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7267575" y="2085975"/>
          <a:ext cx="2329180" cy="21240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7225"/>
                <a:gridCol w="1657350"/>
              </a:tblGrid>
              <a:tr h="35242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1050" b="1">
                          <a:solidFill>
                            <a:srgbClr val="585D60"/>
                          </a:solidFill>
                          <a:latin typeface="Arial"/>
                          <a:cs typeface="Arial"/>
                        </a:rPr>
                        <a:t>Basket</a:t>
                      </a:r>
                      <a:r>
                        <a:rPr dirty="0" sz="1050" spc="-45" b="1">
                          <a:solidFill>
                            <a:srgbClr val="585D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 b="1">
                          <a:solidFill>
                            <a:srgbClr val="585D60"/>
                          </a:solidFill>
                          <a:latin typeface="Arial"/>
                          <a:cs typeface="Arial"/>
                        </a:rPr>
                        <a:t>#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90170">
                    <a:lnL w="9525">
                      <a:solidFill>
                        <a:srgbClr val="808080"/>
                      </a:solidFill>
                      <a:prstDash val="solid"/>
                    </a:lnL>
                    <a:lnR w="9525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666666"/>
                      </a:solidFill>
                      <a:prstDash val="solid"/>
                    </a:lnT>
                    <a:lnB w="9525">
                      <a:solidFill>
                        <a:srgbClr val="666666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1050" b="1">
                          <a:solidFill>
                            <a:srgbClr val="585D60"/>
                          </a:solidFill>
                          <a:latin typeface="Arial"/>
                          <a:cs typeface="Arial"/>
                        </a:rPr>
                        <a:t>Items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90170">
                    <a:lnL w="9525">
                      <a:solidFill>
                        <a:srgbClr val="808080"/>
                      </a:solidFill>
                      <a:prstDash val="solid"/>
                    </a:lnL>
                    <a:lnR w="9525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666666"/>
                      </a:solidFill>
                      <a:prstDash val="solid"/>
                    </a:lnT>
                    <a:lnB w="9525">
                      <a:solidFill>
                        <a:srgbClr val="666666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</a:tr>
              <a:tr h="35242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1050" b="1">
                          <a:solidFill>
                            <a:srgbClr val="585D60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90170">
                    <a:lnL w="9525">
                      <a:solidFill>
                        <a:srgbClr val="808080"/>
                      </a:solidFill>
                      <a:prstDash val="solid"/>
                    </a:lnL>
                    <a:lnR w="9525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666666"/>
                      </a:solidFill>
                      <a:prstDash val="solid"/>
                    </a:lnT>
                    <a:lnB w="9525">
                      <a:solidFill>
                        <a:srgbClr val="66666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76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1050" b="1">
                          <a:solidFill>
                            <a:srgbClr val="BEAED4"/>
                          </a:solidFill>
                          <a:latin typeface="Arial"/>
                          <a:cs typeface="Arial"/>
                        </a:rPr>
                        <a:t>Bread</a:t>
                      </a:r>
                      <a:r>
                        <a:rPr dirty="0" sz="1050" b="1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, </a:t>
                      </a:r>
                      <a:r>
                        <a:rPr dirty="0" sz="1050" b="1">
                          <a:solidFill>
                            <a:srgbClr val="F0017E"/>
                          </a:solidFill>
                          <a:latin typeface="Arial"/>
                          <a:cs typeface="Arial"/>
                        </a:rPr>
                        <a:t>Coke</a:t>
                      </a:r>
                      <a:r>
                        <a:rPr dirty="0" sz="1050" b="1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050" spc="-15" b="1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 b="1">
                          <a:solidFill>
                            <a:srgbClr val="376BB0"/>
                          </a:solidFill>
                          <a:latin typeface="Arial"/>
                          <a:cs typeface="Arial"/>
                        </a:rPr>
                        <a:t>Milk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90170">
                    <a:lnL w="9525">
                      <a:solidFill>
                        <a:srgbClr val="808080"/>
                      </a:solidFill>
                      <a:prstDash val="solid"/>
                    </a:lnL>
                    <a:lnR w="9525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666666"/>
                      </a:solidFill>
                      <a:prstDash val="solid"/>
                    </a:lnT>
                    <a:lnB w="9525">
                      <a:solidFill>
                        <a:srgbClr val="666666"/>
                      </a:solidFill>
                      <a:prstDash val="solid"/>
                    </a:lnB>
                  </a:tcPr>
                </a:tc>
              </a:tr>
              <a:tr h="35242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1050" b="1">
                          <a:solidFill>
                            <a:srgbClr val="585D60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90170">
                    <a:lnL w="9525">
                      <a:solidFill>
                        <a:srgbClr val="808080"/>
                      </a:solidFill>
                      <a:prstDash val="solid"/>
                    </a:lnL>
                    <a:lnR w="9525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666666"/>
                      </a:solidFill>
                      <a:prstDash val="solid"/>
                    </a:lnT>
                    <a:lnB w="9525">
                      <a:solidFill>
                        <a:srgbClr val="666666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76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1050" spc="-15" b="1">
                          <a:solidFill>
                            <a:srgbClr val="FDBF86"/>
                          </a:solidFill>
                          <a:latin typeface="Arial"/>
                          <a:cs typeface="Arial"/>
                        </a:rPr>
                        <a:t>Beer</a:t>
                      </a:r>
                      <a:r>
                        <a:rPr dirty="0" sz="1050" spc="-15" b="1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050" spc="-5" b="1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 b="1">
                          <a:solidFill>
                            <a:srgbClr val="BEAED4"/>
                          </a:solidFill>
                          <a:latin typeface="Arial"/>
                          <a:cs typeface="Arial"/>
                        </a:rPr>
                        <a:t>Bread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90170">
                    <a:lnL w="9525">
                      <a:solidFill>
                        <a:srgbClr val="808080"/>
                      </a:solidFill>
                      <a:prstDash val="solid"/>
                    </a:lnL>
                    <a:lnR w="9525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666666"/>
                      </a:solidFill>
                      <a:prstDash val="solid"/>
                    </a:lnT>
                    <a:lnB w="9525">
                      <a:solidFill>
                        <a:srgbClr val="666666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35242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1050" b="1">
                          <a:solidFill>
                            <a:srgbClr val="585D60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90170">
                    <a:lnL w="9525">
                      <a:solidFill>
                        <a:srgbClr val="808080"/>
                      </a:solidFill>
                      <a:prstDash val="solid"/>
                    </a:lnL>
                    <a:lnR w="9525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666666"/>
                      </a:solidFill>
                      <a:prstDash val="solid"/>
                    </a:lnT>
                    <a:lnB w="9525">
                      <a:solidFill>
                        <a:srgbClr val="66666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76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1050" spc="-15" b="1">
                          <a:solidFill>
                            <a:srgbClr val="FDBF86"/>
                          </a:solidFill>
                          <a:latin typeface="Arial"/>
                          <a:cs typeface="Arial"/>
                        </a:rPr>
                        <a:t>Beer</a:t>
                      </a:r>
                      <a:r>
                        <a:rPr dirty="0" sz="1050" spc="-15" b="1">
                          <a:solidFill>
                            <a:srgbClr val="585D60"/>
                          </a:solidFill>
                          <a:latin typeface="Arial"/>
                          <a:cs typeface="Arial"/>
                        </a:rPr>
                        <a:t>, </a:t>
                      </a:r>
                      <a:r>
                        <a:rPr dirty="0" sz="1050" b="1">
                          <a:solidFill>
                            <a:srgbClr val="F0017E"/>
                          </a:solidFill>
                          <a:latin typeface="Arial"/>
                          <a:cs typeface="Arial"/>
                        </a:rPr>
                        <a:t>Coke</a:t>
                      </a:r>
                      <a:r>
                        <a:rPr dirty="0" sz="1050" b="1">
                          <a:solidFill>
                            <a:srgbClr val="585D60"/>
                          </a:solidFill>
                          <a:latin typeface="Arial"/>
                          <a:cs typeface="Arial"/>
                        </a:rPr>
                        <a:t>, </a:t>
                      </a:r>
                      <a:r>
                        <a:rPr dirty="0" sz="1050" spc="-10" b="1">
                          <a:solidFill>
                            <a:srgbClr val="7EC87E"/>
                          </a:solidFill>
                          <a:latin typeface="Arial"/>
                          <a:cs typeface="Arial"/>
                        </a:rPr>
                        <a:t>Diaper</a:t>
                      </a:r>
                      <a:r>
                        <a:rPr dirty="0" sz="1050" spc="-10" b="1">
                          <a:solidFill>
                            <a:srgbClr val="585D60"/>
                          </a:solidFill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050" spc="-25" b="1">
                          <a:solidFill>
                            <a:srgbClr val="585D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 b="1">
                          <a:solidFill>
                            <a:srgbClr val="376BB0"/>
                          </a:solidFill>
                          <a:latin typeface="Arial"/>
                          <a:cs typeface="Arial"/>
                        </a:rPr>
                        <a:t>Milk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90170">
                    <a:lnL w="9525">
                      <a:solidFill>
                        <a:srgbClr val="808080"/>
                      </a:solidFill>
                      <a:prstDash val="solid"/>
                    </a:lnL>
                    <a:lnR w="9525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666666"/>
                      </a:solidFill>
                      <a:prstDash val="solid"/>
                    </a:lnT>
                    <a:lnB w="9525">
                      <a:solidFill>
                        <a:srgbClr val="666666"/>
                      </a:solidFill>
                      <a:prstDash val="solid"/>
                    </a:lnB>
                  </a:tcPr>
                </a:tc>
              </a:tr>
              <a:tr h="35242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1050" b="1">
                          <a:solidFill>
                            <a:srgbClr val="585D60"/>
                          </a:solidFill>
                          <a:latin typeface="Arial"/>
                          <a:cs typeface="Arial"/>
                        </a:rPr>
                        <a:t>4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90170">
                    <a:lnL w="9525">
                      <a:solidFill>
                        <a:srgbClr val="808080"/>
                      </a:solidFill>
                      <a:prstDash val="solid"/>
                    </a:lnL>
                    <a:lnR w="9525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666666"/>
                      </a:solidFill>
                      <a:prstDash val="solid"/>
                    </a:lnT>
                    <a:lnB w="9525">
                      <a:solidFill>
                        <a:srgbClr val="666666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76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1050" spc="-15" b="1">
                          <a:solidFill>
                            <a:srgbClr val="FDBF86"/>
                          </a:solidFill>
                          <a:latin typeface="Arial"/>
                          <a:cs typeface="Arial"/>
                        </a:rPr>
                        <a:t>Beer</a:t>
                      </a:r>
                      <a:r>
                        <a:rPr dirty="0" sz="1050" spc="-15" b="1">
                          <a:solidFill>
                            <a:srgbClr val="585D60"/>
                          </a:solidFill>
                          <a:latin typeface="Arial"/>
                          <a:cs typeface="Arial"/>
                        </a:rPr>
                        <a:t>, </a:t>
                      </a:r>
                      <a:r>
                        <a:rPr dirty="0" sz="1050" b="1">
                          <a:solidFill>
                            <a:srgbClr val="BEAED4"/>
                          </a:solidFill>
                          <a:latin typeface="Arial"/>
                          <a:cs typeface="Arial"/>
                        </a:rPr>
                        <a:t>Bread</a:t>
                      </a:r>
                      <a:r>
                        <a:rPr dirty="0" sz="1050" b="1">
                          <a:solidFill>
                            <a:srgbClr val="585D60"/>
                          </a:solidFill>
                          <a:latin typeface="Arial"/>
                          <a:cs typeface="Arial"/>
                        </a:rPr>
                        <a:t>, </a:t>
                      </a:r>
                      <a:r>
                        <a:rPr dirty="0" sz="1050" spc="-10" b="1">
                          <a:solidFill>
                            <a:srgbClr val="7EC87E"/>
                          </a:solidFill>
                          <a:latin typeface="Arial"/>
                          <a:cs typeface="Arial"/>
                        </a:rPr>
                        <a:t>Diaper</a:t>
                      </a:r>
                      <a:r>
                        <a:rPr dirty="0" sz="1050" spc="-10" b="1">
                          <a:solidFill>
                            <a:srgbClr val="585D60"/>
                          </a:solidFill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050" spc="-40" b="1">
                          <a:solidFill>
                            <a:srgbClr val="585D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 b="1">
                          <a:solidFill>
                            <a:srgbClr val="376BB0"/>
                          </a:solidFill>
                          <a:latin typeface="Arial"/>
                          <a:cs typeface="Arial"/>
                        </a:rPr>
                        <a:t>Milk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90170">
                    <a:lnL w="9525">
                      <a:solidFill>
                        <a:srgbClr val="808080"/>
                      </a:solidFill>
                      <a:prstDash val="solid"/>
                    </a:lnL>
                    <a:lnR w="9525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666666"/>
                      </a:solidFill>
                      <a:prstDash val="solid"/>
                    </a:lnT>
                    <a:lnB w="9525">
                      <a:solidFill>
                        <a:srgbClr val="666666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35242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1050" b="1">
                          <a:solidFill>
                            <a:srgbClr val="585D60"/>
                          </a:solidFill>
                          <a:latin typeface="Arial"/>
                          <a:cs typeface="Arial"/>
                        </a:rPr>
                        <a:t>5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90170">
                    <a:lnL w="9525">
                      <a:solidFill>
                        <a:srgbClr val="808080"/>
                      </a:solidFill>
                      <a:prstDash val="solid"/>
                    </a:lnL>
                    <a:lnR w="9525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666666"/>
                      </a:solidFill>
                      <a:prstDash val="solid"/>
                    </a:lnT>
                    <a:lnB w="9525">
                      <a:solidFill>
                        <a:srgbClr val="66666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76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1050" b="1">
                          <a:solidFill>
                            <a:srgbClr val="F0017E"/>
                          </a:solidFill>
                          <a:latin typeface="Arial"/>
                          <a:cs typeface="Arial"/>
                        </a:rPr>
                        <a:t>Coke</a:t>
                      </a:r>
                      <a:r>
                        <a:rPr dirty="0" sz="1050" b="1">
                          <a:solidFill>
                            <a:srgbClr val="585D60"/>
                          </a:solidFill>
                          <a:latin typeface="Arial"/>
                          <a:cs typeface="Arial"/>
                        </a:rPr>
                        <a:t>, </a:t>
                      </a:r>
                      <a:r>
                        <a:rPr dirty="0" sz="1050" spc="-10" b="1">
                          <a:solidFill>
                            <a:srgbClr val="7EC87E"/>
                          </a:solidFill>
                          <a:latin typeface="Arial"/>
                          <a:cs typeface="Arial"/>
                        </a:rPr>
                        <a:t>Diaper</a:t>
                      </a:r>
                      <a:r>
                        <a:rPr dirty="0" sz="1050" spc="-10" b="1">
                          <a:solidFill>
                            <a:srgbClr val="585D60"/>
                          </a:solidFill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050" spc="-15" b="1">
                          <a:solidFill>
                            <a:srgbClr val="585D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 b="1">
                          <a:solidFill>
                            <a:srgbClr val="376BB0"/>
                          </a:solidFill>
                          <a:latin typeface="Arial"/>
                          <a:cs typeface="Arial"/>
                        </a:rPr>
                        <a:t>Milk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90170">
                    <a:lnL w="9525">
                      <a:solidFill>
                        <a:srgbClr val="808080"/>
                      </a:solidFill>
                      <a:prstDash val="solid"/>
                    </a:lnL>
                    <a:lnR w="9525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666666"/>
                      </a:solidFill>
                      <a:prstDash val="solid"/>
                    </a:lnT>
                    <a:lnB w="9525">
                      <a:solidFill>
                        <a:srgbClr val="666666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8119715" y="1644650"/>
            <a:ext cx="6191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65" b="1">
                <a:solidFill>
                  <a:srgbClr val="C2132D"/>
                </a:solidFill>
                <a:latin typeface="Trebuchet MS"/>
                <a:cs typeface="Trebuchet MS"/>
              </a:rPr>
              <a:t>Input: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118846" y="4605019"/>
            <a:ext cx="2620645" cy="1206500"/>
          </a:xfrm>
          <a:prstGeom prst="rect">
            <a:avLst/>
          </a:prstGeom>
        </p:spPr>
        <p:txBody>
          <a:bodyPr wrap="square" lIns="0" tIns="16700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15"/>
              </a:spcBef>
            </a:pPr>
            <a:r>
              <a:rPr dirty="0" sz="1800" spc="-80" b="1">
                <a:solidFill>
                  <a:srgbClr val="C2132D"/>
                </a:solidFill>
                <a:latin typeface="Trebuchet MS"/>
                <a:cs typeface="Trebuchet MS"/>
              </a:rPr>
              <a:t>Output: </a:t>
            </a:r>
            <a:r>
              <a:rPr dirty="0" sz="1800" spc="-25" b="1">
                <a:latin typeface="Trebuchet MS"/>
                <a:cs typeface="Trebuchet MS"/>
              </a:rPr>
              <a:t>Discovered</a:t>
            </a:r>
            <a:r>
              <a:rPr dirty="0" sz="1800" spc="-170" b="1">
                <a:latin typeface="Trebuchet MS"/>
                <a:cs typeface="Trebuchet MS"/>
              </a:rPr>
              <a:t> </a:t>
            </a:r>
            <a:r>
              <a:rPr dirty="0" sz="1800" spc="5" b="1">
                <a:latin typeface="Trebuchet MS"/>
                <a:cs typeface="Trebuchet MS"/>
              </a:rPr>
              <a:t>Rules</a:t>
            </a:r>
            <a:endParaRPr sz="18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1215"/>
              </a:spcBef>
            </a:pP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{</a:t>
            </a:r>
            <a:r>
              <a:rPr dirty="0" sz="1800" spc="20">
                <a:solidFill>
                  <a:srgbClr val="376BB0"/>
                </a:solidFill>
                <a:latin typeface="Trebuchet MS"/>
                <a:cs typeface="Trebuchet MS"/>
              </a:rPr>
              <a:t>Milk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} </a:t>
            </a:r>
            <a:r>
              <a:rPr dirty="0" sz="1800" spc="-105">
                <a:solidFill>
                  <a:srgbClr val="585D60"/>
                </a:solidFill>
                <a:latin typeface="Arial"/>
                <a:cs typeface="Arial"/>
              </a:rPr>
              <a:t>--&gt;</a:t>
            </a:r>
            <a:r>
              <a:rPr dirty="0" sz="1800" spc="-1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{</a:t>
            </a:r>
            <a:r>
              <a:rPr dirty="0" sz="1800" spc="20">
                <a:solidFill>
                  <a:srgbClr val="F0017E"/>
                </a:solidFill>
                <a:latin typeface="Trebuchet MS"/>
                <a:cs typeface="Trebuchet MS"/>
              </a:rPr>
              <a:t>Coke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}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390"/>
              </a:spcBef>
            </a:pP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{</a:t>
            </a:r>
            <a:r>
              <a:rPr dirty="0" sz="1800" spc="-45">
                <a:solidFill>
                  <a:srgbClr val="7EC87E"/>
                </a:solidFill>
                <a:latin typeface="Trebuchet MS"/>
                <a:cs typeface="Trebuchet MS"/>
              </a:rPr>
              <a:t>Diaper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, </a:t>
            </a:r>
            <a:r>
              <a:rPr dirty="0" sz="1800" spc="25">
                <a:solidFill>
                  <a:srgbClr val="376BB0"/>
                </a:solidFill>
                <a:latin typeface="Trebuchet MS"/>
                <a:cs typeface="Trebuchet MS"/>
              </a:rPr>
              <a:t>Milk</a:t>
            </a:r>
            <a:r>
              <a:rPr dirty="0" sz="1800" spc="25">
                <a:solidFill>
                  <a:srgbClr val="585D60"/>
                </a:solidFill>
                <a:latin typeface="Arial"/>
                <a:cs typeface="Arial"/>
              </a:rPr>
              <a:t>} </a:t>
            </a:r>
            <a:r>
              <a:rPr dirty="0" sz="1800" spc="-105">
                <a:solidFill>
                  <a:srgbClr val="585D60"/>
                </a:solidFill>
                <a:latin typeface="Arial"/>
                <a:cs typeface="Arial"/>
              </a:rPr>
              <a:t>--&gt;</a:t>
            </a:r>
            <a:r>
              <a:rPr dirty="0" sz="1800" spc="-17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{</a:t>
            </a:r>
            <a:r>
              <a:rPr dirty="0" sz="1800" spc="-5">
                <a:solidFill>
                  <a:srgbClr val="FDBF86"/>
                </a:solidFill>
                <a:latin typeface="Trebuchet MS"/>
                <a:cs typeface="Trebuchet MS"/>
              </a:rPr>
              <a:t>Beer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}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01700" y="520700"/>
            <a:ext cx="5297170" cy="6540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4100" spc="-265">
                <a:latin typeface="Trebuchet MS"/>
                <a:cs typeface="Trebuchet MS"/>
              </a:rPr>
              <a:t>The </a:t>
            </a:r>
            <a:r>
              <a:rPr dirty="0" sz="4100" spc="-215">
                <a:latin typeface="Trebuchet MS"/>
                <a:cs typeface="Trebuchet MS"/>
              </a:rPr>
              <a:t>Market-Basket</a:t>
            </a:r>
            <a:r>
              <a:rPr dirty="0" sz="4100" spc="-325">
                <a:latin typeface="Trebuchet MS"/>
                <a:cs typeface="Trebuchet MS"/>
              </a:rPr>
              <a:t> </a:t>
            </a:r>
            <a:r>
              <a:rPr dirty="0" sz="4100" spc="-150">
                <a:latin typeface="Trebuchet MS"/>
                <a:cs typeface="Trebuchet MS"/>
              </a:rPr>
              <a:t>Model</a:t>
            </a:r>
            <a:endParaRPr sz="4100">
              <a:latin typeface="Trebuchet MS"/>
              <a:cs typeface="Trebuchet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14400" y="6205537"/>
            <a:ext cx="6867525" cy="0"/>
          </a:xfrm>
          <a:custGeom>
            <a:avLst/>
            <a:gdLst/>
            <a:ahLst/>
            <a:cxnLst/>
            <a:rect l="l" t="t" r="r" b="b"/>
            <a:pathLst>
              <a:path w="6867525" h="0">
                <a:moveTo>
                  <a:pt x="0" y="0"/>
                </a:moveTo>
                <a:lnTo>
                  <a:pt x="6867524" y="0"/>
                </a:lnTo>
              </a:path>
            </a:pathLst>
          </a:custGeom>
          <a:ln w="9524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914400" y="6215062"/>
            <a:ext cx="6867525" cy="0"/>
          </a:xfrm>
          <a:custGeom>
            <a:avLst/>
            <a:gdLst/>
            <a:ahLst/>
            <a:cxnLst/>
            <a:rect l="l" t="t" r="r" b="b"/>
            <a:pathLst>
              <a:path w="6867525" h="0">
                <a:moveTo>
                  <a:pt x="0" y="0"/>
                </a:moveTo>
                <a:lnTo>
                  <a:pt x="6867524" y="0"/>
                </a:lnTo>
              </a:path>
            </a:pathLst>
          </a:custGeom>
          <a:ln w="9524">
            <a:solidFill>
              <a:srgbClr val="EDED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772400" y="6200774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9524" y="19049"/>
                </a:moveTo>
                <a:lnTo>
                  <a:pt x="0" y="19049"/>
                </a:lnTo>
                <a:lnTo>
                  <a:pt x="0" y="9524"/>
                </a:lnTo>
                <a:lnTo>
                  <a:pt x="9524" y="0"/>
                </a:lnTo>
                <a:lnTo>
                  <a:pt x="9524" y="19049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914400" y="6200774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0" y="19049"/>
                </a:moveTo>
                <a:lnTo>
                  <a:pt x="0" y="0"/>
                </a:lnTo>
                <a:lnTo>
                  <a:pt x="9524" y="0"/>
                </a:lnTo>
                <a:lnTo>
                  <a:pt x="9524" y="9524"/>
                </a:lnTo>
                <a:lnTo>
                  <a:pt x="0" y="19049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5"/>
              <a:t>22</a:t>
            </a:fld>
            <a:r>
              <a:rPr dirty="0" spc="5"/>
              <a:t> </a:t>
            </a:r>
            <a:r>
              <a:rPr dirty="0" spc="160"/>
              <a:t>/</a:t>
            </a:r>
            <a:r>
              <a:rPr dirty="0" spc="-165"/>
              <a:t> </a:t>
            </a:r>
            <a:r>
              <a:rPr dirty="0" spc="5"/>
              <a:t>33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901700" y="6287356"/>
            <a:ext cx="6897370" cy="213360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1250" spc="-20" b="1">
                <a:solidFill>
                  <a:srgbClr val="C2132D"/>
                </a:solidFill>
                <a:latin typeface="Trebuchet MS"/>
                <a:cs typeface="Trebuchet MS"/>
              </a:rPr>
              <a:t>Source:</a:t>
            </a:r>
            <a:r>
              <a:rPr dirty="0" sz="1250" spc="-6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250" spc="25">
                <a:solidFill>
                  <a:srgbClr val="585D60"/>
                </a:solidFill>
                <a:latin typeface="Arial"/>
                <a:cs typeface="Arial"/>
              </a:rPr>
              <a:t>J.</a:t>
            </a:r>
            <a:r>
              <a:rPr dirty="0" sz="1250" spc="-3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250" spc="-15">
                <a:solidFill>
                  <a:srgbClr val="585D60"/>
                </a:solidFill>
                <a:latin typeface="Arial"/>
                <a:cs typeface="Arial"/>
              </a:rPr>
              <a:t>Leskovec,</a:t>
            </a:r>
            <a:r>
              <a:rPr dirty="0" sz="1250" spc="-3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250" spc="-15">
                <a:solidFill>
                  <a:srgbClr val="585D60"/>
                </a:solidFill>
                <a:latin typeface="Arial"/>
                <a:cs typeface="Arial"/>
              </a:rPr>
              <a:t>A.</a:t>
            </a:r>
            <a:r>
              <a:rPr dirty="0" sz="1250" spc="-3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250" spc="-20">
                <a:solidFill>
                  <a:srgbClr val="585D60"/>
                </a:solidFill>
                <a:latin typeface="Arial"/>
                <a:cs typeface="Arial"/>
              </a:rPr>
              <a:t>Rajaraman,</a:t>
            </a:r>
            <a:r>
              <a:rPr dirty="0" sz="1250" spc="-3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250" spc="25">
                <a:solidFill>
                  <a:srgbClr val="585D60"/>
                </a:solidFill>
                <a:latin typeface="Arial"/>
                <a:cs typeface="Arial"/>
              </a:rPr>
              <a:t>J.</a:t>
            </a:r>
            <a:r>
              <a:rPr dirty="0" sz="1250" spc="-3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250" spc="-5">
                <a:solidFill>
                  <a:srgbClr val="585D60"/>
                </a:solidFill>
                <a:latin typeface="Arial"/>
                <a:cs typeface="Arial"/>
              </a:rPr>
              <a:t>Ullman:</a:t>
            </a:r>
            <a:r>
              <a:rPr dirty="0" sz="1250" spc="-3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250" spc="20">
                <a:solidFill>
                  <a:srgbClr val="585D60"/>
                </a:solidFill>
                <a:latin typeface="Arial"/>
                <a:cs typeface="Arial"/>
              </a:rPr>
              <a:t>Mining</a:t>
            </a:r>
            <a:r>
              <a:rPr dirty="0" sz="1250" spc="-3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250" spc="55">
                <a:solidFill>
                  <a:srgbClr val="585D60"/>
                </a:solidFill>
                <a:latin typeface="Arial"/>
                <a:cs typeface="Arial"/>
              </a:rPr>
              <a:t>of</a:t>
            </a:r>
            <a:r>
              <a:rPr dirty="0" sz="1250" spc="-3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250" spc="10">
                <a:solidFill>
                  <a:srgbClr val="585D60"/>
                </a:solidFill>
                <a:latin typeface="Arial"/>
                <a:cs typeface="Arial"/>
              </a:rPr>
              <a:t>Massive</a:t>
            </a:r>
            <a:r>
              <a:rPr dirty="0" sz="1250" spc="-3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250" spc="-5">
                <a:solidFill>
                  <a:srgbClr val="585D60"/>
                </a:solidFill>
                <a:latin typeface="Arial"/>
                <a:cs typeface="Arial"/>
              </a:rPr>
              <a:t>Datasets,</a:t>
            </a:r>
            <a:r>
              <a:rPr dirty="0" sz="1250" spc="-3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250" spc="-5">
                <a:solidFill>
                  <a:srgbClr val="83D5D3"/>
                </a:solidFill>
                <a:latin typeface="Cambria"/>
                <a:cs typeface="Cambria"/>
                <a:hlinkClick r:id="rId2"/>
              </a:rPr>
              <a:t>http://www.mmds.org</a:t>
            </a:r>
            <a:endParaRPr sz="12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7267575" y="2085975"/>
          <a:ext cx="2329180" cy="21240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7225"/>
                <a:gridCol w="1657350"/>
              </a:tblGrid>
              <a:tr h="35242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1050" b="1">
                          <a:solidFill>
                            <a:srgbClr val="585D60"/>
                          </a:solidFill>
                          <a:latin typeface="Arial"/>
                          <a:cs typeface="Arial"/>
                        </a:rPr>
                        <a:t>Basket</a:t>
                      </a:r>
                      <a:r>
                        <a:rPr dirty="0" sz="1050" spc="-45" b="1">
                          <a:solidFill>
                            <a:srgbClr val="585D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 b="1">
                          <a:solidFill>
                            <a:srgbClr val="585D60"/>
                          </a:solidFill>
                          <a:latin typeface="Arial"/>
                          <a:cs typeface="Arial"/>
                        </a:rPr>
                        <a:t>#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90170">
                    <a:lnL w="9525">
                      <a:solidFill>
                        <a:srgbClr val="808080"/>
                      </a:solidFill>
                      <a:prstDash val="solid"/>
                    </a:lnL>
                    <a:lnR w="9525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666666"/>
                      </a:solidFill>
                      <a:prstDash val="solid"/>
                    </a:lnT>
                    <a:lnB w="9525">
                      <a:solidFill>
                        <a:srgbClr val="666666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1050" b="1">
                          <a:solidFill>
                            <a:srgbClr val="585D60"/>
                          </a:solidFill>
                          <a:latin typeface="Arial"/>
                          <a:cs typeface="Arial"/>
                        </a:rPr>
                        <a:t>Items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90170">
                    <a:lnL w="9525">
                      <a:solidFill>
                        <a:srgbClr val="808080"/>
                      </a:solidFill>
                      <a:prstDash val="solid"/>
                    </a:lnL>
                    <a:lnR w="9525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666666"/>
                      </a:solidFill>
                      <a:prstDash val="solid"/>
                    </a:lnT>
                    <a:lnB w="9525">
                      <a:solidFill>
                        <a:srgbClr val="666666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</a:tr>
              <a:tr h="35242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1050" b="1">
                          <a:solidFill>
                            <a:srgbClr val="585D60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90170">
                    <a:lnL w="9525">
                      <a:solidFill>
                        <a:srgbClr val="808080"/>
                      </a:solidFill>
                      <a:prstDash val="solid"/>
                    </a:lnL>
                    <a:lnR w="9525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666666"/>
                      </a:solidFill>
                      <a:prstDash val="solid"/>
                    </a:lnT>
                    <a:lnB w="9525">
                      <a:solidFill>
                        <a:srgbClr val="66666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76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1050" b="1">
                          <a:solidFill>
                            <a:srgbClr val="BEAED4"/>
                          </a:solidFill>
                          <a:latin typeface="Arial"/>
                          <a:cs typeface="Arial"/>
                        </a:rPr>
                        <a:t>Bread</a:t>
                      </a:r>
                      <a:r>
                        <a:rPr dirty="0" sz="1050" b="1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, </a:t>
                      </a:r>
                      <a:r>
                        <a:rPr dirty="0" sz="1050" b="1">
                          <a:solidFill>
                            <a:srgbClr val="F0017E"/>
                          </a:solidFill>
                          <a:latin typeface="Arial"/>
                          <a:cs typeface="Arial"/>
                        </a:rPr>
                        <a:t>Coke</a:t>
                      </a:r>
                      <a:r>
                        <a:rPr dirty="0" sz="1050" b="1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050" spc="-15" b="1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 b="1">
                          <a:solidFill>
                            <a:srgbClr val="376BB0"/>
                          </a:solidFill>
                          <a:latin typeface="Arial"/>
                          <a:cs typeface="Arial"/>
                        </a:rPr>
                        <a:t>Milk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90170">
                    <a:lnL w="9525">
                      <a:solidFill>
                        <a:srgbClr val="808080"/>
                      </a:solidFill>
                      <a:prstDash val="solid"/>
                    </a:lnL>
                    <a:lnR w="9525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666666"/>
                      </a:solidFill>
                      <a:prstDash val="solid"/>
                    </a:lnT>
                    <a:lnB w="9525">
                      <a:solidFill>
                        <a:srgbClr val="666666"/>
                      </a:solidFill>
                      <a:prstDash val="solid"/>
                    </a:lnB>
                  </a:tcPr>
                </a:tc>
              </a:tr>
              <a:tr h="35242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1050" b="1">
                          <a:solidFill>
                            <a:srgbClr val="585D60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90170">
                    <a:lnL w="9525">
                      <a:solidFill>
                        <a:srgbClr val="808080"/>
                      </a:solidFill>
                      <a:prstDash val="solid"/>
                    </a:lnL>
                    <a:lnR w="9525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666666"/>
                      </a:solidFill>
                      <a:prstDash val="solid"/>
                    </a:lnT>
                    <a:lnB w="9525">
                      <a:solidFill>
                        <a:srgbClr val="666666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76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1050" spc="-15" b="1">
                          <a:solidFill>
                            <a:srgbClr val="FDBF86"/>
                          </a:solidFill>
                          <a:latin typeface="Arial"/>
                          <a:cs typeface="Arial"/>
                        </a:rPr>
                        <a:t>Beer</a:t>
                      </a:r>
                      <a:r>
                        <a:rPr dirty="0" sz="1050" spc="-15" b="1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050" spc="-5" b="1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 b="1">
                          <a:solidFill>
                            <a:srgbClr val="BEAED4"/>
                          </a:solidFill>
                          <a:latin typeface="Arial"/>
                          <a:cs typeface="Arial"/>
                        </a:rPr>
                        <a:t>Bread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90170">
                    <a:lnL w="9525">
                      <a:solidFill>
                        <a:srgbClr val="808080"/>
                      </a:solidFill>
                      <a:prstDash val="solid"/>
                    </a:lnL>
                    <a:lnR w="9525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666666"/>
                      </a:solidFill>
                      <a:prstDash val="solid"/>
                    </a:lnT>
                    <a:lnB w="9525">
                      <a:solidFill>
                        <a:srgbClr val="666666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35242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1050" b="1">
                          <a:solidFill>
                            <a:srgbClr val="585D60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90170">
                    <a:lnL w="9525">
                      <a:solidFill>
                        <a:srgbClr val="808080"/>
                      </a:solidFill>
                      <a:prstDash val="solid"/>
                    </a:lnL>
                    <a:lnR w="9525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666666"/>
                      </a:solidFill>
                      <a:prstDash val="solid"/>
                    </a:lnT>
                    <a:lnB w="9525">
                      <a:solidFill>
                        <a:srgbClr val="66666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76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1050" spc="-15" b="1">
                          <a:solidFill>
                            <a:srgbClr val="FDBF86"/>
                          </a:solidFill>
                          <a:latin typeface="Arial"/>
                          <a:cs typeface="Arial"/>
                        </a:rPr>
                        <a:t>Beer</a:t>
                      </a:r>
                      <a:r>
                        <a:rPr dirty="0" sz="1050" spc="-15" b="1">
                          <a:solidFill>
                            <a:srgbClr val="585D60"/>
                          </a:solidFill>
                          <a:latin typeface="Arial"/>
                          <a:cs typeface="Arial"/>
                        </a:rPr>
                        <a:t>, </a:t>
                      </a:r>
                      <a:r>
                        <a:rPr dirty="0" sz="1050" b="1">
                          <a:solidFill>
                            <a:srgbClr val="F0017E"/>
                          </a:solidFill>
                          <a:latin typeface="Arial"/>
                          <a:cs typeface="Arial"/>
                        </a:rPr>
                        <a:t>Coke</a:t>
                      </a:r>
                      <a:r>
                        <a:rPr dirty="0" sz="1050" b="1">
                          <a:solidFill>
                            <a:srgbClr val="585D60"/>
                          </a:solidFill>
                          <a:latin typeface="Arial"/>
                          <a:cs typeface="Arial"/>
                        </a:rPr>
                        <a:t>, </a:t>
                      </a:r>
                      <a:r>
                        <a:rPr dirty="0" sz="1050" spc="-10" b="1">
                          <a:solidFill>
                            <a:srgbClr val="7EC87E"/>
                          </a:solidFill>
                          <a:latin typeface="Arial"/>
                          <a:cs typeface="Arial"/>
                        </a:rPr>
                        <a:t>Diaper</a:t>
                      </a:r>
                      <a:r>
                        <a:rPr dirty="0" sz="1050" spc="-10" b="1">
                          <a:solidFill>
                            <a:srgbClr val="585D60"/>
                          </a:solidFill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050" spc="-25" b="1">
                          <a:solidFill>
                            <a:srgbClr val="585D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 b="1">
                          <a:solidFill>
                            <a:srgbClr val="376BB0"/>
                          </a:solidFill>
                          <a:latin typeface="Arial"/>
                          <a:cs typeface="Arial"/>
                        </a:rPr>
                        <a:t>Milk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90170">
                    <a:lnL w="9525">
                      <a:solidFill>
                        <a:srgbClr val="808080"/>
                      </a:solidFill>
                      <a:prstDash val="solid"/>
                    </a:lnL>
                    <a:lnR w="9525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666666"/>
                      </a:solidFill>
                      <a:prstDash val="solid"/>
                    </a:lnT>
                    <a:lnB w="9525">
                      <a:solidFill>
                        <a:srgbClr val="666666"/>
                      </a:solidFill>
                      <a:prstDash val="solid"/>
                    </a:lnB>
                  </a:tcPr>
                </a:tc>
              </a:tr>
              <a:tr h="35242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1050" b="1">
                          <a:solidFill>
                            <a:srgbClr val="585D60"/>
                          </a:solidFill>
                          <a:latin typeface="Arial"/>
                          <a:cs typeface="Arial"/>
                        </a:rPr>
                        <a:t>4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90170">
                    <a:lnL w="9525">
                      <a:solidFill>
                        <a:srgbClr val="808080"/>
                      </a:solidFill>
                      <a:prstDash val="solid"/>
                    </a:lnL>
                    <a:lnR w="9525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666666"/>
                      </a:solidFill>
                      <a:prstDash val="solid"/>
                    </a:lnT>
                    <a:lnB w="9525">
                      <a:solidFill>
                        <a:srgbClr val="666666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76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1050" spc="-15" b="1">
                          <a:solidFill>
                            <a:srgbClr val="FDBF86"/>
                          </a:solidFill>
                          <a:latin typeface="Arial"/>
                          <a:cs typeface="Arial"/>
                        </a:rPr>
                        <a:t>Beer</a:t>
                      </a:r>
                      <a:r>
                        <a:rPr dirty="0" sz="1050" spc="-15" b="1">
                          <a:solidFill>
                            <a:srgbClr val="585D60"/>
                          </a:solidFill>
                          <a:latin typeface="Arial"/>
                          <a:cs typeface="Arial"/>
                        </a:rPr>
                        <a:t>, </a:t>
                      </a:r>
                      <a:r>
                        <a:rPr dirty="0" sz="1050" b="1">
                          <a:solidFill>
                            <a:srgbClr val="BEAED4"/>
                          </a:solidFill>
                          <a:latin typeface="Arial"/>
                          <a:cs typeface="Arial"/>
                        </a:rPr>
                        <a:t>Bread</a:t>
                      </a:r>
                      <a:r>
                        <a:rPr dirty="0" sz="1050" b="1">
                          <a:solidFill>
                            <a:srgbClr val="585D60"/>
                          </a:solidFill>
                          <a:latin typeface="Arial"/>
                          <a:cs typeface="Arial"/>
                        </a:rPr>
                        <a:t>, </a:t>
                      </a:r>
                      <a:r>
                        <a:rPr dirty="0" sz="1050" spc="-10" b="1">
                          <a:solidFill>
                            <a:srgbClr val="7EC87E"/>
                          </a:solidFill>
                          <a:latin typeface="Arial"/>
                          <a:cs typeface="Arial"/>
                        </a:rPr>
                        <a:t>Diaper</a:t>
                      </a:r>
                      <a:r>
                        <a:rPr dirty="0" sz="1050" spc="-10" b="1">
                          <a:solidFill>
                            <a:srgbClr val="585D60"/>
                          </a:solidFill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050" spc="-40" b="1">
                          <a:solidFill>
                            <a:srgbClr val="585D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 b="1">
                          <a:solidFill>
                            <a:srgbClr val="376BB0"/>
                          </a:solidFill>
                          <a:latin typeface="Arial"/>
                          <a:cs typeface="Arial"/>
                        </a:rPr>
                        <a:t>Milk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90170">
                    <a:lnL w="9525">
                      <a:solidFill>
                        <a:srgbClr val="808080"/>
                      </a:solidFill>
                      <a:prstDash val="solid"/>
                    </a:lnL>
                    <a:lnR w="9525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666666"/>
                      </a:solidFill>
                      <a:prstDash val="solid"/>
                    </a:lnT>
                    <a:lnB w="9525">
                      <a:solidFill>
                        <a:srgbClr val="666666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35242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1050" b="1">
                          <a:solidFill>
                            <a:srgbClr val="585D60"/>
                          </a:solidFill>
                          <a:latin typeface="Arial"/>
                          <a:cs typeface="Arial"/>
                        </a:rPr>
                        <a:t>5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90170">
                    <a:lnL w="9525">
                      <a:solidFill>
                        <a:srgbClr val="808080"/>
                      </a:solidFill>
                      <a:prstDash val="solid"/>
                    </a:lnL>
                    <a:lnR w="9525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666666"/>
                      </a:solidFill>
                      <a:prstDash val="solid"/>
                    </a:lnT>
                    <a:lnB w="9525">
                      <a:solidFill>
                        <a:srgbClr val="66666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76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1050" b="1">
                          <a:solidFill>
                            <a:srgbClr val="F0017E"/>
                          </a:solidFill>
                          <a:latin typeface="Arial"/>
                          <a:cs typeface="Arial"/>
                        </a:rPr>
                        <a:t>Coke</a:t>
                      </a:r>
                      <a:r>
                        <a:rPr dirty="0" sz="1050" b="1">
                          <a:solidFill>
                            <a:srgbClr val="585D60"/>
                          </a:solidFill>
                          <a:latin typeface="Arial"/>
                          <a:cs typeface="Arial"/>
                        </a:rPr>
                        <a:t>, </a:t>
                      </a:r>
                      <a:r>
                        <a:rPr dirty="0" sz="1050" spc="-10" b="1">
                          <a:solidFill>
                            <a:srgbClr val="7EC87E"/>
                          </a:solidFill>
                          <a:latin typeface="Arial"/>
                          <a:cs typeface="Arial"/>
                        </a:rPr>
                        <a:t>Diaper</a:t>
                      </a:r>
                      <a:r>
                        <a:rPr dirty="0" sz="1050" spc="-10" b="1">
                          <a:solidFill>
                            <a:srgbClr val="585D60"/>
                          </a:solidFill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050" spc="-15" b="1">
                          <a:solidFill>
                            <a:srgbClr val="585D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 b="1">
                          <a:solidFill>
                            <a:srgbClr val="376BB0"/>
                          </a:solidFill>
                          <a:latin typeface="Arial"/>
                          <a:cs typeface="Arial"/>
                        </a:rPr>
                        <a:t>Milk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90170">
                    <a:lnL w="9525">
                      <a:solidFill>
                        <a:srgbClr val="808080"/>
                      </a:solidFill>
                      <a:prstDash val="solid"/>
                    </a:lnL>
                    <a:lnR w="9525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666666"/>
                      </a:solidFill>
                      <a:prstDash val="solid"/>
                    </a:lnT>
                    <a:lnB w="9525">
                      <a:solidFill>
                        <a:srgbClr val="666666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8119715" y="1644650"/>
            <a:ext cx="6191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65" b="1">
                <a:solidFill>
                  <a:srgbClr val="C2132D"/>
                </a:solidFill>
                <a:latin typeface="Trebuchet MS"/>
                <a:cs typeface="Trebuchet MS"/>
              </a:rPr>
              <a:t>Input: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964957" y="4759325"/>
            <a:ext cx="292862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 b="1">
                <a:latin typeface="Trebuchet MS"/>
                <a:cs typeface="Trebuchet MS"/>
              </a:rPr>
              <a:t>Support </a:t>
            </a:r>
            <a:r>
              <a:rPr dirty="0" sz="1800" spc="-15" b="1">
                <a:latin typeface="Trebuchet MS"/>
                <a:cs typeface="Trebuchet MS"/>
              </a:rPr>
              <a:t>of </a:t>
            </a:r>
            <a:r>
              <a:rPr dirty="0" sz="1800" spc="-120" b="1">
                <a:latin typeface="Trebuchet MS"/>
                <a:cs typeface="Trebuchet MS"/>
              </a:rPr>
              <a:t>{</a:t>
            </a:r>
            <a:r>
              <a:rPr dirty="0" sz="1800" spc="-120" b="1">
                <a:solidFill>
                  <a:srgbClr val="FDBF86"/>
                </a:solidFill>
                <a:latin typeface="Trebuchet MS"/>
                <a:cs typeface="Trebuchet MS"/>
              </a:rPr>
              <a:t>Beer</a:t>
            </a:r>
            <a:r>
              <a:rPr dirty="0" sz="1800" spc="-120" b="1">
                <a:latin typeface="Trebuchet MS"/>
                <a:cs typeface="Trebuchet MS"/>
              </a:rPr>
              <a:t>, </a:t>
            </a:r>
            <a:r>
              <a:rPr dirty="0" sz="1800" spc="-70" b="1">
                <a:solidFill>
                  <a:srgbClr val="BEAED4"/>
                </a:solidFill>
                <a:latin typeface="Trebuchet MS"/>
                <a:cs typeface="Trebuchet MS"/>
              </a:rPr>
              <a:t>Bread</a:t>
            </a:r>
            <a:r>
              <a:rPr dirty="0" sz="1800" spc="-70" b="1">
                <a:latin typeface="Trebuchet MS"/>
                <a:cs typeface="Trebuchet MS"/>
              </a:rPr>
              <a:t>}: </a:t>
            </a:r>
            <a:r>
              <a:rPr dirty="0" sz="1800" spc="-65">
                <a:solidFill>
                  <a:srgbClr val="585D60"/>
                </a:solidFill>
                <a:latin typeface="Arial"/>
                <a:cs typeface="Arial"/>
              </a:rPr>
              <a:t>=</a:t>
            </a:r>
            <a:r>
              <a:rPr dirty="0" sz="1800" spc="-26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01700" y="520700"/>
            <a:ext cx="8434705" cy="6540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4100" spc="-245">
                <a:latin typeface="Trebuchet MS"/>
                <a:cs typeface="Trebuchet MS"/>
              </a:rPr>
              <a:t>Definitions: </a:t>
            </a:r>
            <a:r>
              <a:rPr dirty="0" sz="4100" spc="-195">
                <a:latin typeface="Trebuchet MS"/>
                <a:cs typeface="Trebuchet MS"/>
              </a:rPr>
              <a:t>Support </a:t>
            </a:r>
            <a:r>
              <a:rPr dirty="0" sz="4100" spc="-655">
                <a:latin typeface="Trebuchet MS"/>
                <a:cs typeface="Trebuchet MS"/>
              </a:rPr>
              <a:t>&amp; </a:t>
            </a:r>
            <a:r>
              <a:rPr dirty="0" sz="4100" spc="-195">
                <a:latin typeface="Trebuchet MS"/>
                <a:cs typeface="Trebuchet MS"/>
              </a:rPr>
              <a:t>Support</a:t>
            </a:r>
            <a:r>
              <a:rPr dirty="0" sz="4100" spc="-735">
                <a:latin typeface="Trebuchet MS"/>
                <a:cs typeface="Trebuchet MS"/>
              </a:rPr>
              <a:t> </a:t>
            </a:r>
            <a:r>
              <a:rPr dirty="0" sz="4100" spc="-204">
                <a:latin typeface="Trebuchet MS"/>
                <a:cs typeface="Trebuchet MS"/>
              </a:rPr>
              <a:t>Threshold</a:t>
            </a:r>
            <a:endParaRPr sz="41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48754" y="1709420"/>
            <a:ext cx="3997325" cy="356870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46050" marR="45720" indent="-133985">
              <a:lnSpc>
                <a:spcPct val="116300"/>
              </a:lnSpc>
              <a:spcBef>
                <a:spcPts val="135"/>
              </a:spcBef>
              <a:buFont typeface="Trebuchet MS"/>
              <a:buChar char="•"/>
              <a:tabLst>
                <a:tab pos="146685" algn="l"/>
              </a:tabLst>
            </a:pPr>
            <a:r>
              <a:rPr dirty="0" sz="1800" b="1">
                <a:solidFill>
                  <a:srgbClr val="C2132D"/>
                </a:solidFill>
                <a:latin typeface="Trebuchet MS"/>
                <a:cs typeface="Trebuchet MS"/>
              </a:rPr>
              <a:t>Simplest </a:t>
            </a:r>
            <a:r>
              <a:rPr dirty="0" sz="1800" spc="-45" b="1">
                <a:solidFill>
                  <a:srgbClr val="C2132D"/>
                </a:solidFill>
                <a:latin typeface="Trebuchet MS"/>
                <a:cs typeface="Trebuchet MS"/>
              </a:rPr>
              <a:t>question: </a:t>
            </a:r>
            <a:r>
              <a:rPr dirty="0" sz="1800" spc="-15">
                <a:solidFill>
                  <a:srgbClr val="585D60"/>
                </a:solidFill>
                <a:latin typeface="Arial"/>
                <a:cs typeface="Arial"/>
              </a:rPr>
              <a:t>Find </a:t>
            </a:r>
            <a:r>
              <a:rPr dirty="0" sz="1800" spc="25">
                <a:solidFill>
                  <a:srgbClr val="585D60"/>
                </a:solidFill>
                <a:latin typeface="Arial"/>
                <a:cs typeface="Arial"/>
              </a:rPr>
              <a:t>sets </a:t>
            </a:r>
            <a:r>
              <a:rPr dirty="0" sz="1800" spc="75">
                <a:solidFill>
                  <a:srgbClr val="585D60"/>
                </a:solidFill>
                <a:latin typeface="Arial"/>
                <a:cs typeface="Arial"/>
              </a:rPr>
              <a:t>of</a:t>
            </a:r>
            <a:r>
              <a:rPr dirty="0" sz="1800" spc="-3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5">
                <a:solidFill>
                  <a:srgbClr val="585D60"/>
                </a:solidFill>
                <a:latin typeface="Arial"/>
                <a:cs typeface="Arial"/>
              </a:rPr>
              <a:t>items  that </a:t>
            </a:r>
            <a:r>
              <a:rPr dirty="0" sz="1800" spc="-15">
                <a:solidFill>
                  <a:srgbClr val="585D60"/>
                </a:solidFill>
                <a:latin typeface="Arial"/>
                <a:cs typeface="Arial"/>
              </a:rPr>
              <a:t>appear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together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“frequently” in 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baskets</a:t>
            </a:r>
            <a:endParaRPr sz="1800">
              <a:latin typeface="Arial"/>
              <a:cs typeface="Arial"/>
            </a:endParaRPr>
          </a:p>
          <a:p>
            <a:pPr marL="146050" marR="459105" indent="-133985">
              <a:lnSpc>
                <a:spcPct val="114599"/>
              </a:lnSpc>
              <a:spcBef>
                <a:spcPts val="975"/>
              </a:spcBef>
              <a:buFont typeface="Trebuchet MS"/>
              <a:buChar char="•"/>
              <a:tabLst>
                <a:tab pos="146685" algn="l"/>
              </a:tabLst>
            </a:pPr>
            <a:r>
              <a:rPr dirty="0" sz="1800" spc="-20" b="1">
                <a:solidFill>
                  <a:srgbClr val="C2132D"/>
                </a:solidFill>
                <a:latin typeface="Trebuchet MS"/>
                <a:cs typeface="Trebuchet MS"/>
              </a:rPr>
              <a:t>Support </a:t>
            </a:r>
            <a:r>
              <a:rPr dirty="0" sz="1800" spc="-45" b="1">
                <a:solidFill>
                  <a:srgbClr val="C2132D"/>
                </a:solidFill>
                <a:latin typeface="Trebuchet MS"/>
                <a:cs typeface="Trebuchet MS"/>
              </a:rPr>
              <a:t>for </a:t>
            </a:r>
            <a:r>
              <a:rPr dirty="0" sz="1800" spc="-35" b="1">
                <a:solidFill>
                  <a:srgbClr val="C2132D"/>
                </a:solidFill>
                <a:latin typeface="Trebuchet MS"/>
                <a:cs typeface="Trebuchet MS"/>
              </a:rPr>
              <a:t>itemset </a:t>
            </a:r>
            <a:r>
              <a:rPr dirty="0" sz="1250" spc="110" i="1">
                <a:solidFill>
                  <a:srgbClr val="C2132D"/>
                </a:solidFill>
                <a:latin typeface="Verdana"/>
                <a:cs typeface="Verdana"/>
              </a:rPr>
              <a:t>I</a:t>
            </a:r>
            <a:r>
              <a:rPr dirty="0" sz="1800" spc="110" b="1">
                <a:solidFill>
                  <a:srgbClr val="C2132D"/>
                </a:solidFill>
                <a:latin typeface="Trebuchet MS"/>
                <a:cs typeface="Trebuchet MS"/>
              </a:rPr>
              <a:t>:</a:t>
            </a:r>
            <a:r>
              <a:rPr dirty="0" sz="1800" spc="-37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Number </a:t>
            </a:r>
            <a:r>
              <a:rPr dirty="0" sz="1800" spc="75">
                <a:solidFill>
                  <a:srgbClr val="585D60"/>
                </a:solidFill>
                <a:latin typeface="Arial"/>
                <a:cs typeface="Arial"/>
              </a:rPr>
              <a:t>of 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baskets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containing all </a:t>
            </a:r>
            <a:r>
              <a:rPr dirty="0" sz="1800" spc="35">
                <a:solidFill>
                  <a:srgbClr val="585D60"/>
                </a:solidFill>
                <a:latin typeface="Arial"/>
                <a:cs typeface="Arial"/>
              </a:rPr>
              <a:t>items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in</a:t>
            </a:r>
            <a:r>
              <a:rPr dirty="0" sz="1800" spc="-36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14" i="1">
                <a:solidFill>
                  <a:srgbClr val="585D60"/>
                </a:solidFill>
                <a:latin typeface="Verdana"/>
                <a:cs typeface="Verdana"/>
              </a:rPr>
              <a:t>I</a:t>
            </a:r>
            <a:endParaRPr sz="1600">
              <a:latin typeface="Verdana"/>
              <a:cs typeface="Verdana"/>
            </a:endParaRPr>
          </a:p>
          <a:p>
            <a:pPr lvl="1" marL="527050" marR="213360" indent="-133985">
              <a:lnSpc>
                <a:spcPct val="118100"/>
              </a:lnSpc>
              <a:spcBef>
                <a:spcPts val="900"/>
              </a:spcBef>
              <a:buClr>
                <a:srgbClr val="C2132D"/>
              </a:buClr>
              <a:buFont typeface="Trebuchet MS"/>
              <a:buChar char="•"/>
              <a:tabLst>
                <a:tab pos="527685" algn="l"/>
              </a:tabLst>
            </a:pP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Often </a:t>
            </a: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expressed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as </a:t>
            </a:r>
            <a:r>
              <a:rPr dirty="0" sz="1800" spc="-25">
                <a:solidFill>
                  <a:srgbClr val="585D60"/>
                </a:solidFill>
                <a:latin typeface="Arial"/>
                <a:cs typeface="Arial"/>
              </a:rPr>
              <a:t>a </a:t>
            </a:r>
            <a:r>
              <a:rPr dirty="0" sz="1800" spc="30">
                <a:solidFill>
                  <a:srgbClr val="585D60"/>
                </a:solidFill>
                <a:latin typeface="Arial"/>
                <a:cs typeface="Arial"/>
              </a:rPr>
              <a:t>fraction</a:t>
            </a:r>
            <a:r>
              <a:rPr dirty="0" sz="1800" spc="-26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Arial"/>
                <a:cs typeface="Arial"/>
              </a:rPr>
              <a:t>of 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 </a:t>
            </a:r>
            <a:r>
              <a:rPr dirty="0" sz="1800" spc="35">
                <a:solidFill>
                  <a:srgbClr val="585D60"/>
                </a:solidFill>
                <a:latin typeface="Arial"/>
                <a:cs typeface="Arial"/>
              </a:rPr>
              <a:t>total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number </a:t>
            </a:r>
            <a:r>
              <a:rPr dirty="0" sz="1800" spc="75">
                <a:solidFill>
                  <a:srgbClr val="585D60"/>
                </a:solidFill>
                <a:latin typeface="Arial"/>
                <a:cs typeface="Arial"/>
              </a:rPr>
              <a:t>of</a:t>
            </a:r>
            <a:r>
              <a:rPr dirty="0" sz="1800" spc="-29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baskets</a:t>
            </a:r>
            <a:endParaRPr sz="1800">
              <a:latin typeface="Arial"/>
              <a:cs typeface="Arial"/>
            </a:endParaRPr>
          </a:p>
          <a:p>
            <a:pPr marL="146050" marR="5080" indent="-133985">
              <a:lnSpc>
                <a:spcPct val="116300"/>
              </a:lnSpc>
              <a:spcBef>
                <a:spcPts val="865"/>
              </a:spcBef>
              <a:buClr>
                <a:srgbClr val="C2132D"/>
              </a:buClr>
              <a:buFont typeface="Trebuchet MS"/>
              <a:buChar char="•"/>
              <a:tabLst>
                <a:tab pos="146685" algn="l"/>
              </a:tabLst>
            </a:pP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Given </a:t>
            </a:r>
            <a:r>
              <a:rPr dirty="0" sz="1800" spc="-25">
                <a:solidFill>
                  <a:srgbClr val="585D60"/>
                </a:solidFill>
                <a:latin typeface="Arial"/>
                <a:cs typeface="Arial"/>
              </a:rPr>
              <a:t>a </a:t>
            </a:r>
            <a:r>
              <a:rPr dirty="0" sz="1800" spc="-25" b="1">
                <a:solidFill>
                  <a:srgbClr val="C2132D"/>
                </a:solidFill>
                <a:latin typeface="Trebuchet MS"/>
                <a:cs typeface="Trebuchet MS"/>
              </a:rPr>
              <a:t>support </a:t>
            </a:r>
            <a:r>
              <a:rPr dirty="0" sz="1800" spc="-40" b="1">
                <a:solidFill>
                  <a:srgbClr val="C2132D"/>
                </a:solidFill>
                <a:latin typeface="Trebuchet MS"/>
                <a:cs typeface="Trebuchet MS"/>
              </a:rPr>
              <a:t>threshold </a:t>
            </a:r>
            <a:r>
              <a:rPr dirty="0" sz="1250" spc="20" i="1">
                <a:solidFill>
                  <a:srgbClr val="C2132D"/>
                </a:solidFill>
                <a:latin typeface="Verdana"/>
                <a:cs typeface="Verdana"/>
              </a:rPr>
              <a:t>s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,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then</a:t>
            </a:r>
            <a:r>
              <a:rPr dirty="0" sz="1800" spc="-33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5">
                <a:solidFill>
                  <a:srgbClr val="585D60"/>
                </a:solidFill>
                <a:latin typeface="Arial"/>
                <a:cs typeface="Arial"/>
              </a:rPr>
              <a:t>sets  </a:t>
            </a:r>
            <a:r>
              <a:rPr dirty="0" sz="1800" spc="75">
                <a:solidFill>
                  <a:srgbClr val="585D60"/>
                </a:solidFill>
                <a:latin typeface="Arial"/>
                <a:cs typeface="Arial"/>
              </a:rPr>
              <a:t>of </a:t>
            </a:r>
            <a:r>
              <a:rPr dirty="0" sz="1800" spc="35">
                <a:solidFill>
                  <a:srgbClr val="585D60"/>
                </a:solidFill>
                <a:latin typeface="Arial"/>
                <a:cs typeface="Arial"/>
              </a:rPr>
              <a:t>items that </a:t>
            </a:r>
            <a:r>
              <a:rPr dirty="0" sz="1800" spc="-15">
                <a:solidFill>
                  <a:srgbClr val="585D60"/>
                </a:solidFill>
                <a:latin typeface="Arial"/>
                <a:cs typeface="Arial"/>
              </a:rPr>
              <a:t>appear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in </a:t>
            </a:r>
            <a:r>
              <a:rPr dirty="0" sz="1800" spc="30">
                <a:solidFill>
                  <a:srgbClr val="585D60"/>
                </a:solidFill>
                <a:latin typeface="Arial"/>
                <a:cs typeface="Arial"/>
              </a:rPr>
              <a:t>at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least </a:t>
            </a:r>
            <a:r>
              <a:rPr dirty="0" sz="1600" spc="10" i="1">
                <a:solidFill>
                  <a:srgbClr val="585D60"/>
                </a:solidFill>
                <a:latin typeface="Verdana"/>
                <a:cs typeface="Verdana"/>
              </a:rPr>
              <a:t>s 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baskets </a:t>
            </a:r>
            <a:r>
              <a:rPr dirty="0" sz="1800" spc="-30">
                <a:solidFill>
                  <a:srgbClr val="585D60"/>
                </a:solidFill>
                <a:latin typeface="Arial"/>
                <a:cs typeface="Arial"/>
              </a:rPr>
              <a:t>are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called frequent</a:t>
            </a:r>
            <a:r>
              <a:rPr dirty="0" sz="1800" spc="-22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Arial"/>
                <a:cs typeface="Arial"/>
              </a:rPr>
              <a:t>itemsets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14400" y="6205537"/>
            <a:ext cx="6867525" cy="0"/>
          </a:xfrm>
          <a:custGeom>
            <a:avLst/>
            <a:gdLst/>
            <a:ahLst/>
            <a:cxnLst/>
            <a:rect l="l" t="t" r="r" b="b"/>
            <a:pathLst>
              <a:path w="6867525" h="0">
                <a:moveTo>
                  <a:pt x="0" y="0"/>
                </a:moveTo>
                <a:lnTo>
                  <a:pt x="6867524" y="0"/>
                </a:lnTo>
              </a:path>
            </a:pathLst>
          </a:custGeom>
          <a:ln w="9524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914400" y="6215062"/>
            <a:ext cx="6867525" cy="0"/>
          </a:xfrm>
          <a:custGeom>
            <a:avLst/>
            <a:gdLst/>
            <a:ahLst/>
            <a:cxnLst/>
            <a:rect l="l" t="t" r="r" b="b"/>
            <a:pathLst>
              <a:path w="6867525" h="0">
                <a:moveTo>
                  <a:pt x="0" y="0"/>
                </a:moveTo>
                <a:lnTo>
                  <a:pt x="6867524" y="0"/>
                </a:lnTo>
              </a:path>
            </a:pathLst>
          </a:custGeom>
          <a:ln w="9524">
            <a:solidFill>
              <a:srgbClr val="EDED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772400" y="6200774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9524" y="19049"/>
                </a:moveTo>
                <a:lnTo>
                  <a:pt x="0" y="19049"/>
                </a:lnTo>
                <a:lnTo>
                  <a:pt x="0" y="9524"/>
                </a:lnTo>
                <a:lnTo>
                  <a:pt x="9524" y="0"/>
                </a:lnTo>
                <a:lnTo>
                  <a:pt x="9524" y="19049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914400" y="6200774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0" y="19049"/>
                </a:moveTo>
                <a:lnTo>
                  <a:pt x="0" y="0"/>
                </a:lnTo>
                <a:lnTo>
                  <a:pt x="9524" y="0"/>
                </a:lnTo>
                <a:lnTo>
                  <a:pt x="9524" y="9524"/>
                </a:lnTo>
                <a:lnTo>
                  <a:pt x="0" y="19049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5"/>
              <a:t>22</a:t>
            </a:fld>
            <a:r>
              <a:rPr dirty="0" spc="5"/>
              <a:t> </a:t>
            </a:r>
            <a:r>
              <a:rPr dirty="0" spc="160"/>
              <a:t>/</a:t>
            </a:r>
            <a:r>
              <a:rPr dirty="0" spc="-165"/>
              <a:t> </a:t>
            </a:r>
            <a:r>
              <a:rPr dirty="0" spc="5"/>
              <a:t>33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901700" y="6287356"/>
            <a:ext cx="6897370" cy="213360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1250" spc="-20" b="1">
                <a:solidFill>
                  <a:srgbClr val="C2132D"/>
                </a:solidFill>
                <a:latin typeface="Trebuchet MS"/>
                <a:cs typeface="Trebuchet MS"/>
              </a:rPr>
              <a:t>Source:</a:t>
            </a:r>
            <a:r>
              <a:rPr dirty="0" sz="1250" spc="-6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250" spc="25">
                <a:solidFill>
                  <a:srgbClr val="585D60"/>
                </a:solidFill>
                <a:latin typeface="Arial"/>
                <a:cs typeface="Arial"/>
              </a:rPr>
              <a:t>J.</a:t>
            </a:r>
            <a:r>
              <a:rPr dirty="0" sz="1250" spc="-3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250" spc="-15">
                <a:solidFill>
                  <a:srgbClr val="585D60"/>
                </a:solidFill>
                <a:latin typeface="Arial"/>
                <a:cs typeface="Arial"/>
              </a:rPr>
              <a:t>Leskovec,</a:t>
            </a:r>
            <a:r>
              <a:rPr dirty="0" sz="1250" spc="-3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250" spc="-15">
                <a:solidFill>
                  <a:srgbClr val="585D60"/>
                </a:solidFill>
                <a:latin typeface="Arial"/>
                <a:cs typeface="Arial"/>
              </a:rPr>
              <a:t>A.</a:t>
            </a:r>
            <a:r>
              <a:rPr dirty="0" sz="1250" spc="-3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250" spc="-20">
                <a:solidFill>
                  <a:srgbClr val="585D60"/>
                </a:solidFill>
                <a:latin typeface="Arial"/>
                <a:cs typeface="Arial"/>
              </a:rPr>
              <a:t>Rajaraman,</a:t>
            </a:r>
            <a:r>
              <a:rPr dirty="0" sz="1250" spc="-3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250" spc="25">
                <a:solidFill>
                  <a:srgbClr val="585D60"/>
                </a:solidFill>
                <a:latin typeface="Arial"/>
                <a:cs typeface="Arial"/>
              </a:rPr>
              <a:t>J.</a:t>
            </a:r>
            <a:r>
              <a:rPr dirty="0" sz="1250" spc="-3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250" spc="-5">
                <a:solidFill>
                  <a:srgbClr val="585D60"/>
                </a:solidFill>
                <a:latin typeface="Arial"/>
                <a:cs typeface="Arial"/>
              </a:rPr>
              <a:t>Ullman:</a:t>
            </a:r>
            <a:r>
              <a:rPr dirty="0" sz="1250" spc="-3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250" spc="20">
                <a:solidFill>
                  <a:srgbClr val="585D60"/>
                </a:solidFill>
                <a:latin typeface="Arial"/>
                <a:cs typeface="Arial"/>
              </a:rPr>
              <a:t>Mining</a:t>
            </a:r>
            <a:r>
              <a:rPr dirty="0" sz="1250" spc="-3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250" spc="55">
                <a:solidFill>
                  <a:srgbClr val="585D60"/>
                </a:solidFill>
                <a:latin typeface="Arial"/>
                <a:cs typeface="Arial"/>
              </a:rPr>
              <a:t>of</a:t>
            </a:r>
            <a:r>
              <a:rPr dirty="0" sz="1250" spc="-3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250" spc="10">
                <a:solidFill>
                  <a:srgbClr val="585D60"/>
                </a:solidFill>
                <a:latin typeface="Arial"/>
                <a:cs typeface="Arial"/>
              </a:rPr>
              <a:t>Massive</a:t>
            </a:r>
            <a:r>
              <a:rPr dirty="0" sz="1250" spc="-3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250" spc="-5">
                <a:solidFill>
                  <a:srgbClr val="585D60"/>
                </a:solidFill>
                <a:latin typeface="Arial"/>
                <a:cs typeface="Arial"/>
              </a:rPr>
              <a:t>Datasets,</a:t>
            </a:r>
            <a:r>
              <a:rPr dirty="0" sz="1250" spc="-3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250" spc="-5">
                <a:solidFill>
                  <a:srgbClr val="83D5D3"/>
                </a:solidFill>
                <a:latin typeface="Cambria"/>
                <a:cs typeface="Cambria"/>
                <a:hlinkClick r:id="rId2"/>
              </a:rPr>
              <a:t>http://www.mmds.org</a:t>
            </a:r>
            <a:endParaRPr sz="12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520700"/>
            <a:ext cx="8060690" cy="6540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4100" spc="-235">
                <a:solidFill>
                  <a:srgbClr val="C2132D"/>
                </a:solidFill>
                <a:latin typeface="Trebuchet MS"/>
                <a:cs typeface="Trebuchet MS"/>
              </a:rPr>
              <a:t>Non-graded </a:t>
            </a:r>
            <a:r>
              <a:rPr dirty="0" sz="4100" spc="-280">
                <a:solidFill>
                  <a:srgbClr val="C2132D"/>
                </a:solidFill>
                <a:latin typeface="Trebuchet MS"/>
                <a:cs typeface="Trebuchet MS"/>
              </a:rPr>
              <a:t>Activity: </a:t>
            </a:r>
            <a:r>
              <a:rPr dirty="0" sz="4100" spc="-290">
                <a:solidFill>
                  <a:srgbClr val="C2132D"/>
                </a:solidFill>
                <a:latin typeface="Trebuchet MS"/>
                <a:cs typeface="Trebuchet MS"/>
              </a:rPr>
              <a:t>Frequent</a:t>
            </a:r>
            <a:r>
              <a:rPr dirty="0" sz="4100" spc="-390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4100" spc="-175">
                <a:solidFill>
                  <a:srgbClr val="C2132D"/>
                </a:solidFill>
                <a:latin typeface="Trebuchet MS"/>
                <a:cs typeface="Trebuchet MS"/>
              </a:rPr>
              <a:t>Itemsets</a:t>
            </a:r>
            <a:endParaRPr sz="410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14400" y="2228850"/>
            <a:ext cx="9696450" cy="0"/>
          </a:xfrm>
          <a:custGeom>
            <a:avLst/>
            <a:gdLst/>
            <a:ahLst/>
            <a:cxnLst/>
            <a:rect l="l" t="t" r="r" b="b"/>
            <a:pathLst>
              <a:path w="9696450" h="0">
                <a:moveTo>
                  <a:pt x="0" y="0"/>
                </a:moveTo>
                <a:lnTo>
                  <a:pt x="9696449" y="0"/>
                </a:lnTo>
              </a:path>
            </a:pathLst>
          </a:custGeom>
          <a:ln w="19049">
            <a:solidFill>
              <a:srgbClr val="DDDDD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123354" y="3873499"/>
            <a:ext cx="2644140" cy="16046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71450" indent="-133985">
              <a:lnSpc>
                <a:spcPct val="100000"/>
              </a:lnSpc>
              <a:spcBef>
                <a:spcPts val="100"/>
              </a:spcBef>
              <a:buClr>
                <a:srgbClr val="C2132D"/>
              </a:buClr>
              <a:buSzPct val="112500"/>
              <a:buFont typeface="Trebuchet MS"/>
              <a:buChar char="•"/>
              <a:tabLst>
                <a:tab pos="172085" algn="l"/>
              </a:tabLst>
            </a:pPr>
            <a:r>
              <a:rPr dirty="0" sz="1600" spc="55" i="1">
                <a:solidFill>
                  <a:srgbClr val="585D60"/>
                </a:solidFill>
                <a:latin typeface="Verdana"/>
                <a:cs typeface="Verdana"/>
              </a:rPr>
              <a:t>B</a:t>
            </a:r>
            <a:r>
              <a:rPr dirty="0" baseline="-13333" sz="1875" spc="82">
                <a:solidFill>
                  <a:srgbClr val="585D60"/>
                </a:solidFill>
                <a:latin typeface="Lucida Sans Unicode"/>
                <a:cs typeface="Lucida Sans Unicode"/>
              </a:rPr>
              <a:t>1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=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{</a:t>
            </a:r>
            <a:r>
              <a:rPr dirty="0" sz="1800" spc="-5">
                <a:solidFill>
                  <a:srgbClr val="376BB0"/>
                </a:solidFill>
                <a:latin typeface="Trebuchet MS"/>
                <a:cs typeface="Trebuchet MS"/>
              </a:rPr>
              <a:t>Milk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, </a:t>
            </a:r>
            <a:r>
              <a:rPr dirty="0" sz="1800" spc="-10">
                <a:solidFill>
                  <a:srgbClr val="F0017E"/>
                </a:solidFill>
                <a:latin typeface="Trebuchet MS"/>
                <a:cs typeface="Trebuchet MS"/>
              </a:rPr>
              <a:t>Coke</a:t>
            </a: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,</a:t>
            </a:r>
            <a:r>
              <a:rPr dirty="0" sz="1800" spc="-8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DBF86"/>
                </a:solidFill>
                <a:latin typeface="Trebuchet MS"/>
                <a:cs typeface="Trebuchet MS"/>
              </a:rPr>
              <a:t>Beer</a:t>
            </a: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}</a:t>
            </a:r>
            <a:endParaRPr sz="1800">
              <a:latin typeface="Arial"/>
              <a:cs typeface="Arial"/>
            </a:endParaRPr>
          </a:p>
          <a:p>
            <a:pPr marL="17145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SzPct val="112500"/>
              <a:buFont typeface="Trebuchet MS"/>
              <a:buChar char="•"/>
              <a:tabLst>
                <a:tab pos="172085" algn="l"/>
              </a:tabLst>
            </a:pPr>
            <a:r>
              <a:rPr dirty="0" sz="1600" spc="55" i="1">
                <a:solidFill>
                  <a:srgbClr val="585D60"/>
                </a:solidFill>
                <a:latin typeface="Verdana"/>
                <a:cs typeface="Verdana"/>
              </a:rPr>
              <a:t>B</a:t>
            </a:r>
            <a:r>
              <a:rPr dirty="0" baseline="-13333" sz="1875" spc="82">
                <a:solidFill>
                  <a:srgbClr val="585D60"/>
                </a:solidFill>
                <a:latin typeface="Lucida Sans Unicode"/>
                <a:cs typeface="Lucida Sans Unicode"/>
              </a:rPr>
              <a:t>3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=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{</a:t>
            </a:r>
            <a:r>
              <a:rPr dirty="0" sz="1800" spc="-5">
                <a:solidFill>
                  <a:srgbClr val="376BB0"/>
                </a:solidFill>
                <a:latin typeface="Trebuchet MS"/>
                <a:cs typeface="Trebuchet MS"/>
              </a:rPr>
              <a:t>Milk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,</a:t>
            </a:r>
            <a:r>
              <a:rPr dirty="0" sz="1800" spc="-2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DBF86"/>
                </a:solidFill>
                <a:latin typeface="Trebuchet MS"/>
                <a:cs typeface="Trebuchet MS"/>
              </a:rPr>
              <a:t>Beer</a:t>
            </a: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}</a:t>
            </a:r>
            <a:endParaRPr sz="1800">
              <a:latin typeface="Arial"/>
              <a:cs typeface="Arial"/>
            </a:endParaRPr>
          </a:p>
          <a:p>
            <a:pPr marL="17145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SzPct val="112500"/>
              <a:buFont typeface="Trebuchet MS"/>
              <a:buChar char="•"/>
              <a:tabLst>
                <a:tab pos="172085" algn="l"/>
              </a:tabLst>
            </a:pPr>
            <a:r>
              <a:rPr dirty="0" sz="1600" spc="55" i="1">
                <a:solidFill>
                  <a:srgbClr val="585D60"/>
                </a:solidFill>
                <a:latin typeface="Verdana"/>
                <a:cs typeface="Verdana"/>
              </a:rPr>
              <a:t>B</a:t>
            </a:r>
            <a:r>
              <a:rPr dirty="0" baseline="-11111" sz="1875" spc="82">
                <a:solidFill>
                  <a:srgbClr val="585D60"/>
                </a:solidFill>
                <a:latin typeface="Lucida Sans Unicode"/>
                <a:cs typeface="Lucida Sans Unicode"/>
              </a:rPr>
              <a:t>5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=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{</a:t>
            </a:r>
            <a:r>
              <a:rPr dirty="0" sz="1800" spc="-5">
                <a:solidFill>
                  <a:srgbClr val="376BB0"/>
                </a:solidFill>
                <a:latin typeface="Trebuchet MS"/>
                <a:cs typeface="Trebuchet MS"/>
              </a:rPr>
              <a:t>Milk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, </a:t>
            </a:r>
            <a:r>
              <a:rPr dirty="0" sz="1800" spc="10">
                <a:solidFill>
                  <a:srgbClr val="7EC87E"/>
                </a:solidFill>
                <a:latin typeface="Trebuchet MS"/>
                <a:cs typeface="Trebuchet MS"/>
              </a:rPr>
              <a:t>Pepsi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,</a:t>
            </a:r>
            <a:r>
              <a:rPr dirty="0" sz="1800" spc="-8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DBF86"/>
                </a:solidFill>
                <a:latin typeface="Trebuchet MS"/>
                <a:cs typeface="Trebuchet MS"/>
              </a:rPr>
              <a:t>Beer</a:t>
            </a: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}</a:t>
            </a:r>
            <a:endParaRPr sz="1800">
              <a:latin typeface="Arial"/>
              <a:cs typeface="Arial"/>
            </a:endParaRPr>
          </a:p>
          <a:p>
            <a:pPr marL="171450" indent="-133985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SzPct val="112500"/>
              <a:buFont typeface="Trebuchet MS"/>
              <a:buChar char="•"/>
              <a:tabLst>
                <a:tab pos="172085" algn="l"/>
              </a:tabLst>
            </a:pPr>
            <a:r>
              <a:rPr dirty="0" sz="1600" spc="55" i="1">
                <a:solidFill>
                  <a:srgbClr val="585D60"/>
                </a:solidFill>
                <a:latin typeface="Verdana"/>
                <a:cs typeface="Verdana"/>
              </a:rPr>
              <a:t>B</a:t>
            </a:r>
            <a:r>
              <a:rPr dirty="0" baseline="-13333" sz="1875" spc="82">
                <a:solidFill>
                  <a:srgbClr val="585D60"/>
                </a:solidFill>
                <a:latin typeface="Lucida Sans Unicode"/>
                <a:cs typeface="Lucida Sans Unicode"/>
              </a:rPr>
              <a:t>6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=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{</a:t>
            </a:r>
            <a:r>
              <a:rPr dirty="0" sz="1800" spc="-5">
                <a:solidFill>
                  <a:srgbClr val="F0017E"/>
                </a:solidFill>
                <a:latin typeface="Trebuchet MS"/>
                <a:cs typeface="Trebuchet MS"/>
              </a:rPr>
              <a:t>Coke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, </a:t>
            </a:r>
            <a:r>
              <a:rPr dirty="0" sz="1800" spc="-60">
                <a:solidFill>
                  <a:srgbClr val="FDBF86"/>
                </a:solidFill>
                <a:latin typeface="Trebuchet MS"/>
                <a:cs typeface="Trebuchet MS"/>
              </a:rPr>
              <a:t>Beer</a:t>
            </a:r>
            <a:r>
              <a:rPr dirty="0" sz="1800" spc="-60">
                <a:solidFill>
                  <a:srgbClr val="585D60"/>
                </a:solidFill>
                <a:latin typeface="Arial"/>
                <a:cs typeface="Arial"/>
              </a:rPr>
              <a:t>,</a:t>
            </a:r>
            <a:r>
              <a:rPr dirty="0" sz="1800" spc="-12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BEAED4"/>
                </a:solidFill>
                <a:latin typeface="Trebuchet MS"/>
                <a:cs typeface="Trebuchet MS"/>
              </a:rPr>
              <a:t>Juice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}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10695" y="3873499"/>
            <a:ext cx="3090545" cy="16046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600" spc="55" i="1">
                <a:solidFill>
                  <a:srgbClr val="585D60"/>
                </a:solidFill>
                <a:latin typeface="Verdana"/>
                <a:cs typeface="Verdana"/>
              </a:rPr>
              <a:t>B</a:t>
            </a:r>
            <a:r>
              <a:rPr dirty="0" baseline="-13333" sz="1875" spc="82">
                <a:solidFill>
                  <a:srgbClr val="585D60"/>
                </a:solidFill>
                <a:latin typeface="Lucida Sans Unicode"/>
                <a:cs typeface="Lucida Sans Unicode"/>
              </a:rPr>
              <a:t>2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=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{</a:t>
            </a:r>
            <a:r>
              <a:rPr dirty="0" sz="1800" spc="-5">
                <a:solidFill>
                  <a:srgbClr val="376BB0"/>
                </a:solidFill>
                <a:latin typeface="Trebuchet MS"/>
                <a:cs typeface="Trebuchet MS"/>
              </a:rPr>
              <a:t>Milk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, </a:t>
            </a:r>
            <a:r>
              <a:rPr dirty="0" sz="1800" spc="10">
                <a:solidFill>
                  <a:srgbClr val="7EC87E"/>
                </a:solidFill>
                <a:latin typeface="Trebuchet MS"/>
                <a:cs typeface="Trebuchet MS"/>
              </a:rPr>
              <a:t>Pepsi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,</a:t>
            </a:r>
            <a:r>
              <a:rPr dirty="0" sz="1800" spc="-7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BEAED4"/>
                </a:solidFill>
                <a:latin typeface="Trebuchet MS"/>
                <a:cs typeface="Trebuchet MS"/>
              </a:rPr>
              <a:t>Juice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}</a:t>
            </a:r>
            <a:endParaRPr sz="1800">
              <a:latin typeface="Arial"/>
              <a:cs typeface="Arial"/>
            </a:endParaRPr>
          </a:p>
          <a:p>
            <a:pPr marL="107950">
              <a:lnSpc>
                <a:spcPct val="100000"/>
              </a:lnSpc>
              <a:spcBef>
                <a:spcPts val="1290"/>
              </a:spcBef>
            </a:pPr>
            <a:r>
              <a:rPr dirty="0" sz="1600" spc="55" i="1">
                <a:solidFill>
                  <a:srgbClr val="585D60"/>
                </a:solidFill>
                <a:latin typeface="Verdana"/>
                <a:cs typeface="Verdana"/>
              </a:rPr>
              <a:t>B</a:t>
            </a:r>
            <a:r>
              <a:rPr dirty="0" baseline="-13333" sz="1875" spc="82">
                <a:solidFill>
                  <a:srgbClr val="585D60"/>
                </a:solidFill>
                <a:latin typeface="Lucida Sans Unicode"/>
                <a:cs typeface="Lucida Sans Unicode"/>
              </a:rPr>
              <a:t>4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=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{</a:t>
            </a:r>
            <a:r>
              <a:rPr dirty="0" sz="1800" spc="-5">
                <a:solidFill>
                  <a:srgbClr val="F0017E"/>
                </a:solidFill>
                <a:latin typeface="Trebuchet MS"/>
                <a:cs typeface="Trebuchet MS"/>
              </a:rPr>
              <a:t>Coke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,</a:t>
            </a:r>
            <a:r>
              <a:rPr dirty="0" sz="1800" spc="-2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BEAED4"/>
                </a:solidFill>
                <a:latin typeface="Trebuchet MS"/>
                <a:cs typeface="Trebuchet MS"/>
              </a:rPr>
              <a:t>Juice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}</a:t>
            </a:r>
            <a:endParaRPr sz="1800">
              <a:latin typeface="Arial"/>
              <a:cs typeface="Arial"/>
            </a:endParaRPr>
          </a:p>
          <a:p>
            <a:pPr marL="89535">
              <a:lnSpc>
                <a:spcPct val="100000"/>
              </a:lnSpc>
              <a:spcBef>
                <a:spcPts val="1290"/>
              </a:spcBef>
            </a:pPr>
            <a:r>
              <a:rPr dirty="0" sz="1600" spc="55" i="1">
                <a:solidFill>
                  <a:srgbClr val="585D60"/>
                </a:solidFill>
                <a:latin typeface="Verdana"/>
                <a:cs typeface="Verdana"/>
              </a:rPr>
              <a:t>B</a:t>
            </a:r>
            <a:r>
              <a:rPr dirty="0" baseline="-11111" sz="1875" spc="82">
                <a:solidFill>
                  <a:srgbClr val="585D60"/>
                </a:solidFill>
                <a:latin typeface="Lucida Sans Unicode"/>
                <a:cs typeface="Lucida Sans Unicode"/>
              </a:rPr>
              <a:t>6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=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{</a:t>
            </a:r>
            <a:r>
              <a:rPr dirty="0" sz="1800" spc="-5">
                <a:solidFill>
                  <a:srgbClr val="376BB0"/>
                </a:solidFill>
                <a:latin typeface="Trebuchet MS"/>
                <a:cs typeface="Trebuchet MS"/>
              </a:rPr>
              <a:t>Milk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, </a:t>
            </a:r>
            <a:r>
              <a:rPr dirty="0" sz="1800" spc="-10">
                <a:solidFill>
                  <a:srgbClr val="F0017E"/>
                </a:solidFill>
                <a:latin typeface="Trebuchet MS"/>
                <a:cs typeface="Trebuchet MS"/>
              </a:rPr>
              <a:t>Coke</a:t>
            </a: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, </a:t>
            </a:r>
            <a:r>
              <a:rPr dirty="0" sz="1800" spc="-60">
                <a:solidFill>
                  <a:srgbClr val="FDBF86"/>
                </a:solidFill>
                <a:latin typeface="Trebuchet MS"/>
                <a:cs typeface="Trebuchet MS"/>
              </a:rPr>
              <a:t>Beer</a:t>
            </a:r>
            <a:r>
              <a:rPr dirty="0" sz="1800" spc="-60">
                <a:solidFill>
                  <a:srgbClr val="585D60"/>
                </a:solidFill>
                <a:latin typeface="Arial"/>
                <a:cs typeface="Arial"/>
              </a:rPr>
              <a:t>,</a:t>
            </a:r>
            <a:r>
              <a:rPr dirty="0" sz="1800" spc="-13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BEAED4"/>
                </a:solidFill>
                <a:latin typeface="Trebuchet MS"/>
                <a:cs typeface="Trebuchet MS"/>
              </a:rPr>
              <a:t>Juice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}</a:t>
            </a:r>
            <a:endParaRPr sz="1800">
              <a:latin typeface="Arial"/>
              <a:cs typeface="Arial"/>
            </a:endParaRPr>
          </a:p>
          <a:p>
            <a:pPr marL="146050">
              <a:lnSpc>
                <a:spcPct val="100000"/>
              </a:lnSpc>
              <a:spcBef>
                <a:spcPts val="1215"/>
              </a:spcBef>
            </a:pPr>
            <a:r>
              <a:rPr dirty="0" sz="1600" spc="55" i="1">
                <a:solidFill>
                  <a:srgbClr val="585D60"/>
                </a:solidFill>
                <a:latin typeface="Verdana"/>
                <a:cs typeface="Verdana"/>
              </a:rPr>
              <a:t>B</a:t>
            </a:r>
            <a:r>
              <a:rPr dirty="0" baseline="-13333" sz="1875" spc="82">
                <a:solidFill>
                  <a:srgbClr val="585D60"/>
                </a:solidFill>
                <a:latin typeface="Lucida Sans Unicode"/>
                <a:cs typeface="Lucida Sans Unicode"/>
              </a:rPr>
              <a:t>8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=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{</a:t>
            </a:r>
            <a:r>
              <a:rPr dirty="0" sz="1800" spc="-5">
                <a:solidFill>
                  <a:srgbClr val="F0017E"/>
                </a:solidFill>
                <a:latin typeface="Trebuchet MS"/>
                <a:cs typeface="Trebuchet MS"/>
              </a:rPr>
              <a:t>Coke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,</a:t>
            </a:r>
            <a:r>
              <a:rPr dirty="0" sz="1800" spc="-1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DBF86"/>
                </a:solidFill>
                <a:latin typeface="Trebuchet MS"/>
                <a:cs typeface="Trebuchet MS"/>
              </a:rPr>
              <a:t>Beer</a:t>
            </a: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}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878987" y="6207124"/>
            <a:ext cx="5067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5">
                <a:solidFill>
                  <a:srgbClr val="585D60"/>
                </a:solidFill>
                <a:latin typeface="Arial"/>
                <a:cs typeface="Arial"/>
              </a:rPr>
              <a:t>25 </a:t>
            </a:r>
            <a:r>
              <a:rPr dirty="0" sz="1200" spc="160">
                <a:solidFill>
                  <a:srgbClr val="585D60"/>
                </a:solidFill>
                <a:latin typeface="Arial"/>
                <a:cs typeface="Arial"/>
              </a:rPr>
              <a:t>/</a:t>
            </a:r>
            <a:r>
              <a:rPr dirty="0" sz="1200" spc="-16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585D60"/>
                </a:solidFill>
                <a:latin typeface="Arial"/>
                <a:cs typeface="Arial"/>
              </a:rPr>
              <a:t>33</a:t>
            </a:r>
            <a:endParaRPr sz="12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14400" y="1657350"/>
            <a:ext cx="1209675" cy="0"/>
          </a:xfrm>
          <a:custGeom>
            <a:avLst/>
            <a:gdLst/>
            <a:ahLst/>
            <a:cxnLst/>
            <a:rect l="l" t="t" r="r" b="b"/>
            <a:pathLst>
              <a:path w="1209675" h="0">
                <a:moveTo>
                  <a:pt x="0" y="0"/>
                </a:moveTo>
                <a:lnTo>
                  <a:pt x="1209674" y="0"/>
                </a:lnTo>
              </a:path>
            </a:pathLst>
          </a:custGeom>
          <a:ln w="19049">
            <a:solidFill>
              <a:srgbClr val="585D6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914400" y="2228850"/>
            <a:ext cx="1209675" cy="0"/>
          </a:xfrm>
          <a:custGeom>
            <a:avLst/>
            <a:gdLst/>
            <a:ahLst/>
            <a:cxnLst/>
            <a:rect l="l" t="t" r="r" b="b"/>
            <a:pathLst>
              <a:path w="1209675" h="0">
                <a:moveTo>
                  <a:pt x="0" y="0"/>
                </a:moveTo>
                <a:lnTo>
                  <a:pt x="1209674" y="0"/>
                </a:lnTo>
              </a:path>
            </a:pathLst>
          </a:custGeom>
          <a:ln w="19049">
            <a:solidFill>
              <a:srgbClr val="585D6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901700" y="1778000"/>
            <a:ext cx="9300210" cy="1852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>
              <a:lnSpc>
                <a:spcPct val="100000"/>
              </a:lnSpc>
              <a:spcBef>
                <a:spcPts val="100"/>
              </a:spcBef>
              <a:tabLst>
                <a:tab pos="1446530" algn="l"/>
              </a:tabLst>
            </a:pP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Activity	</a:t>
            </a:r>
            <a:r>
              <a:rPr dirty="0" sz="1800" spc="-40">
                <a:solidFill>
                  <a:srgbClr val="585D60"/>
                </a:solidFill>
                <a:latin typeface="Arial"/>
                <a:cs typeface="Arial"/>
              </a:rPr>
              <a:t>Your</a:t>
            </a:r>
            <a:r>
              <a:rPr dirty="0" sz="1800" spc="-6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Solution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800" b="1">
                <a:latin typeface="Trebuchet MS"/>
                <a:cs typeface="Trebuchet MS"/>
              </a:rPr>
              <a:t>Items </a:t>
            </a:r>
            <a:r>
              <a:rPr dirty="0" sz="1800" spc="-65">
                <a:solidFill>
                  <a:srgbClr val="585D60"/>
                </a:solidFill>
                <a:latin typeface="Arial"/>
                <a:cs typeface="Arial"/>
              </a:rPr>
              <a:t>=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{</a:t>
            </a:r>
            <a:r>
              <a:rPr dirty="0" sz="1800" spc="-5">
                <a:solidFill>
                  <a:srgbClr val="376BB0"/>
                </a:solidFill>
                <a:latin typeface="Trebuchet MS"/>
                <a:cs typeface="Trebuchet MS"/>
              </a:rPr>
              <a:t>Milk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, </a:t>
            </a:r>
            <a:r>
              <a:rPr dirty="0" sz="1800" spc="-10">
                <a:solidFill>
                  <a:srgbClr val="F0017E"/>
                </a:solidFill>
                <a:latin typeface="Trebuchet MS"/>
                <a:cs typeface="Trebuchet MS"/>
              </a:rPr>
              <a:t>Coke</a:t>
            </a: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, </a:t>
            </a:r>
            <a:r>
              <a:rPr dirty="0" sz="1800" spc="10">
                <a:solidFill>
                  <a:srgbClr val="7EC87E"/>
                </a:solidFill>
                <a:latin typeface="Trebuchet MS"/>
                <a:cs typeface="Trebuchet MS"/>
              </a:rPr>
              <a:t>Pepsi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, </a:t>
            </a:r>
            <a:r>
              <a:rPr dirty="0" sz="1800" spc="-60">
                <a:solidFill>
                  <a:srgbClr val="FDBF86"/>
                </a:solidFill>
                <a:latin typeface="Trebuchet MS"/>
                <a:cs typeface="Trebuchet MS"/>
              </a:rPr>
              <a:t>Beer</a:t>
            </a:r>
            <a:r>
              <a:rPr dirty="0" sz="1800" spc="-60">
                <a:solidFill>
                  <a:srgbClr val="585D60"/>
                </a:solidFill>
                <a:latin typeface="Arial"/>
                <a:cs typeface="Arial"/>
              </a:rPr>
              <a:t>,</a:t>
            </a:r>
            <a:r>
              <a:rPr dirty="0" sz="1800" spc="-3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BEAED4"/>
                </a:solidFill>
                <a:latin typeface="Trebuchet MS"/>
                <a:cs typeface="Trebuchet MS"/>
              </a:rPr>
              <a:t>Juice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}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9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800" spc="-60" b="1">
                <a:solidFill>
                  <a:srgbClr val="C2132D"/>
                </a:solidFill>
                <a:latin typeface="Trebuchet MS"/>
                <a:cs typeface="Trebuchet MS"/>
              </a:rPr>
              <a:t>With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b="1">
                <a:solidFill>
                  <a:srgbClr val="C2132D"/>
                </a:solidFill>
                <a:latin typeface="Trebuchet MS"/>
                <a:cs typeface="Trebuchet MS"/>
              </a:rPr>
              <a:t>a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25" b="1">
                <a:solidFill>
                  <a:srgbClr val="C2132D"/>
                </a:solidFill>
                <a:latin typeface="Trebuchet MS"/>
                <a:cs typeface="Trebuchet MS"/>
              </a:rPr>
              <a:t>support</a:t>
            </a:r>
            <a:r>
              <a:rPr dirty="0" sz="1800" spc="-8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40" b="1">
                <a:solidFill>
                  <a:srgbClr val="C2132D"/>
                </a:solidFill>
                <a:latin typeface="Trebuchet MS"/>
                <a:cs typeface="Trebuchet MS"/>
              </a:rPr>
              <a:t>threshold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15" b="1">
                <a:solidFill>
                  <a:srgbClr val="C2132D"/>
                </a:solidFill>
                <a:latin typeface="Trebuchet MS"/>
                <a:cs typeface="Trebuchet MS"/>
              </a:rPr>
              <a:t>of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25" b="1">
                <a:solidFill>
                  <a:srgbClr val="C2132D"/>
                </a:solidFill>
                <a:latin typeface="Trebuchet MS"/>
                <a:cs typeface="Trebuchet MS"/>
              </a:rPr>
              <a:t>3</a:t>
            </a:r>
            <a:r>
              <a:rPr dirty="0" sz="1800" spc="-8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25" b="1">
                <a:solidFill>
                  <a:srgbClr val="C2132D"/>
                </a:solidFill>
                <a:latin typeface="Trebuchet MS"/>
                <a:cs typeface="Trebuchet MS"/>
              </a:rPr>
              <a:t>baskets,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50" b="1">
                <a:solidFill>
                  <a:srgbClr val="C2132D"/>
                </a:solidFill>
                <a:latin typeface="Trebuchet MS"/>
                <a:cs typeface="Trebuchet MS"/>
              </a:rPr>
              <a:t>find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35" b="1">
                <a:solidFill>
                  <a:srgbClr val="C2132D"/>
                </a:solidFill>
                <a:latin typeface="Trebuchet MS"/>
                <a:cs typeface="Trebuchet MS"/>
              </a:rPr>
              <a:t>all</a:t>
            </a:r>
            <a:r>
              <a:rPr dirty="0" sz="1800" spc="-8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70" b="1">
                <a:solidFill>
                  <a:srgbClr val="C2132D"/>
                </a:solidFill>
                <a:latin typeface="Trebuchet MS"/>
                <a:cs typeface="Trebuchet MS"/>
              </a:rPr>
              <a:t>frequent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15" b="1">
                <a:solidFill>
                  <a:srgbClr val="C2132D"/>
                </a:solidFill>
                <a:latin typeface="Trebuchet MS"/>
                <a:cs typeface="Trebuchet MS"/>
              </a:rPr>
              <a:t>itemsets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5" b="1">
                <a:solidFill>
                  <a:srgbClr val="C2132D"/>
                </a:solidFill>
                <a:latin typeface="Trebuchet MS"/>
                <a:cs typeface="Trebuchet MS"/>
              </a:rPr>
              <a:t>based</a:t>
            </a:r>
            <a:r>
              <a:rPr dirty="0" sz="1800" spc="-8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30" b="1">
                <a:solidFill>
                  <a:srgbClr val="C2132D"/>
                </a:solidFill>
                <a:latin typeface="Trebuchet MS"/>
                <a:cs typeface="Trebuchet MS"/>
              </a:rPr>
              <a:t>on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30" b="1">
                <a:solidFill>
                  <a:srgbClr val="C2132D"/>
                </a:solidFill>
                <a:latin typeface="Trebuchet MS"/>
                <a:cs typeface="Trebuchet MS"/>
              </a:rPr>
              <a:t>these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25" b="1">
                <a:solidFill>
                  <a:srgbClr val="C2132D"/>
                </a:solidFill>
                <a:latin typeface="Trebuchet MS"/>
                <a:cs typeface="Trebuchet MS"/>
              </a:rPr>
              <a:t>8</a:t>
            </a:r>
            <a:r>
              <a:rPr dirty="0" sz="1800" spc="-8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15" b="1">
                <a:solidFill>
                  <a:srgbClr val="C2132D"/>
                </a:solidFill>
                <a:latin typeface="Trebuchet MS"/>
                <a:cs typeface="Trebuchet MS"/>
              </a:rPr>
              <a:t>baskets: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403080" y="182880"/>
            <a:ext cx="1978660" cy="966469"/>
          </a:xfrm>
          <a:custGeom>
            <a:avLst/>
            <a:gdLst/>
            <a:ahLst/>
            <a:cxnLst/>
            <a:rect l="l" t="t" r="r" b="b"/>
            <a:pathLst>
              <a:path w="1978659" h="966469">
                <a:moveTo>
                  <a:pt x="1978152" y="966216"/>
                </a:moveTo>
                <a:lnTo>
                  <a:pt x="0" y="966216"/>
                </a:lnTo>
                <a:lnTo>
                  <a:pt x="0" y="0"/>
                </a:lnTo>
                <a:lnTo>
                  <a:pt x="1978152" y="0"/>
                </a:lnTo>
                <a:lnTo>
                  <a:pt x="1978152" y="102870"/>
                </a:lnTo>
                <a:lnTo>
                  <a:pt x="274319" y="102870"/>
                </a:lnTo>
                <a:lnTo>
                  <a:pt x="261182" y="103504"/>
                </a:lnTo>
                <a:lnTo>
                  <a:pt x="223287" y="113020"/>
                </a:lnTo>
                <a:lnTo>
                  <a:pt x="189762" y="133087"/>
                </a:lnTo>
                <a:lnTo>
                  <a:pt x="163420" y="162120"/>
                </a:lnTo>
                <a:lnTo>
                  <a:pt x="146677" y="197568"/>
                </a:lnTo>
                <a:lnTo>
                  <a:pt x="140969" y="236220"/>
                </a:lnTo>
                <a:lnTo>
                  <a:pt x="140969" y="655320"/>
                </a:lnTo>
                <a:lnTo>
                  <a:pt x="146677" y="693971"/>
                </a:lnTo>
                <a:lnTo>
                  <a:pt x="163420" y="729419"/>
                </a:lnTo>
                <a:lnTo>
                  <a:pt x="189762" y="758452"/>
                </a:lnTo>
                <a:lnTo>
                  <a:pt x="223287" y="778519"/>
                </a:lnTo>
                <a:lnTo>
                  <a:pt x="261182" y="788035"/>
                </a:lnTo>
                <a:lnTo>
                  <a:pt x="274319" y="788670"/>
                </a:lnTo>
                <a:lnTo>
                  <a:pt x="1978152" y="788670"/>
                </a:lnTo>
                <a:lnTo>
                  <a:pt x="1978152" y="966216"/>
                </a:lnTo>
                <a:close/>
              </a:path>
              <a:path w="1978659" h="966469">
                <a:moveTo>
                  <a:pt x="1978152" y="788670"/>
                </a:moveTo>
                <a:lnTo>
                  <a:pt x="1703069" y="788670"/>
                </a:lnTo>
                <a:lnTo>
                  <a:pt x="1716205" y="788035"/>
                </a:lnTo>
                <a:lnTo>
                  <a:pt x="1729088" y="786132"/>
                </a:lnTo>
                <a:lnTo>
                  <a:pt x="1765992" y="772906"/>
                </a:lnTo>
                <a:lnTo>
                  <a:pt x="1797360" y="749612"/>
                </a:lnTo>
                <a:lnTo>
                  <a:pt x="1820653" y="718244"/>
                </a:lnTo>
                <a:lnTo>
                  <a:pt x="1833880" y="681340"/>
                </a:lnTo>
                <a:lnTo>
                  <a:pt x="1836419" y="655320"/>
                </a:lnTo>
                <a:lnTo>
                  <a:pt x="1836419" y="236220"/>
                </a:lnTo>
                <a:lnTo>
                  <a:pt x="1830708" y="197568"/>
                </a:lnTo>
                <a:lnTo>
                  <a:pt x="1813965" y="162120"/>
                </a:lnTo>
                <a:lnTo>
                  <a:pt x="1787623" y="133087"/>
                </a:lnTo>
                <a:lnTo>
                  <a:pt x="1754098" y="113020"/>
                </a:lnTo>
                <a:lnTo>
                  <a:pt x="1716205" y="103504"/>
                </a:lnTo>
                <a:lnTo>
                  <a:pt x="1703069" y="102870"/>
                </a:lnTo>
                <a:lnTo>
                  <a:pt x="1978152" y="102870"/>
                </a:lnTo>
                <a:lnTo>
                  <a:pt x="1978152" y="788670"/>
                </a:lnTo>
                <a:close/>
              </a:path>
            </a:pathLst>
          </a:custGeom>
          <a:solidFill>
            <a:srgbClr val="323232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9548811" y="290512"/>
            <a:ext cx="1685925" cy="676275"/>
          </a:xfrm>
          <a:custGeom>
            <a:avLst/>
            <a:gdLst/>
            <a:ahLst/>
            <a:cxnLst/>
            <a:rect l="l" t="t" r="r" b="b"/>
            <a:pathLst>
              <a:path w="1685925" h="676275">
                <a:moveTo>
                  <a:pt x="1565780" y="676274"/>
                </a:moveTo>
                <a:lnTo>
                  <a:pt x="120144" y="676274"/>
                </a:lnTo>
                <a:lnTo>
                  <a:pt x="111782" y="675451"/>
                </a:lnTo>
                <a:lnTo>
                  <a:pt x="71578" y="663255"/>
                </a:lnTo>
                <a:lnTo>
                  <a:pt x="31692" y="632642"/>
                </a:lnTo>
                <a:lnTo>
                  <a:pt x="6556" y="589095"/>
                </a:lnTo>
                <a:lnTo>
                  <a:pt x="0" y="556130"/>
                </a:lnTo>
                <a:lnTo>
                  <a:pt x="0" y="120144"/>
                </a:lnTo>
                <a:lnTo>
                  <a:pt x="13018" y="71578"/>
                </a:lnTo>
                <a:lnTo>
                  <a:pt x="43632" y="31692"/>
                </a:lnTo>
                <a:lnTo>
                  <a:pt x="87178" y="6557"/>
                </a:lnTo>
                <a:lnTo>
                  <a:pt x="120144" y="0"/>
                </a:lnTo>
                <a:lnTo>
                  <a:pt x="1565780" y="0"/>
                </a:lnTo>
                <a:lnTo>
                  <a:pt x="1614345" y="13019"/>
                </a:lnTo>
                <a:lnTo>
                  <a:pt x="1654232" y="43632"/>
                </a:lnTo>
                <a:lnTo>
                  <a:pt x="1679366" y="87179"/>
                </a:lnTo>
                <a:lnTo>
                  <a:pt x="1685925" y="120144"/>
                </a:lnTo>
                <a:lnTo>
                  <a:pt x="1685925" y="556130"/>
                </a:lnTo>
                <a:lnTo>
                  <a:pt x="1672904" y="604696"/>
                </a:lnTo>
                <a:lnTo>
                  <a:pt x="1642292" y="644582"/>
                </a:lnTo>
                <a:lnTo>
                  <a:pt x="1598743" y="669717"/>
                </a:lnTo>
                <a:lnTo>
                  <a:pt x="1565780" y="67627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9548810" y="290512"/>
            <a:ext cx="1685925" cy="676275"/>
          </a:xfrm>
          <a:custGeom>
            <a:avLst/>
            <a:gdLst/>
            <a:ahLst/>
            <a:cxnLst/>
            <a:rect l="l" t="t" r="r" b="b"/>
            <a:pathLst>
              <a:path w="1685925" h="676275">
                <a:moveTo>
                  <a:pt x="0" y="547687"/>
                </a:moveTo>
                <a:lnTo>
                  <a:pt x="0" y="128587"/>
                </a:lnTo>
                <a:lnTo>
                  <a:pt x="0" y="120144"/>
                </a:lnTo>
                <a:lnTo>
                  <a:pt x="823" y="111782"/>
                </a:lnTo>
                <a:lnTo>
                  <a:pt x="2470" y="103501"/>
                </a:lnTo>
                <a:lnTo>
                  <a:pt x="4117" y="95220"/>
                </a:lnTo>
                <a:lnTo>
                  <a:pt x="6556" y="87179"/>
                </a:lnTo>
                <a:lnTo>
                  <a:pt x="9787" y="79379"/>
                </a:lnTo>
                <a:lnTo>
                  <a:pt x="13018" y="71578"/>
                </a:lnTo>
                <a:lnTo>
                  <a:pt x="37662" y="37662"/>
                </a:lnTo>
                <a:lnTo>
                  <a:pt x="43632" y="31692"/>
                </a:lnTo>
                <a:lnTo>
                  <a:pt x="50127" y="26361"/>
                </a:lnTo>
                <a:lnTo>
                  <a:pt x="57147" y="21670"/>
                </a:lnTo>
                <a:lnTo>
                  <a:pt x="64167" y="16980"/>
                </a:lnTo>
                <a:lnTo>
                  <a:pt x="71577" y="13019"/>
                </a:lnTo>
                <a:lnTo>
                  <a:pt x="79378" y="9788"/>
                </a:lnTo>
                <a:lnTo>
                  <a:pt x="87178" y="6557"/>
                </a:lnTo>
                <a:lnTo>
                  <a:pt x="95219" y="4117"/>
                </a:lnTo>
                <a:lnTo>
                  <a:pt x="103501" y="2470"/>
                </a:lnTo>
                <a:lnTo>
                  <a:pt x="111782" y="823"/>
                </a:lnTo>
                <a:lnTo>
                  <a:pt x="120144" y="0"/>
                </a:lnTo>
                <a:lnTo>
                  <a:pt x="128588" y="0"/>
                </a:lnTo>
                <a:lnTo>
                  <a:pt x="1557337" y="0"/>
                </a:lnTo>
                <a:lnTo>
                  <a:pt x="1565780" y="0"/>
                </a:lnTo>
                <a:lnTo>
                  <a:pt x="1574142" y="823"/>
                </a:lnTo>
                <a:lnTo>
                  <a:pt x="1582422" y="2470"/>
                </a:lnTo>
                <a:lnTo>
                  <a:pt x="1590703" y="4117"/>
                </a:lnTo>
                <a:lnTo>
                  <a:pt x="1598743" y="6557"/>
                </a:lnTo>
                <a:lnTo>
                  <a:pt x="1606544" y="9788"/>
                </a:lnTo>
                <a:lnTo>
                  <a:pt x="1614344" y="13019"/>
                </a:lnTo>
                <a:lnTo>
                  <a:pt x="1648262" y="37662"/>
                </a:lnTo>
                <a:lnTo>
                  <a:pt x="1672904" y="71578"/>
                </a:lnTo>
                <a:lnTo>
                  <a:pt x="1685101" y="111782"/>
                </a:lnTo>
                <a:lnTo>
                  <a:pt x="1685925" y="120144"/>
                </a:lnTo>
                <a:lnTo>
                  <a:pt x="1685925" y="128587"/>
                </a:lnTo>
                <a:lnTo>
                  <a:pt x="1685925" y="547687"/>
                </a:lnTo>
                <a:lnTo>
                  <a:pt x="1685925" y="556130"/>
                </a:lnTo>
                <a:lnTo>
                  <a:pt x="1685101" y="564492"/>
                </a:lnTo>
                <a:lnTo>
                  <a:pt x="1672904" y="604696"/>
                </a:lnTo>
                <a:lnTo>
                  <a:pt x="1648262" y="638612"/>
                </a:lnTo>
                <a:lnTo>
                  <a:pt x="1628775" y="654603"/>
                </a:lnTo>
                <a:lnTo>
                  <a:pt x="1621754" y="659294"/>
                </a:lnTo>
                <a:lnTo>
                  <a:pt x="1614344" y="663255"/>
                </a:lnTo>
                <a:lnTo>
                  <a:pt x="1606544" y="666486"/>
                </a:lnTo>
                <a:lnTo>
                  <a:pt x="1598743" y="669717"/>
                </a:lnTo>
                <a:lnTo>
                  <a:pt x="1590703" y="672156"/>
                </a:lnTo>
                <a:lnTo>
                  <a:pt x="1582422" y="673804"/>
                </a:lnTo>
                <a:lnTo>
                  <a:pt x="1574142" y="675451"/>
                </a:lnTo>
                <a:lnTo>
                  <a:pt x="1565780" y="676274"/>
                </a:lnTo>
                <a:lnTo>
                  <a:pt x="1557337" y="676274"/>
                </a:lnTo>
                <a:lnTo>
                  <a:pt x="128588" y="676274"/>
                </a:lnTo>
                <a:lnTo>
                  <a:pt x="120144" y="676274"/>
                </a:lnTo>
                <a:lnTo>
                  <a:pt x="111782" y="675451"/>
                </a:lnTo>
                <a:lnTo>
                  <a:pt x="103501" y="673804"/>
                </a:lnTo>
                <a:lnTo>
                  <a:pt x="95219" y="672156"/>
                </a:lnTo>
                <a:lnTo>
                  <a:pt x="87178" y="669717"/>
                </a:lnTo>
                <a:lnTo>
                  <a:pt x="79378" y="666486"/>
                </a:lnTo>
                <a:lnTo>
                  <a:pt x="71578" y="663255"/>
                </a:lnTo>
                <a:lnTo>
                  <a:pt x="64167" y="659294"/>
                </a:lnTo>
                <a:lnTo>
                  <a:pt x="57147" y="654603"/>
                </a:lnTo>
                <a:lnTo>
                  <a:pt x="50127" y="649913"/>
                </a:lnTo>
                <a:lnTo>
                  <a:pt x="21670" y="619126"/>
                </a:lnTo>
                <a:lnTo>
                  <a:pt x="16979" y="612106"/>
                </a:lnTo>
                <a:lnTo>
                  <a:pt x="13018" y="604696"/>
                </a:lnTo>
                <a:lnTo>
                  <a:pt x="9787" y="596895"/>
                </a:lnTo>
                <a:lnTo>
                  <a:pt x="6556" y="589095"/>
                </a:lnTo>
                <a:lnTo>
                  <a:pt x="4117" y="581054"/>
                </a:lnTo>
                <a:lnTo>
                  <a:pt x="2470" y="572773"/>
                </a:lnTo>
                <a:lnTo>
                  <a:pt x="823" y="564492"/>
                </a:lnTo>
                <a:lnTo>
                  <a:pt x="0" y="556130"/>
                </a:lnTo>
                <a:lnTo>
                  <a:pt x="0" y="547687"/>
                </a:lnTo>
                <a:close/>
              </a:path>
            </a:pathLst>
          </a:custGeom>
          <a:ln w="28574">
            <a:solidFill>
              <a:srgbClr val="DDDDD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926846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04:00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20700"/>
            <a:ext cx="3729990" cy="6540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4100" spc="-114">
                <a:latin typeface="Trebuchet MS"/>
                <a:cs typeface="Trebuchet MS"/>
              </a:rPr>
              <a:t>Association</a:t>
            </a:r>
            <a:r>
              <a:rPr dirty="0" sz="4100" spc="-355">
                <a:latin typeface="Trebuchet MS"/>
                <a:cs typeface="Trebuchet MS"/>
              </a:rPr>
              <a:t> </a:t>
            </a:r>
            <a:r>
              <a:rPr dirty="0" sz="4100" spc="-160">
                <a:latin typeface="Trebuchet MS"/>
                <a:cs typeface="Trebuchet MS"/>
              </a:rPr>
              <a:t>Rules</a:t>
            </a:r>
            <a:endParaRPr sz="41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36054" y="1530350"/>
            <a:ext cx="8702675" cy="16046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8750" indent="-133985">
              <a:lnSpc>
                <a:spcPct val="100000"/>
              </a:lnSpc>
              <a:spcBef>
                <a:spcPts val="100"/>
              </a:spcBef>
              <a:buFont typeface="Trebuchet MS"/>
              <a:buChar char="•"/>
              <a:tabLst>
                <a:tab pos="159385" algn="l"/>
              </a:tabLst>
            </a:pPr>
            <a:r>
              <a:rPr dirty="0" sz="1800" spc="5" b="1">
                <a:solidFill>
                  <a:srgbClr val="C2132D"/>
                </a:solidFill>
                <a:latin typeface="Trebuchet MS"/>
                <a:cs typeface="Trebuchet MS"/>
              </a:rPr>
              <a:t>Association</a:t>
            </a:r>
            <a:r>
              <a:rPr dirty="0" sz="1800" spc="-9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25" b="1">
                <a:solidFill>
                  <a:srgbClr val="C2132D"/>
                </a:solidFill>
                <a:latin typeface="Trebuchet MS"/>
                <a:cs typeface="Trebuchet MS"/>
              </a:rPr>
              <a:t>Rules:</a:t>
            </a:r>
            <a:r>
              <a:rPr dirty="0" sz="1800" spc="-10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If-then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rules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about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5">
                <a:solidFill>
                  <a:srgbClr val="585D60"/>
                </a:solidFill>
                <a:latin typeface="Arial"/>
                <a:cs typeface="Arial"/>
              </a:rPr>
              <a:t>contents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Arial"/>
                <a:cs typeface="Arial"/>
              </a:rPr>
              <a:t>of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baskets</a:t>
            </a:r>
            <a:endParaRPr sz="1800">
              <a:latin typeface="Arial"/>
              <a:cs typeface="Arial"/>
            </a:endParaRPr>
          </a:p>
          <a:p>
            <a:pPr marL="15875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Char char="•"/>
              <a:tabLst>
                <a:tab pos="159385" algn="l"/>
              </a:tabLst>
            </a:pPr>
            <a:r>
              <a:rPr dirty="0" sz="1800" spc="-100">
                <a:solidFill>
                  <a:srgbClr val="FFA500"/>
                </a:solidFill>
                <a:latin typeface="Trebuchet MS"/>
                <a:cs typeface="Trebuchet MS"/>
              </a:rPr>
              <a:t>{i</a:t>
            </a:r>
            <a:r>
              <a:rPr dirty="0" baseline="-12345" sz="2025" spc="-150">
                <a:solidFill>
                  <a:srgbClr val="FFA500"/>
                </a:solidFill>
                <a:latin typeface="Trebuchet MS"/>
                <a:cs typeface="Trebuchet MS"/>
              </a:rPr>
              <a:t>1</a:t>
            </a:r>
            <a:r>
              <a:rPr dirty="0" sz="1800" spc="-100">
                <a:solidFill>
                  <a:srgbClr val="FFA500"/>
                </a:solidFill>
                <a:latin typeface="Trebuchet MS"/>
                <a:cs typeface="Trebuchet MS"/>
              </a:rPr>
              <a:t>, </a:t>
            </a:r>
            <a:r>
              <a:rPr dirty="0" sz="1800" spc="-110">
                <a:solidFill>
                  <a:srgbClr val="FFA500"/>
                </a:solidFill>
                <a:latin typeface="Trebuchet MS"/>
                <a:cs typeface="Trebuchet MS"/>
              </a:rPr>
              <a:t>i</a:t>
            </a:r>
            <a:r>
              <a:rPr dirty="0" baseline="-12345" sz="2025" spc="-165">
                <a:solidFill>
                  <a:srgbClr val="FFA500"/>
                </a:solidFill>
                <a:latin typeface="Trebuchet MS"/>
                <a:cs typeface="Trebuchet MS"/>
              </a:rPr>
              <a:t>2</a:t>
            </a:r>
            <a:r>
              <a:rPr dirty="0" sz="1800" spc="-110">
                <a:solidFill>
                  <a:srgbClr val="FFA500"/>
                </a:solidFill>
                <a:latin typeface="Trebuchet MS"/>
                <a:cs typeface="Trebuchet MS"/>
              </a:rPr>
              <a:t>,…,i</a:t>
            </a:r>
            <a:r>
              <a:rPr dirty="0" baseline="-12345" sz="2025" spc="-165">
                <a:solidFill>
                  <a:srgbClr val="FFA500"/>
                </a:solidFill>
                <a:latin typeface="Trebuchet MS"/>
                <a:cs typeface="Trebuchet MS"/>
              </a:rPr>
              <a:t>k</a:t>
            </a:r>
            <a:r>
              <a:rPr dirty="0" sz="1800" spc="-110">
                <a:solidFill>
                  <a:srgbClr val="FFA500"/>
                </a:solidFill>
                <a:latin typeface="Trebuchet MS"/>
                <a:cs typeface="Trebuchet MS"/>
              </a:rPr>
              <a:t>}</a:t>
            </a:r>
            <a:r>
              <a:rPr dirty="0" sz="1800" spc="-95">
                <a:solidFill>
                  <a:srgbClr val="FFA50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A500"/>
                </a:solidFill>
                <a:latin typeface="Arial"/>
                <a:cs typeface="Arial"/>
              </a:rPr>
              <a:t>→</a:t>
            </a:r>
            <a:r>
              <a:rPr dirty="0" sz="1800" spc="-50">
                <a:solidFill>
                  <a:srgbClr val="FFA500"/>
                </a:solidFill>
                <a:latin typeface="Arial"/>
                <a:cs typeface="Arial"/>
              </a:rPr>
              <a:t> </a:t>
            </a:r>
            <a:r>
              <a:rPr dirty="0" sz="1800" spc="-229">
                <a:solidFill>
                  <a:srgbClr val="FFA500"/>
                </a:solidFill>
                <a:latin typeface="Trebuchet MS"/>
                <a:cs typeface="Trebuchet MS"/>
              </a:rPr>
              <a:t>j</a:t>
            </a:r>
            <a:r>
              <a:rPr dirty="0" sz="1800" spc="-90">
                <a:solidFill>
                  <a:srgbClr val="FFA500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means: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Arial"/>
                <a:cs typeface="Arial"/>
              </a:rPr>
              <a:t>"if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585D60"/>
                </a:solidFill>
                <a:latin typeface="Arial"/>
                <a:cs typeface="Arial"/>
              </a:rPr>
              <a:t>a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basket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contains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all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Arial"/>
                <a:cs typeface="Arial"/>
              </a:rPr>
              <a:t>of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5" i="1">
                <a:solidFill>
                  <a:srgbClr val="585D60"/>
                </a:solidFill>
                <a:latin typeface="Verdana"/>
                <a:cs typeface="Verdana"/>
              </a:rPr>
              <a:t>i</a:t>
            </a:r>
            <a:r>
              <a:rPr dirty="0" baseline="-11111" sz="1875" spc="22">
                <a:solidFill>
                  <a:srgbClr val="585D60"/>
                </a:solidFill>
                <a:latin typeface="Lucida Sans Unicode"/>
                <a:cs typeface="Lucida Sans Unicode"/>
              </a:rPr>
              <a:t>1</a:t>
            </a:r>
            <a:r>
              <a:rPr dirty="0" sz="1800" spc="15">
                <a:solidFill>
                  <a:srgbClr val="585D60"/>
                </a:solidFill>
                <a:latin typeface="Lucida Sans Unicode"/>
                <a:cs typeface="Lucida Sans Unicode"/>
              </a:rPr>
              <a:t>,</a:t>
            </a:r>
            <a:r>
              <a:rPr dirty="0" sz="1800" spc="-27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305">
                <a:solidFill>
                  <a:srgbClr val="585D60"/>
                </a:solidFill>
                <a:latin typeface="Lucida Sans Unicode"/>
                <a:cs typeface="Lucida Sans Unicode"/>
              </a:rPr>
              <a:t>…</a:t>
            </a:r>
            <a:r>
              <a:rPr dirty="0" sz="1800" spc="-26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70">
                <a:solidFill>
                  <a:srgbClr val="585D60"/>
                </a:solidFill>
                <a:latin typeface="Lucida Sans Unicode"/>
                <a:cs typeface="Lucida Sans Unicode"/>
              </a:rPr>
              <a:t>,</a:t>
            </a:r>
            <a:r>
              <a:rPr dirty="0" sz="1800" spc="-26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00" spc="80" i="1">
                <a:solidFill>
                  <a:srgbClr val="585D60"/>
                </a:solidFill>
                <a:latin typeface="Verdana"/>
                <a:cs typeface="Verdana"/>
              </a:rPr>
              <a:t>i</a:t>
            </a:r>
            <a:r>
              <a:rPr dirty="0" baseline="-12077" sz="1725" spc="120" i="1">
                <a:solidFill>
                  <a:srgbClr val="585D60"/>
                </a:solidFill>
                <a:latin typeface="Verdana"/>
                <a:cs typeface="Verdana"/>
              </a:rPr>
              <a:t>k</a:t>
            </a:r>
            <a:r>
              <a:rPr dirty="0" baseline="-12077" sz="1725" spc="202" i="1">
                <a:solidFill>
                  <a:srgbClr val="585D60"/>
                </a:solidFill>
                <a:latin typeface="Verdana"/>
                <a:cs typeface="Verdana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then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60">
                <a:solidFill>
                  <a:srgbClr val="585D60"/>
                </a:solidFill>
                <a:latin typeface="Arial"/>
                <a:cs typeface="Arial"/>
              </a:rPr>
              <a:t>it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Arial"/>
                <a:cs typeface="Arial"/>
              </a:rPr>
              <a:t>is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likely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585D60"/>
                </a:solidFill>
                <a:latin typeface="Arial"/>
                <a:cs typeface="Arial"/>
              </a:rPr>
              <a:t>to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contain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60" i="1">
                <a:solidFill>
                  <a:srgbClr val="585D60"/>
                </a:solidFill>
                <a:latin typeface="Verdana"/>
                <a:cs typeface="Verdana"/>
              </a:rPr>
              <a:t>j</a:t>
            </a:r>
            <a:r>
              <a:rPr dirty="0" sz="1800" spc="60">
                <a:solidFill>
                  <a:srgbClr val="585D60"/>
                </a:solidFill>
                <a:latin typeface="Arial"/>
                <a:cs typeface="Arial"/>
              </a:rPr>
              <a:t>"</a:t>
            </a:r>
            <a:endParaRPr sz="1800">
              <a:latin typeface="Arial"/>
              <a:cs typeface="Arial"/>
            </a:endParaRPr>
          </a:p>
          <a:p>
            <a:pPr marL="158750" indent="-133985">
              <a:lnSpc>
                <a:spcPct val="100000"/>
              </a:lnSpc>
              <a:spcBef>
                <a:spcPts val="1215"/>
              </a:spcBef>
              <a:buFont typeface="Trebuchet MS"/>
              <a:buChar char="•"/>
              <a:tabLst>
                <a:tab pos="159385" algn="l"/>
              </a:tabLst>
            </a:pPr>
            <a:r>
              <a:rPr dirty="0" sz="1800" spc="-15" b="1">
                <a:solidFill>
                  <a:srgbClr val="C2132D"/>
                </a:solidFill>
                <a:latin typeface="Trebuchet MS"/>
                <a:cs typeface="Trebuchet MS"/>
              </a:rPr>
              <a:t>In</a:t>
            </a:r>
            <a:r>
              <a:rPr dirty="0" sz="1800" spc="-9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50" b="1">
                <a:solidFill>
                  <a:srgbClr val="C2132D"/>
                </a:solidFill>
                <a:latin typeface="Trebuchet MS"/>
                <a:cs typeface="Trebuchet MS"/>
              </a:rPr>
              <a:t>practice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85" b="1">
                <a:solidFill>
                  <a:srgbClr val="C2132D"/>
                </a:solidFill>
                <a:latin typeface="Trebuchet MS"/>
                <a:cs typeface="Trebuchet MS"/>
              </a:rPr>
              <a:t>there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65" b="1">
                <a:solidFill>
                  <a:srgbClr val="C2132D"/>
                </a:solidFill>
                <a:latin typeface="Trebuchet MS"/>
                <a:cs typeface="Trebuchet MS"/>
              </a:rPr>
              <a:t>are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25" b="1">
                <a:solidFill>
                  <a:srgbClr val="C2132D"/>
                </a:solidFill>
                <a:latin typeface="Trebuchet MS"/>
                <a:cs typeface="Trebuchet MS"/>
              </a:rPr>
              <a:t>many</a:t>
            </a:r>
            <a:r>
              <a:rPr dirty="0" sz="1800" spc="-9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60" b="1">
                <a:solidFill>
                  <a:srgbClr val="C2132D"/>
                </a:solidFill>
                <a:latin typeface="Trebuchet MS"/>
                <a:cs typeface="Trebuchet MS"/>
              </a:rPr>
              <a:t>rules,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65" b="1">
                <a:solidFill>
                  <a:srgbClr val="C2132D"/>
                </a:solidFill>
                <a:latin typeface="Trebuchet MS"/>
                <a:cs typeface="Trebuchet MS"/>
              </a:rPr>
              <a:t>want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70" b="1">
                <a:solidFill>
                  <a:srgbClr val="C2132D"/>
                </a:solidFill>
                <a:latin typeface="Trebuchet MS"/>
                <a:cs typeface="Trebuchet MS"/>
              </a:rPr>
              <a:t>to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50" b="1">
                <a:solidFill>
                  <a:srgbClr val="C2132D"/>
                </a:solidFill>
                <a:latin typeface="Trebuchet MS"/>
                <a:cs typeface="Trebuchet MS"/>
              </a:rPr>
              <a:t>find</a:t>
            </a:r>
            <a:r>
              <a:rPr dirty="0" sz="1800" spc="-9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30" b="1">
                <a:solidFill>
                  <a:srgbClr val="C2132D"/>
                </a:solidFill>
                <a:latin typeface="Trebuchet MS"/>
                <a:cs typeface="Trebuchet MS"/>
              </a:rPr>
              <a:t>significant/interesting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30" b="1">
                <a:solidFill>
                  <a:srgbClr val="C2132D"/>
                </a:solidFill>
                <a:latin typeface="Trebuchet MS"/>
                <a:cs typeface="Trebuchet MS"/>
              </a:rPr>
              <a:t>ones!</a:t>
            </a:r>
            <a:endParaRPr sz="1800">
              <a:latin typeface="Trebuchet MS"/>
              <a:cs typeface="Trebuchet MS"/>
            </a:endParaRPr>
          </a:p>
          <a:p>
            <a:pPr marL="158750" indent="-133985">
              <a:lnSpc>
                <a:spcPct val="100000"/>
              </a:lnSpc>
              <a:spcBef>
                <a:spcPts val="1290"/>
              </a:spcBef>
              <a:buFont typeface="Trebuchet MS"/>
              <a:buChar char="•"/>
              <a:tabLst>
                <a:tab pos="159385" algn="l"/>
              </a:tabLst>
            </a:pPr>
            <a:r>
              <a:rPr dirty="0" sz="1800" spc="-30" b="1">
                <a:solidFill>
                  <a:srgbClr val="C2132D"/>
                </a:solidFill>
                <a:latin typeface="Trebuchet MS"/>
                <a:cs typeface="Trebuchet MS"/>
              </a:rPr>
              <a:t>Confidence</a:t>
            </a:r>
            <a:r>
              <a:rPr dirty="0" sz="1800" spc="-10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Arial"/>
                <a:cs typeface="Arial"/>
              </a:rPr>
              <a:t>of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5">
                <a:solidFill>
                  <a:srgbClr val="585D60"/>
                </a:solidFill>
                <a:latin typeface="Arial"/>
                <a:cs typeface="Arial"/>
              </a:rPr>
              <a:t>this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association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rule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Arial"/>
                <a:cs typeface="Arial"/>
              </a:rPr>
              <a:t>is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probability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Arial"/>
                <a:cs typeface="Arial"/>
              </a:rPr>
              <a:t>of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90" i="1">
                <a:solidFill>
                  <a:srgbClr val="585D60"/>
                </a:solidFill>
                <a:latin typeface="Verdana"/>
                <a:cs typeface="Verdana"/>
              </a:rPr>
              <a:t>j</a:t>
            </a:r>
            <a:r>
              <a:rPr dirty="0" sz="1600" spc="-114" i="1">
                <a:solidFill>
                  <a:srgbClr val="585D60"/>
                </a:solidFill>
                <a:latin typeface="Verdana"/>
                <a:cs typeface="Verdana"/>
              </a:rPr>
              <a:t> </a:t>
            </a: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given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14" i="1">
                <a:solidFill>
                  <a:srgbClr val="585D60"/>
                </a:solidFill>
                <a:latin typeface="Verdana"/>
                <a:cs typeface="Verdana"/>
              </a:rPr>
              <a:t>I</a:t>
            </a:r>
            <a:r>
              <a:rPr dirty="0" sz="1600" spc="50" i="1">
                <a:solidFill>
                  <a:srgbClr val="585D60"/>
                </a:solidFill>
                <a:latin typeface="Verdana"/>
                <a:cs typeface="Verdana"/>
              </a:rPr>
              <a:t>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=</a:t>
            </a:r>
            <a:r>
              <a:rPr dirty="0" sz="1800" spc="-12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90">
                <a:solidFill>
                  <a:srgbClr val="585D60"/>
                </a:solidFill>
                <a:latin typeface="Arial"/>
                <a:cs typeface="Arial"/>
              </a:rPr>
              <a:t>{i</a:t>
            </a:r>
            <a:r>
              <a:rPr dirty="0" baseline="-12345" sz="2025" spc="-135">
                <a:solidFill>
                  <a:srgbClr val="585D60"/>
                </a:solidFill>
                <a:latin typeface="Arial"/>
                <a:cs typeface="Arial"/>
              </a:rPr>
              <a:t>1</a:t>
            </a:r>
            <a:r>
              <a:rPr dirty="0" sz="1800" spc="-90">
                <a:solidFill>
                  <a:srgbClr val="585D60"/>
                </a:solidFill>
                <a:latin typeface="Arial"/>
                <a:cs typeface="Arial"/>
              </a:rPr>
              <a:t>,…,i</a:t>
            </a:r>
            <a:r>
              <a:rPr dirty="0" baseline="-12345" sz="2025" spc="-135">
                <a:solidFill>
                  <a:srgbClr val="585D60"/>
                </a:solidFill>
                <a:latin typeface="Arial"/>
                <a:cs typeface="Arial"/>
              </a:rPr>
              <a:t>k</a:t>
            </a:r>
            <a:r>
              <a:rPr dirty="0" sz="1800" spc="-90">
                <a:solidFill>
                  <a:srgbClr val="585D60"/>
                </a:solidFill>
                <a:latin typeface="Arial"/>
                <a:cs typeface="Arial"/>
              </a:rPr>
              <a:t>}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23208" y="3406774"/>
            <a:ext cx="25253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95" i="1">
                <a:solidFill>
                  <a:srgbClr val="585D60"/>
                </a:solidFill>
                <a:latin typeface="Verdana"/>
                <a:cs typeface="Verdana"/>
              </a:rPr>
              <a:t>conf</a:t>
            </a:r>
            <a:r>
              <a:rPr dirty="0" sz="1800" spc="95">
                <a:solidFill>
                  <a:srgbClr val="585D60"/>
                </a:solidFill>
                <a:latin typeface="Lucida Sans Unicode"/>
                <a:cs typeface="Lucida Sans Unicode"/>
              </a:rPr>
              <a:t>(</a:t>
            </a:r>
            <a:r>
              <a:rPr dirty="0" sz="1600" spc="95" i="1">
                <a:solidFill>
                  <a:srgbClr val="585D60"/>
                </a:solidFill>
                <a:latin typeface="Verdana"/>
                <a:cs typeface="Verdana"/>
              </a:rPr>
              <a:t>I</a:t>
            </a:r>
            <a:r>
              <a:rPr dirty="0" sz="1600" spc="40" i="1">
                <a:solidFill>
                  <a:srgbClr val="585D60"/>
                </a:solidFill>
                <a:latin typeface="Verdana"/>
                <a:cs typeface="Verdana"/>
              </a:rPr>
              <a:t> </a:t>
            </a:r>
            <a:r>
              <a:rPr dirty="0" sz="1800" spc="105">
                <a:solidFill>
                  <a:srgbClr val="585D60"/>
                </a:solidFill>
                <a:latin typeface="Lucida Sans Unicode"/>
                <a:cs typeface="Lucida Sans Unicode"/>
              </a:rPr>
              <a:t>→</a:t>
            </a:r>
            <a:r>
              <a:rPr dirty="0" sz="1800" spc="-8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00" spc="150" i="1">
                <a:solidFill>
                  <a:srgbClr val="585D60"/>
                </a:solidFill>
                <a:latin typeface="Verdana"/>
                <a:cs typeface="Verdana"/>
              </a:rPr>
              <a:t>j</a:t>
            </a:r>
            <a:r>
              <a:rPr dirty="0" sz="1800" spc="150">
                <a:solidFill>
                  <a:srgbClr val="585D60"/>
                </a:solidFill>
                <a:latin typeface="Lucida Sans Unicode"/>
                <a:cs typeface="Lucida Sans Unicode"/>
              </a:rPr>
              <a:t>)</a:t>
            </a:r>
            <a:r>
              <a:rPr dirty="0" sz="1800" spc="-8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=</a:t>
            </a:r>
            <a:r>
              <a:rPr dirty="0" sz="1800" spc="-7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00" spc="190" i="1">
                <a:solidFill>
                  <a:srgbClr val="585D60"/>
                </a:solidFill>
                <a:latin typeface="Verdana"/>
                <a:cs typeface="Verdana"/>
              </a:rPr>
              <a:t>P</a:t>
            </a:r>
            <a:r>
              <a:rPr dirty="0" sz="1600" spc="-375" i="1">
                <a:solidFill>
                  <a:srgbClr val="585D60"/>
                </a:solidFill>
                <a:latin typeface="Verdana"/>
                <a:cs typeface="Verdana"/>
              </a:rPr>
              <a:t> </a:t>
            </a:r>
            <a:r>
              <a:rPr dirty="0" sz="1800" spc="150">
                <a:solidFill>
                  <a:srgbClr val="585D60"/>
                </a:solidFill>
                <a:latin typeface="Lucida Sans Unicode"/>
                <a:cs typeface="Lucida Sans Unicode"/>
              </a:rPr>
              <a:t>(</a:t>
            </a:r>
            <a:r>
              <a:rPr dirty="0" sz="1600" spc="150" i="1">
                <a:solidFill>
                  <a:srgbClr val="585D60"/>
                </a:solidFill>
                <a:latin typeface="Verdana"/>
                <a:cs typeface="Verdana"/>
              </a:rPr>
              <a:t>j</a:t>
            </a:r>
            <a:r>
              <a:rPr dirty="0" sz="1600" spc="-120" i="1">
                <a:solidFill>
                  <a:srgbClr val="585D60"/>
                </a:solidFill>
                <a:latin typeface="Verdana"/>
                <a:cs typeface="Verdana"/>
              </a:rPr>
              <a:t> </a:t>
            </a:r>
            <a:r>
              <a:rPr dirty="0" sz="1800" spc="-175">
                <a:solidFill>
                  <a:srgbClr val="585D60"/>
                </a:solidFill>
                <a:latin typeface="Lucida Sans Unicode"/>
                <a:cs typeface="Lucida Sans Unicode"/>
              </a:rPr>
              <a:t>|</a:t>
            </a:r>
            <a:r>
              <a:rPr dirty="0" sz="1800" spc="-13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00" spc="170" i="1">
                <a:solidFill>
                  <a:srgbClr val="585D60"/>
                </a:solidFill>
                <a:latin typeface="Verdana"/>
                <a:cs typeface="Verdana"/>
              </a:rPr>
              <a:t>I</a:t>
            </a:r>
            <a:r>
              <a:rPr dirty="0" sz="1800" spc="170">
                <a:solidFill>
                  <a:srgbClr val="585D60"/>
                </a:solidFill>
                <a:latin typeface="Lucida Sans Unicode"/>
                <a:cs typeface="Lucida Sans Unicode"/>
              </a:rPr>
              <a:t>)</a:t>
            </a:r>
            <a:r>
              <a:rPr dirty="0" sz="1800" spc="-7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=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29933" y="3340480"/>
            <a:ext cx="1028700" cy="2197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150" i="1">
                <a:solidFill>
                  <a:srgbClr val="585D60"/>
                </a:solidFill>
                <a:latin typeface="Verdana"/>
                <a:cs typeface="Verdana"/>
              </a:rPr>
              <a:t>support</a:t>
            </a:r>
            <a:r>
              <a:rPr dirty="0" sz="1250">
                <a:solidFill>
                  <a:srgbClr val="585D60"/>
                </a:solidFill>
                <a:latin typeface="Lucida Sans Unicode"/>
                <a:cs typeface="Lucida Sans Unicode"/>
              </a:rPr>
              <a:t>(</a:t>
            </a:r>
            <a:r>
              <a:rPr dirty="0" sz="1150" i="1">
                <a:solidFill>
                  <a:srgbClr val="585D60"/>
                </a:solidFill>
                <a:latin typeface="Verdana"/>
                <a:cs typeface="Verdana"/>
              </a:rPr>
              <a:t>I </a:t>
            </a:r>
            <a:r>
              <a:rPr dirty="0" sz="1250" spc="-150">
                <a:solidFill>
                  <a:srgbClr val="585D60"/>
                </a:solidFill>
                <a:latin typeface="Lucida Sans Unicode"/>
                <a:cs typeface="Lucida Sans Unicode"/>
              </a:rPr>
              <a:t>∩ </a:t>
            </a:r>
            <a:r>
              <a:rPr dirty="0" sz="1150" spc="105" i="1">
                <a:solidFill>
                  <a:srgbClr val="585D60"/>
                </a:solidFill>
                <a:latin typeface="Verdana"/>
                <a:cs typeface="Verdana"/>
              </a:rPr>
              <a:t>j</a:t>
            </a:r>
            <a:r>
              <a:rPr dirty="0" sz="1250" spc="105">
                <a:solidFill>
                  <a:srgbClr val="585D60"/>
                </a:solidFill>
                <a:latin typeface="Lucida Sans Unicode"/>
                <a:cs typeface="Lucida Sans Unicode"/>
              </a:rPr>
              <a:t>)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657627" y="3569080"/>
            <a:ext cx="773430" cy="2197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150" spc="15" i="1">
                <a:solidFill>
                  <a:srgbClr val="585D60"/>
                </a:solidFill>
                <a:latin typeface="Verdana"/>
                <a:cs typeface="Verdana"/>
              </a:rPr>
              <a:t>support</a:t>
            </a:r>
            <a:r>
              <a:rPr dirty="0" sz="1250" spc="15">
                <a:solidFill>
                  <a:srgbClr val="585D60"/>
                </a:solidFill>
                <a:latin typeface="Lucida Sans Unicode"/>
                <a:cs typeface="Lucida Sans Unicode"/>
              </a:rPr>
              <a:t>(</a:t>
            </a:r>
            <a:r>
              <a:rPr dirty="0" sz="1150" spc="15" i="1">
                <a:solidFill>
                  <a:srgbClr val="585D60"/>
                </a:solidFill>
                <a:latin typeface="Verdana"/>
                <a:cs typeface="Verdana"/>
              </a:rPr>
              <a:t>I</a:t>
            </a:r>
            <a:r>
              <a:rPr dirty="0" sz="1250" spc="15">
                <a:solidFill>
                  <a:srgbClr val="585D60"/>
                </a:solidFill>
                <a:latin typeface="Lucida Sans Unicode"/>
                <a:cs typeface="Lucida Sans Unicode"/>
              </a:rPr>
              <a:t>)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524625" y="3586162"/>
            <a:ext cx="1038225" cy="0"/>
          </a:xfrm>
          <a:custGeom>
            <a:avLst/>
            <a:gdLst/>
            <a:ahLst/>
            <a:cxnLst/>
            <a:rect l="l" t="t" r="r" b="b"/>
            <a:pathLst>
              <a:path w="1038225" h="0">
                <a:moveTo>
                  <a:pt x="0" y="0"/>
                </a:moveTo>
                <a:lnTo>
                  <a:pt x="1038224" y="0"/>
                </a:lnTo>
              </a:path>
            </a:pathLst>
          </a:custGeom>
          <a:ln w="9524">
            <a:solidFill>
              <a:srgbClr val="585D6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148754" y="4025900"/>
            <a:ext cx="9260840" cy="14903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 indent="-133985">
              <a:lnSpc>
                <a:spcPct val="100000"/>
              </a:lnSpc>
              <a:spcBef>
                <a:spcPts val="100"/>
              </a:spcBef>
              <a:buFont typeface="Trebuchet MS"/>
              <a:buChar char="•"/>
              <a:tabLst>
                <a:tab pos="146685" algn="l"/>
              </a:tabLst>
            </a:pPr>
            <a:r>
              <a:rPr dirty="0" sz="1800" spc="-15" b="1">
                <a:solidFill>
                  <a:srgbClr val="C2132D"/>
                </a:solidFill>
                <a:latin typeface="Trebuchet MS"/>
                <a:cs typeface="Trebuchet MS"/>
              </a:rPr>
              <a:t>Not </a:t>
            </a:r>
            <a:r>
              <a:rPr dirty="0" sz="1800" spc="-35" b="1">
                <a:solidFill>
                  <a:srgbClr val="C2132D"/>
                </a:solidFill>
                <a:latin typeface="Trebuchet MS"/>
                <a:cs typeface="Trebuchet MS"/>
              </a:rPr>
              <a:t>all </a:t>
            </a:r>
            <a:r>
              <a:rPr dirty="0" sz="1800" spc="-25" b="1">
                <a:solidFill>
                  <a:srgbClr val="C2132D"/>
                </a:solidFill>
                <a:latin typeface="Trebuchet MS"/>
                <a:cs typeface="Trebuchet MS"/>
              </a:rPr>
              <a:t>high-confidence </a:t>
            </a:r>
            <a:r>
              <a:rPr dirty="0" sz="1800" spc="-30" b="1">
                <a:solidFill>
                  <a:srgbClr val="C2132D"/>
                </a:solidFill>
                <a:latin typeface="Trebuchet MS"/>
                <a:cs typeface="Trebuchet MS"/>
              </a:rPr>
              <a:t>rules </a:t>
            </a:r>
            <a:r>
              <a:rPr dirty="0" sz="1800" spc="-65" b="1">
                <a:solidFill>
                  <a:srgbClr val="C2132D"/>
                </a:solidFill>
                <a:latin typeface="Trebuchet MS"/>
                <a:cs typeface="Trebuchet MS"/>
              </a:rPr>
              <a:t>are</a:t>
            </a:r>
            <a:r>
              <a:rPr dirty="0" sz="1800" spc="-37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40" b="1">
                <a:solidFill>
                  <a:srgbClr val="C2132D"/>
                </a:solidFill>
                <a:latin typeface="Trebuchet MS"/>
                <a:cs typeface="Trebuchet MS"/>
              </a:rPr>
              <a:t>interesting</a:t>
            </a:r>
            <a:endParaRPr sz="1800">
              <a:latin typeface="Trebuchet MS"/>
              <a:cs typeface="Trebuchet MS"/>
            </a:endParaRPr>
          </a:p>
          <a:p>
            <a:pPr lvl="1" marL="527050" marR="5080" indent="-133985">
              <a:lnSpc>
                <a:spcPct val="114599"/>
              </a:lnSpc>
              <a:spcBef>
                <a:spcPts val="975"/>
              </a:spcBef>
              <a:buClr>
                <a:srgbClr val="C2132D"/>
              </a:buClr>
              <a:buFont typeface="Trebuchet MS"/>
              <a:buChar char="•"/>
              <a:tabLst>
                <a:tab pos="527685" algn="l"/>
              </a:tabLst>
            </a:pPr>
            <a:r>
              <a:rPr dirty="0" sz="1800" spc="-3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rule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60" b="1">
                <a:latin typeface="Trebuchet MS"/>
                <a:cs typeface="Trebuchet MS"/>
              </a:rPr>
              <a:t>X</a:t>
            </a:r>
            <a:r>
              <a:rPr dirty="0" sz="1800" spc="-95" b="1"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→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35" b="1">
                <a:latin typeface="Trebuchet MS"/>
                <a:cs typeface="Trebuchet MS"/>
              </a:rPr>
              <a:t>milk</a:t>
            </a:r>
            <a:r>
              <a:rPr dirty="0" sz="1800" spc="-95" b="1">
                <a:latin typeface="Trebuchet MS"/>
                <a:cs typeface="Trebuchet MS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may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35">
                <a:solidFill>
                  <a:srgbClr val="585D60"/>
                </a:solidFill>
                <a:latin typeface="Arial"/>
                <a:cs typeface="Arial"/>
              </a:rPr>
              <a:t>have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high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confidence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585D60"/>
                </a:solidFill>
                <a:latin typeface="Arial"/>
                <a:cs typeface="Arial"/>
              </a:rPr>
              <a:t>for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many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Arial"/>
                <a:cs typeface="Arial"/>
              </a:rPr>
              <a:t>itemsets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45" b="1">
                <a:latin typeface="Trebuchet MS"/>
                <a:cs typeface="Trebuchet MS"/>
              </a:rPr>
              <a:t>X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,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because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35" b="1">
                <a:latin typeface="Trebuchet MS"/>
                <a:cs typeface="Trebuchet MS"/>
              </a:rPr>
              <a:t>milk</a:t>
            </a:r>
            <a:r>
              <a:rPr dirty="0" sz="1800" spc="-95" b="1">
                <a:latin typeface="Trebuchet MS"/>
                <a:cs typeface="Trebuchet MS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Arial"/>
                <a:cs typeface="Arial"/>
              </a:rPr>
              <a:t>is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Arial"/>
                <a:cs typeface="Arial"/>
              </a:rPr>
              <a:t>just 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purchased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30">
                <a:solidFill>
                  <a:srgbClr val="585D60"/>
                </a:solidFill>
                <a:latin typeface="Arial"/>
                <a:cs typeface="Arial"/>
              </a:rPr>
              <a:t>very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5">
                <a:solidFill>
                  <a:srgbClr val="585D60"/>
                </a:solidFill>
                <a:latin typeface="Arial"/>
                <a:cs typeface="Arial"/>
              </a:rPr>
              <a:t>often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(independent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Arial"/>
                <a:cs typeface="Arial"/>
              </a:rPr>
              <a:t>of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40" b="1">
                <a:latin typeface="Trebuchet MS"/>
                <a:cs typeface="Trebuchet MS"/>
              </a:rPr>
              <a:t>X</a:t>
            </a:r>
            <a:r>
              <a:rPr dirty="0" sz="1800" spc="40">
                <a:solidFill>
                  <a:srgbClr val="585D60"/>
                </a:solidFill>
                <a:latin typeface="Arial"/>
                <a:cs typeface="Arial"/>
              </a:rPr>
              <a:t>)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and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confidence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40">
                <a:solidFill>
                  <a:srgbClr val="585D60"/>
                </a:solidFill>
                <a:latin typeface="Arial"/>
                <a:cs typeface="Arial"/>
              </a:rPr>
              <a:t>will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585D60"/>
                </a:solidFill>
                <a:latin typeface="Arial"/>
                <a:cs typeface="Arial"/>
              </a:rPr>
              <a:t>be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high</a:t>
            </a:r>
            <a:endParaRPr sz="1800">
              <a:latin typeface="Arial"/>
              <a:cs typeface="Arial"/>
            </a:endParaRPr>
          </a:p>
          <a:p>
            <a:pPr marL="146050" indent="-133985">
              <a:lnSpc>
                <a:spcPct val="100000"/>
              </a:lnSpc>
              <a:spcBef>
                <a:spcPts val="1290"/>
              </a:spcBef>
              <a:buFont typeface="Trebuchet MS"/>
              <a:buChar char="•"/>
              <a:tabLst>
                <a:tab pos="146685" algn="l"/>
              </a:tabLst>
            </a:pPr>
            <a:r>
              <a:rPr dirty="0" sz="1800" spc="-55" b="1">
                <a:solidFill>
                  <a:srgbClr val="C2132D"/>
                </a:solidFill>
                <a:latin typeface="Trebuchet MS"/>
                <a:cs typeface="Trebuchet MS"/>
              </a:rPr>
              <a:t>Lift</a:t>
            </a:r>
            <a:r>
              <a:rPr dirty="0" sz="1800" spc="-10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Arial"/>
                <a:cs typeface="Arial"/>
              </a:rPr>
              <a:t>of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5">
                <a:solidFill>
                  <a:srgbClr val="585D60"/>
                </a:solidFill>
                <a:latin typeface="Arial"/>
                <a:cs typeface="Arial"/>
              </a:rPr>
              <a:t>an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association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rule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14" i="1">
                <a:solidFill>
                  <a:srgbClr val="585D60"/>
                </a:solidFill>
                <a:latin typeface="Verdana"/>
                <a:cs typeface="Verdana"/>
              </a:rPr>
              <a:t>I</a:t>
            </a:r>
            <a:r>
              <a:rPr dirty="0" sz="1600" spc="55" i="1">
                <a:solidFill>
                  <a:srgbClr val="585D60"/>
                </a:solidFill>
                <a:latin typeface="Verdana"/>
                <a:cs typeface="Verdana"/>
              </a:rPr>
              <a:t> </a:t>
            </a:r>
            <a:r>
              <a:rPr dirty="0" sz="1800" spc="105">
                <a:solidFill>
                  <a:srgbClr val="585D60"/>
                </a:solidFill>
                <a:latin typeface="Lucida Sans Unicode"/>
                <a:cs typeface="Lucida Sans Unicode"/>
              </a:rPr>
              <a:t>→</a:t>
            </a:r>
            <a:r>
              <a:rPr dirty="0" sz="1800" spc="-7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00" spc="270" i="1">
                <a:solidFill>
                  <a:srgbClr val="585D60"/>
                </a:solidFill>
                <a:latin typeface="Verdana"/>
                <a:cs typeface="Verdana"/>
              </a:rPr>
              <a:t>J</a:t>
            </a:r>
            <a:r>
              <a:rPr dirty="0" sz="1600" spc="20" i="1">
                <a:solidFill>
                  <a:srgbClr val="585D60"/>
                </a:solidFill>
                <a:latin typeface="Verdana"/>
                <a:cs typeface="Verdana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Arial"/>
                <a:cs typeface="Arial"/>
              </a:rPr>
              <a:t>is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ratio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between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585D60"/>
                </a:solidFill>
                <a:latin typeface="Arial"/>
                <a:cs typeface="Arial"/>
              </a:rPr>
              <a:t>its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confidence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and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Arial"/>
                <a:cs typeface="Arial"/>
              </a:rPr>
              <a:t>fraction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Arial"/>
                <a:cs typeface="Arial"/>
              </a:rPr>
              <a:t>of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82699" y="5559424"/>
            <a:ext cx="400812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654935" algn="l"/>
              </a:tabLst>
            </a:pP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baskets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containing</a:t>
            </a:r>
            <a:r>
              <a:rPr dirty="0" sz="18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60" i="1">
                <a:solidFill>
                  <a:srgbClr val="585D60"/>
                </a:solidFill>
                <a:latin typeface="Verdana"/>
                <a:cs typeface="Verdana"/>
              </a:rPr>
              <a:t>j</a:t>
            </a:r>
            <a:r>
              <a:rPr dirty="0" sz="1800" spc="60">
                <a:solidFill>
                  <a:srgbClr val="585D60"/>
                </a:solidFill>
                <a:latin typeface="Arial"/>
                <a:cs typeface="Arial"/>
              </a:rPr>
              <a:t>:	</a:t>
            </a:r>
            <a:r>
              <a:rPr dirty="0" sz="1600" spc="155" i="1">
                <a:solidFill>
                  <a:srgbClr val="585D60"/>
                </a:solidFill>
                <a:latin typeface="Verdana"/>
                <a:cs typeface="Verdana"/>
              </a:rPr>
              <a:t>lift</a:t>
            </a:r>
            <a:r>
              <a:rPr dirty="0" sz="1800" spc="155">
                <a:solidFill>
                  <a:srgbClr val="585D60"/>
                </a:solidFill>
                <a:latin typeface="Lucida Sans Unicode"/>
                <a:cs typeface="Lucida Sans Unicode"/>
              </a:rPr>
              <a:t>(</a:t>
            </a:r>
            <a:r>
              <a:rPr dirty="0" sz="1600" spc="155" i="1">
                <a:solidFill>
                  <a:srgbClr val="585D60"/>
                </a:solidFill>
                <a:latin typeface="Verdana"/>
                <a:cs typeface="Verdana"/>
              </a:rPr>
              <a:t>I </a:t>
            </a:r>
            <a:r>
              <a:rPr dirty="0" sz="1800" spc="105">
                <a:solidFill>
                  <a:srgbClr val="585D60"/>
                </a:solidFill>
                <a:latin typeface="Lucida Sans Unicode"/>
                <a:cs typeface="Lucida Sans Unicode"/>
              </a:rPr>
              <a:t>→ </a:t>
            </a:r>
            <a:r>
              <a:rPr dirty="0" sz="1600" spc="150" i="1">
                <a:solidFill>
                  <a:srgbClr val="585D60"/>
                </a:solidFill>
                <a:latin typeface="Verdana"/>
                <a:cs typeface="Verdana"/>
              </a:rPr>
              <a:t>j</a:t>
            </a:r>
            <a:r>
              <a:rPr dirty="0" sz="1800" spc="150">
                <a:solidFill>
                  <a:srgbClr val="585D60"/>
                </a:solidFill>
                <a:latin typeface="Lucida Sans Unicode"/>
                <a:cs typeface="Lucida Sans Unicode"/>
              </a:rPr>
              <a:t>)</a:t>
            </a:r>
            <a:r>
              <a:rPr dirty="0" sz="1800" spc="-40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=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372348" y="5493130"/>
            <a:ext cx="795655" cy="2197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150" spc="80" i="1">
                <a:solidFill>
                  <a:srgbClr val="585D60"/>
                </a:solidFill>
                <a:latin typeface="Verdana"/>
                <a:cs typeface="Verdana"/>
              </a:rPr>
              <a:t>conf</a:t>
            </a:r>
            <a:r>
              <a:rPr dirty="0" sz="1250" spc="80">
                <a:solidFill>
                  <a:srgbClr val="585D60"/>
                </a:solidFill>
                <a:latin typeface="Lucida Sans Unicode"/>
                <a:cs typeface="Lucida Sans Unicode"/>
              </a:rPr>
              <a:t>(</a:t>
            </a:r>
            <a:r>
              <a:rPr dirty="0" sz="1150" spc="80" i="1">
                <a:solidFill>
                  <a:srgbClr val="585D60"/>
                </a:solidFill>
                <a:latin typeface="Verdana"/>
                <a:cs typeface="Verdana"/>
              </a:rPr>
              <a:t>I</a:t>
            </a:r>
            <a:r>
              <a:rPr dirty="0" sz="1250" spc="80">
                <a:solidFill>
                  <a:srgbClr val="585D60"/>
                </a:solidFill>
                <a:latin typeface="Lucida Sans Unicode"/>
                <a:cs typeface="Lucida Sans Unicode"/>
              </a:rPr>
              <a:t>→</a:t>
            </a:r>
            <a:r>
              <a:rPr dirty="0" sz="1150" spc="80" i="1">
                <a:solidFill>
                  <a:srgbClr val="585D60"/>
                </a:solidFill>
                <a:latin typeface="Verdana"/>
                <a:cs typeface="Verdana"/>
              </a:rPr>
              <a:t>j</a:t>
            </a:r>
            <a:r>
              <a:rPr dirty="0" sz="1250" spc="80">
                <a:solidFill>
                  <a:srgbClr val="585D60"/>
                </a:solidFill>
                <a:latin typeface="Lucida Sans Unicode"/>
                <a:cs typeface="Lucida Sans Unicode"/>
              </a:rPr>
              <a:t>)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563889" y="5721730"/>
            <a:ext cx="412115" cy="2197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150" spc="254" i="1">
                <a:solidFill>
                  <a:srgbClr val="585D60"/>
                </a:solidFill>
                <a:latin typeface="Verdana"/>
                <a:cs typeface="Verdana"/>
              </a:rPr>
              <a:t>P</a:t>
            </a:r>
            <a:r>
              <a:rPr dirty="0" sz="1150" spc="80" i="1">
                <a:solidFill>
                  <a:srgbClr val="585D60"/>
                </a:solidFill>
                <a:latin typeface="Verdana"/>
                <a:cs typeface="Verdana"/>
              </a:rPr>
              <a:t>r</a:t>
            </a:r>
            <a:r>
              <a:rPr dirty="0" sz="1250" spc="85">
                <a:solidFill>
                  <a:srgbClr val="585D60"/>
                </a:solidFill>
                <a:latin typeface="Lucida Sans Unicode"/>
                <a:cs typeface="Lucida Sans Unicode"/>
              </a:rPr>
              <a:t>(</a:t>
            </a:r>
            <a:r>
              <a:rPr dirty="0" sz="1150" spc="125" i="1">
                <a:solidFill>
                  <a:srgbClr val="585D60"/>
                </a:solidFill>
                <a:latin typeface="Verdana"/>
                <a:cs typeface="Verdana"/>
              </a:rPr>
              <a:t>j</a:t>
            </a:r>
            <a:r>
              <a:rPr dirty="0" sz="1250" spc="85">
                <a:solidFill>
                  <a:srgbClr val="585D60"/>
                </a:solidFill>
                <a:latin typeface="Lucida Sans Unicode"/>
                <a:cs typeface="Lucida Sans Unicode"/>
              </a:rPr>
              <a:t>)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372099" y="5738812"/>
            <a:ext cx="800100" cy="0"/>
          </a:xfrm>
          <a:custGeom>
            <a:avLst/>
            <a:gdLst/>
            <a:ahLst/>
            <a:cxnLst/>
            <a:rect l="l" t="t" r="r" b="b"/>
            <a:pathLst>
              <a:path w="800100" h="0">
                <a:moveTo>
                  <a:pt x="0" y="0"/>
                </a:moveTo>
                <a:lnTo>
                  <a:pt x="800099" y="0"/>
                </a:lnTo>
              </a:path>
            </a:pathLst>
          </a:custGeom>
          <a:ln w="9524">
            <a:solidFill>
              <a:srgbClr val="585D6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914400" y="6205537"/>
            <a:ext cx="7248525" cy="0"/>
          </a:xfrm>
          <a:custGeom>
            <a:avLst/>
            <a:gdLst/>
            <a:ahLst/>
            <a:cxnLst/>
            <a:rect l="l" t="t" r="r" b="b"/>
            <a:pathLst>
              <a:path w="7248525" h="0">
                <a:moveTo>
                  <a:pt x="0" y="0"/>
                </a:moveTo>
                <a:lnTo>
                  <a:pt x="7248524" y="0"/>
                </a:lnTo>
              </a:path>
            </a:pathLst>
          </a:custGeom>
          <a:ln w="9524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914400" y="6215062"/>
            <a:ext cx="7248525" cy="0"/>
          </a:xfrm>
          <a:custGeom>
            <a:avLst/>
            <a:gdLst/>
            <a:ahLst/>
            <a:cxnLst/>
            <a:rect l="l" t="t" r="r" b="b"/>
            <a:pathLst>
              <a:path w="7248525" h="0">
                <a:moveTo>
                  <a:pt x="0" y="0"/>
                </a:moveTo>
                <a:lnTo>
                  <a:pt x="7248524" y="0"/>
                </a:lnTo>
              </a:path>
            </a:pathLst>
          </a:custGeom>
          <a:ln w="9524">
            <a:solidFill>
              <a:srgbClr val="EDED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8153400" y="6200774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9524" y="19049"/>
                </a:moveTo>
                <a:lnTo>
                  <a:pt x="0" y="19049"/>
                </a:lnTo>
                <a:lnTo>
                  <a:pt x="0" y="9524"/>
                </a:lnTo>
                <a:lnTo>
                  <a:pt x="9524" y="0"/>
                </a:lnTo>
                <a:lnTo>
                  <a:pt x="9524" y="19049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914400" y="6200774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0" y="19049"/>
                </a:moveTo>
                <a:lnTo>
                  <a:pt x="0" y="0"/>
                </a:lnTo>
                <a:lnTo>
                  <a:pt x="9524" y="0"/>
                </a:lnTo>
                <a:lnTo>
                  <a:pt x="9524" y="9524"/>
                </a:lnTo>
                <a:lnTo>
                  <a:pt x="0" y="19049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901700" y="6275799"/>
            <a:ext cx="7279005" cy="21780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50" spc="-5" b="1">
                <a:solidFill>
                  <a:srgbClr val="C2132D"/>
                </a:solidFill>
                <a:latin typeface="Trebuchet MS"/>
                <a:cs typeface="Trebuchet MS"/>
              </a:rPr>
              <a:t>Adaped</a:t>
            </a:r>
            <a:r>
              <a:rPr dirty="0" sz="1250" spc="-6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250" spc="-25" b="1">
                <a:solidFill>
                  <a:srgbClr val="C2132D"/>
                </a:solidFill>
                <a:latin typeface="Trebuchet MS"/>
                <a:cs typeface="Trebuchet MS"/>
              </a:rPr>
              <a:t>from</a:t>
            </a:r>
            <a:r>
              <a:rPr dirty="0" sz="1250" spc="-6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250" spc="25">
                <a:solidFill>
                  <a:srgbClr val="585D60"/>
                </a:solidFill>
                <a:latin typeface="Arial"/>
                <a:cs typeface="Arial"/>
              </a:rPr>
              <a:t>J.</a:t>
            </a:r>
            <a:r>
              <a:rPr dirty="0" sz="1250" spc="-3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250" spc="-15">
                <a:solidFill>
                  <a:srgbClr val="585D60"/>
                </a:solidFill>
                <a:latin typeface="Arial"/>
                <a:cs typeface="Arial"/>
              </a:rPr>
              <a:t>Leskovec,</a:t>
            </a:r>
            <a:r>
              <a:rPr dirty="0" sz="1250" spc="-3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250" spc="-15">
                <a:solidFill>
                  <a:srgbClr val="585D60"/>
                </a:solidFill>
                <a:latin typeface="Arial"/>
                <a:cs typeface="Arial"/>
              </a:rPr>
              <a:t>A.</a:t>
            </a:r>
            <a:r>
              <a:rPr dirty="0" sz="1250" spc="-3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250" spc="-20">
                <a:solidFill>
                  <a:srgbClr val="585D60"/>
                </a:solidFill>
                <a:latin typeface="Arial"/>
                <a:cs typeface="Arial"/>
              </a:rPr>
              <a:t>Rajaraman,</a:t>
            </a:r>
            <a:r>
              <a:rPr dirty="0" sz="1250" spc="-3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250" spc="25">
                <a:solidFill>
                  <a:srgbClr val="585D60"/>
                </a:solidFill>
                <a:latin typeface="Arial"/>
                <a:cs typeface="Arial"/>
              </a:rPr>
              <a:t>J.</a:t>
            </a:r>
            <a:r>
              <a:rPr dirty="0" sz="1250" spc="-3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250" spc="-5">
                <a:solidFill>
                  <a:srgbClr val="585D60"/>
                </a:solidFill>
                <a:latin typeface="Arial"/>
                <a:cs typeface="Arial"/>
              </a:rPr>
              <a:t>Ullman:</a:t>
            </a:r>
            <a:r>
              <a:rPr dirty="0" sz="1250" spc="-3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250" spc="20">
                <a:solidFill>
                  <a:srgbClr val="585D60"/>
                </a:solidFill>
                <a:latin typeface="Arial"/>
                <a:cs typeface="Arial"/>
              </a:rPr>
              <a:t>Mining</a:t>
            </a:r>
            <a:r>
              <a:rPr dirty="0" sz="1250" spc="-3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250" spc="55">
                <a:solidFill>
                  <a:srgbClr val="585D60"/>
                </a:solidFill>
                <a:latin typeface="Arial"/>
                <a:cs typeface="Arial"/>
              </a:rPr>
              <a:t>of</a:t>
            </a:r>
            <a:r>
              <a:rPr dirty="0" sz="1250" spc="-3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250" spc="10">
                <a:solidFill>
                  <a:srgbClr val="585D60"/>
                </a:solidFill>
                <a:latin typeface="Arial"/>
                <a:cs typeface="Arial"/>
              </a:rPr>
              <a:t>Massive</a:t>
            </a:r>
            <a:r>
              <a:rPr dirty="0" sz="1250" spc="-3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250" spc="-5">
                <a:solidFill>
                  <a:srgbClr val="585D60"/>
                </a:solidFill>
                <a:latin typeface="Arial"/>
                <a:cs typeface="Arial"/>
              </a:rPr>
              <a:t>Datasets,</a:t>
            </a:r>
            <a:r>
              <a:rPr dirty="0" sz="1250" spc="-3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250" spc="-5">
                <a:solidFill>
                  <a:srgbClr val="83D5D3"/>
                </a:solidFill>
                <a:latin typeface="Cambria"/>
                <a:cs typeface="Cambria"/>
                <a:hlinkClick r:id="rId2"/>
              </a:rPr>
              <a:t>http://www.mmds.org</a:t>
            </a:r>
            <a:endParaRPr sz="1250">
              <a:latin typeface="Cambria"/>
              <a:cs typeface="Cambr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878987" y="6207124"/>
            <a:ext cx="5067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5">
                <a:solidFill>
                  <a:srgbClr val="585D60"/>
                </a:solidFill>
                <a:latin typeface="Arial"/>
                <a:cs typeface="Arial"/>
              </a:rPr>
              <a:t>26 </a:t>
            </a:r>
            <a:r>
              <a:rPr dirty="0" sz="1200" spc="160">
                <a:solidFill>
                  <a:srgbClr val="585D60"/>
                </a:solidFill>
                <a:latin typeface="Arial"/>
                <a:cs typeface="Arial"/>
              </a:rPr>
              <a:t>/</a:t>
            </a:r>
            <a:r>
              <a:rPr dirty="0" sz="1200" spc="-16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585D60"/>
                </a:solidFill>
                <a:latin typeface="Arial"/>
                <a:cs typeface="Arial"/>
              </a:rPr>
              <a:t>33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520700"/>
            <a:ext cx="8383905" cy="6540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4100" spc="-265">
                <a:solidFill>
                  <a:srgbClr val="C2132D"/>
                </a:solidFill>
                <a:latin typeface="Trebuchet MS"/>
                <a:cs typeface="Trebuchet MS"/>
              </a:rPr>
              <a:t>Non-Graded </a:t>
            </a:r>
            <a:r>
              <a:rPr dirty="0" sz="4100" spc="-280">
                <a:solidFill>
                  <a:srgbClr val="C2132D"/>
                </a:solidFill>
                <a:latin typeface="Trebuchet MS"/>
                <a:cs typeface="Trebuchet MS"/>
              </a:rPr>
              <a:t>Activity: </a:t>
            </a:r>
            <a:r>
              <a:rPr dirty="0" sz="4100" spc="-240">
                <a:solidFill>
                  <a:srgbClr val="C2132D"/>
                </a:solidFill>
                <a:latin typeface="Trebuchet MS"/>
                <a:cs typeface="Trebuchet MS"/>
              </a:rPr>
              <a:t>Confidence </a:t>
            </a:r>
            <a:r>
              <a:rPr dirty="0" sz="4100" spc="-220">
                <a:solidFill>
                  <a:srgbClr val="C2132D"/>
                </a:solidFill>
                <a:latin typeface="Trebuchet MS"/>
                <a:cs typeface="Trebuchet MS"/>
              </a:rPr>
              <a:t>and</a:t>
            </a:r>
            <a:r>
              <a:rPr dirty="0" sz="4100" spc="-395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4100" spc="-240">
                <a:solidFill>
                  <a:srgbClr val="C2132D"/>
                </a:solidFill>
                <a:latin typeface="Trebuchet MS"/>
                <a:cs typeface="Trebuchet MS"/>
              </a:rPr>
              <a:t>Lift</a:t>
            </a:r>
            <a:endParaRPr sz="410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14400" y="2228850"/>
            <a:ext cx="9696450" cy="0"/>
          </a:xfrm>
          <a:custGeom>
            <a:avLst/>
            <a:gdLst/>
            <a:ahLst/>
            <a:cxnLst/>
            <a:rect l="l" t="t" r="r" b="b"/>
            <a:pathLst>
              <a:path w="9696450" h="0">
                <a:moveTo>
                  <a:pt x="0" y="0"/>
                </a:moveTo>
                <a:lnTo>
                  <a:pt x="9696449" y="0"/>
                </a:lnTo>
              </a:path>
            </a:pathLst>
          </a:custGeom>
          <a:ln w="19049">
            <a:solidFill>
              <a:srgbClr val="DDDDD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901700" y="4749800"/>
            <a:ext cx="83820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65" b="1">
                <a:solidFill>
                  <a:srgbClr val="C2132D"/>
                </a:solidFill>
                <a:latin typeface="Trebuchet MS"/>
                <a:cs typeface="Trebuchet MS"/>
              </a:rPr>
              <a:t>For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80" b="1">
                <a:solidFill>
                  <a:srgbClr val="C2132D"/>
                </a:solidFill>
                <a:latin typeface="Trebuchet MS"/>
                <a:cs typeface="Trebuchet MS"/>
              </a:rPr>
              <a:t>the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b="1">
                <a:solidFill>
                  <a:srgbClr val="C2132D"/>
                </a:solidFill>
                <a:latin typeface="Trebuchet MS"/>
                <a:cs typeface="Trebuchet MS"/>
              </a:rPr>
              <a:t>association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rule: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{</a:t>
            </a:r>
            <a:r>
              <a:rPr dirty="0" sz="1800" spc="-5">
                <a:solidFill>
                  <a:srgbClr val="376BB0"/>
                </a:solidFill>
                <a:latin typeface="Trebuchet MS"/>
                <a:cs typeface="Trebuchet MS"/>
              </a:rPr>
              <a:t>Milk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,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DBF86"/>
                </a:solidFill>
                <a:latin typeface="Trebuchet MS"/>
                <a:cs typeface="Trebuchet MS"/>
              </a:rPr>
              <a:t>Beer</a:t>
            </a: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}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→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0017E"/>
                </a:solidFill>
                <a:latin typeface="Trebuchet MS"/>
                <a:cs typeface="Trebuchet MS"/>
              </a:rPr>
              <a:t>Coke</a:t>
            </a: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,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5">
                <a:solidFill>
                  <a:srgbClr val="585D60"/>
                </a:solidFill>
                <a:latin typeface="Arial"/>
                <a:cs typeface="Arial"/>
              </a:rPr>
              <a:t>compute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5">
                <a:solidFill>
                  <a:srgbClr val="585D60"/>
                </a:solidFill>
                <a:latin typeface="Arial"/>
                <a:cs typeface="Arial"/>
              </a:rPr>
              <a:t>both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585D60"/>
                </a:solidFill>
                <a:latin typeface="Arial"/>
                <a:cs typeface="Arial"/>
              </a:rPr>
              <a:t>its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confidence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and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585D60"/>
                </a:solidFill>
                <a:latin typeface="Arial"/>
                <a:cs typeface="Arial"/>
              </a:rPr>
              <a:t>lift.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10695" y="2309495"/>
            <a:ext cx="3090545" cy="1749425"/>
          </a:xfrm>
          <a:prstGeom prst="rect">
            <a:avLst/>
          </a:prstGeom>
        </p:spPr>
        <p:txBody>
          <a:bodyPr wrap="square" lIns="0" tIns="16700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15"/>
              </a:spcBef>
            </a:pPr>
            <a:r>
              <a:rPr dirty="0" sz="1600" spc="55" i="1">
                <a:solidFill>
                  <a:srgbClr val="585D60"/>
                </a:solidFill>
                <a:latin typeface="Verdana"/>
                <a:cs typeface="Verdana"/>
              </a:rPr>
              <a:t>B</a:t>
            </a:r>
            <a:r>
              <a:rPr dirty="0" baseline="-11111" sz="1875" spc="82">
                <a:solidFill>
                  <a:srgbClr val="585D60"/>
                </a:solidFill>
                <a:latin typeface="Lucida Sans Unicode"/>
                <a:cs typeface="Lucida Sans Unicode"/>
              </a:rPr>
              <a:t>2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=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{</a:t>
            </a:r>
            <a:r>
              <a:rPr dirty="0" sz="1800" spc="-5">
                <a:solidFill>
                  <a:srgbClr val="376BB0"/>
                </a:solidFill>
                <a:latin typeface="Trebuchet MS"/>
                <a:cs typeface="Trebuchet MS"/>
              </a:rPr>
              <a:t>Milk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, </a:t>
            </a:r>
            <a:r>
              <a:rPr dirty="0" sz="1800" spc="10">
                <a:solidFill>
                  <a:srgbClr val="7EC87E"/>
                </a:solidFill>
                <a:latin typeface="Trebuchet MS"/>
                <a:cs typeface="Trebuchet MS"/>
              </a:rPr>
              <a:t>Pepsi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,</a:t>
            </a:r>
            <a:r>
              <a:rPr dirty="0" sz="1800" spc="-7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BEAED4"/>
                </a:solidFill>
                <a:latin typeface="Trebuchet MS"/>
                <a:cs typeface="Trebuchet MS"/>
              </a:rPr>
              <a:t>Juice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}</a:t>
            </a:r>
            <a:endParaRPr sz="1800">
              <a:latin typeface="Arial"/>
              <a:cs typeface="Arial"/>
            </a:endParaRPr>
          </a:p>
          <a:p>
            <a:pPr marL="107950">
              <a:lnSpc>
                <a:spcPct val="100000"/>
              </a:lnSpc>
              <a:spcBef>
                <a:spcPts val="1215"/>
              </a:spcBef>
            </a:pPr>
            <a:r>
              <a:rPr dirty="0" sz="1600" spc="55" i="1">
                <a:solidFill>
                  <a:srgbClr val="585D60"/>
                </a:solidFill>
                <a:latin typeface="Verdana"/>
                <a:cs typeface="Verdana"/>
              </a:rPr>
              <a:t>B</a:t>
            </a:r>
            <a:r>
              <a:rPr dirty="0" baseline="-13333" sz="1875" spc="82">
                <a:solidFill>
                  <a:srgbClr val="585D60"/>
                </a:solidFill>
                <a:latin typeface="Lucida Sans Unicode"/>
                <a:cs typeface="Lucida Sans Unicode"/>
              </a:rPr>
              <a:t>4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=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{</a:t>
            </a:r>
            <a:r>
              <a:rPr dirty="0" sz="1800" spc="-5">
                <a:solidFill>
                  <a:srgbClr val="F0017E"/>
                </a:solidFill>
                <a:latin typeface="Trebuchet MS"/>
                <a:cs typeface="Trebuchet MS"/>
              </a:rPr>
              <a:t>Coke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,</a:t>
            </a:r>
            <a:r>
              <a:rPr dirty="0" sz="1800" spc="-2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BEAED4"/>
                </a:solidFill>
                <a:latin typeface="Trebuchet MS"/>
                <a:cs typeface="Trebuchet MS"/>
              </a:rPr>
              <a:t>Juice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}</a:t>
            </a:r>
            <a:endParaRPr sz="1800">
              <a:latin typeface="Arial"/>
              <a:cs typeface="Arial"/>
            </a:endParaRPr>
          </a:p>
          <a:p>
            <a:pPr marL="89535">
              <a:lnSpc>
                <a:spcPct val="100000"/>
              </a:lnSpc>
              <a:spcBef>
                <a:spcPts val="1290"/>
              </a:spcBef>
            </a:pPr>
            <a:r>
              <a:rPr dirty="0" sz="1600" spc="55" i="1">
                <a:solidFill>
                  <a:srgbClr val="585D60"/>
                </a:solidFill>
                <a:latin typeface="Verdana"/>
                <a:cs typeface="Verdana"/>
              </a:rPr>
              <a:t>B</a:t>
            </a:r>
            <a:r>
              <a:rPr dirty="0" baseline="-11111" sz="1875" spc="82">
                <a:solidFill>
                  <a:srgbClr val="585D60"/>
                </a:solidFill>
                <a:latin typeface="Lucida Sans Unicode"/>
                <a:cs typeface="Lucida Sans Unicode"/>
              </a:rPr>
              <a:t>6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=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{</a:t>
            </a:r>
            <a:r>
              <a:rPr dirty="0" sz="1800" spc="-5">
                <a:solidFill>
                  <a:srgbClr val="376BB0"/>
                </a:solidFill>
                <a:latin typeface="Trebuchet MS"/>
                <a:cs typeface="Trebuchet MS"/>
              </a:rPr>
              <a:t>Milk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, </a:t>
            </a:r>
            <a:r>
              <a:rPr dirty="0" sz="1800" spc="-10">
                <a:solidFill>
                  <a:srgbClr val="F0017E"/>
                </a:solidFill>
                <a:latin typeface="Trebuchet MS"/>
                <a:cs typeface="Trebuchet MS"/>
              </a:rPr>
              <a:t>Coke</a:t>
            </a: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, </a:t>
            </a:r>
            <a:r>
              <a:rPr dirty="0" sz="1800" spc="-60">
                <a:solidFill>
                  <a:srgbClr val="FDBF86"/>
                </a:solidFill>
                <a:latin typeface="Trebuchet MS"/>
                <a:cs typeface="Trebuchet MS"/>
              </a:rPr>
              <a:t>Beer</a:t>
            </a:r>
            <a:r>
              <a:rPr dirty="0" sz="1800" spc="-60">
                <a:solidFill>
                  <a:srgbClr val="585D60"/>
                </a:solidFill>
                <a:latin typeface="Arial"/>
                <a:cs typeface="Arial"/>
              </a:rPr>
              <a:t>,</a:t>
            </a:r>
            <a:r>
              <a:rPr dirty="0" sz="1800" spc="-13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BEAED4"/>
                </a:solidFill>
                <a:latin typeface="Trebuchet MS"/>
                <a:cs typeface="Trebuchet MS"/>
              </a:rPr>
              <a:t>Juice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}</a:t>
            </a:r>
            <a:endParaRPr sz="1800">
              <a:latin typeface="Arial"/>
              <a:cs typeface="Arial"/>
            </a:endParaRPr>
          </a:p>
          <a:p>
            <a:pPr marL="146050">
              <a:lnSpc>
                <a:spcPct val="100000"/>
              </a:lnSpc>
              <a:spcBef>
                <a:spcPts val="1215"/>
              </a:spcBef>
            </a:pPr>
            <a:r>
              <a:rPr dirty="0" sz="1600" spc="55" i="1">
                <a:solidFill>
                  <a:srgbClr val="585D60"/>
                </a:solidFill>
                <a:latin typeface="Verdana"/>
                <a:cs typeface="Verdana"/>
              </a:rPr>
              <a:t>B</a:t>
            </a:r>
            <a:r>
              <a:rPr dirty="0" baseline="-13333" sz="1875" spc="82">
                <a:solidFill>
                  <a:srgbClr val="585D60"/>
                </a:solidFill>
                <a:latin typeface="Lucida Sans Unicode"/>
                <a:cs typeface="Lucida Sans Unicode"/>
              </a:rPr>
              <a:t>8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=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{</a:t>
            </a:r>
            <a:r>
              <a:rPr dirty="0" sz="1800" spc="-5">
                <a:solidFill>
                  <a:srgbClr val="F0017E"/>
                </a:solidFill>
                <a:latin typeface="Trebuchet MS"/>
                <a:cs typeface="Trebuchet MS"/>
              </a:rPr>
              <a:t>Coke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,</a:t>
            </a:r>
            <a:r>
              <a:rPr dirty="0" sz="1800" spc="-1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DBF86"/>
                </a:solidFill>
                <a:latin typeface="Trebuchet MS"/>
                <a:cs typeface="Trebuchet MS"/>
              </a:rPr>
              <a:t>Beer</a:t>
            </a: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}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14400" y="1657350"/>
            <a:ext cx="1209675" cy="0"/>
          </a:xfrm>
          <a:custGeom>
            <a:avLst/>
            <a:gdLst/>
            <a:ahLst/>
            <a:cxnLst/>
            <a:rect l="l" t="t" r="r" b="b"/>
            <a:pathLst>
              <a:path w="1209675" h="0">
                <a:moveTo>
                  <a:pt x="0" y="0"/>
                </a:moveTo>
                <a:lnTo>
                  <a:pt x="1209674" y="0"/>
                </a:lnTo>
              </a:path>
            </a:pathLst>
          </a:custGeom>
          <a:ln w="19049">
            <a:solidFill>
              <a:srgbClr val="585D6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14400" y="2228850"/>
            <a:ext cx="1209675" cy="0"/>
          </a:xfrm>
          <a:custGeom>
            <a:avLst/>
            <a:gdLst/>
            <a:ahLst/>
            <a:cxnLst/>
            <a:rect l="l" t="t" r="r" b="b"/>
            <a:pathLst>
              <a:path w="1209675" h="0">
                <a:moveTo>
                  <a:pt x="0" y="0"/>
                </a:moveTo>
                <a:lnTo>
                  <a:pt x="1209674" y="0"/>
                </a:lnTo>
              </a:path>
            </a:pathLst>
          </a:custGeom>
          <a:ln w="19049">
            <a:solidFill>
              <a:srgbClr val="585D6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104900" y="1778000"/>
            <a:ext cx="2675255" cy="2280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1243330" algn="l"/>
              </a:tabLst>
            </a:pP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Activity	</a:t>
            </a:r>
            <a:r>
              <a:rPr dirty="0" sz="1800" spc="-40">
                <a:solidFill>
                  <a:srgbClr val="585D60"/>
                </a:solidFill>
                <a:latin typeface="Arial"/>
                <a:cs typeface="Arial"/>
              </a:rPr>
              <a:t>Your</a:t>
            </a:r>
            <a:r>
              <a:rPr dirty="0" sz="1800" spc="-8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Solution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800">
              <a:latin typeface="Arial"/>
              <a:cs typeface="Arial"/>
            </a:endParaRPr>
          </a:p>
          <a:p>
            <a:pPr marL="190500" indent="-133985">
              <a:lnSpc>
                <a:spcPct val="100000"/>
              </a:lnSpc>
              <a:buClr>
                <a:srgbClr val="C2132D"/>
              </a:buClr>
              <a:buSzPct val="112500"/>
              <a:buFont typeface="Trebuchet MS"/>
              <a:buChar char="•"/>
              <a:tabLst>
                <a:tab pos="190500" algn="l"/>
              </a:tabLst>
            </a:pPr>
            <a:r>
              <a:rPr dirty="0" sz="1600" spc="55" i="1">
                <a:solidFill>
                  <a:srgbClr val="585D60"/>
                </a:solidFill>
                <a:latin typeface="Verdana"/>
                <a:cs typeface="Verdana"/>
              </a:rPr>
              <a:t>B</a:t>
            </a:r>
            <a:r>
              <a:rPr dirty="0" baseline="-11111" sz="1875" spc="82">
                <a:solidFill>
                  <a:srgbClr val="585D60"/>
                </a:solidFill>
                <a:latin typeface="Lucida Sans Unicode"/>
                <a:cs typeface="Lucida Sans Unicode"/>
              </a:rPr>
              <a:t>1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=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{</a:t>
            </a:r>
            <a:r>
              <a:rPr dirty="0" sz="1800" spc="-5">
                <a:solidFill>
                  <a:srgbClr val="376BB0"/>
                </a:solidFill>
                <a:latin typeface="Trebuchet MS"/>
                <a:cs typeface="Trebuchet MS"/>
              </a:rPr>
              <a:t>Milk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, </a:t>
            </a:r>
            <a:r>
              <a:rPr dirty="0" sz="1800" spc="-10">
                <a:solidFill>
                  <a:srgbClr val="F0017E"/>
                </a:solidFill>
                <a:latin typeface="Trebuchet MS"/>
                <a:cs typeface="Trebuchet MS"/>
              </a:rPr>
              <a:t>Coke</a:t>
            </a: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,</a:t>
            </a:r>
            <a:r>
              <a:rPr dirty="0" sz="1800" spc="-8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DBF86"/>
                </a:solidFill>
                <a:latin typeface="Trebuchet MS"/>
                <a:cs typeface="Trebuchet MS"/>
              </a:rPr>
              <a:t>Beer</a:t>
            </a: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}</a:t>
            </a:r>
            <a:endParaRPr sz="1800">
              <a:latin typeface="Arial"/>
              <a:cs typeface="Arial"/>
            </a:endParaRPr>
          </a:p>
          <a:p>
            <a:pPr marL="190500" indent="-133985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SzPct val="112500"/>
              <a:buFont typeface="Trebuchet MS"/>
              <a:buChar char="•"/>
              <a:tabLst>
                <a:tab pos="190500" algn="l"/>
              </a:tabLst>
            </a:pPr>
            <a:r>
              <a:rPr dirty="0" sz="1600" spc="55" i="1">
                <a:solidFill>
                  <a:srgbClr val="585D60"/>
                </a:solidFill>
                <a:latin typeface="Verdana"/>
                <a:cs typeface="Verdana"/>
              </a:rPr>
              <a:t>B</a:t>
            </a:r>
            <a:r>
              <a:rPr dirty="0" baseline="-13333" sz="1875" spc="82">
                <a:solidFill>
                  <a:srgbClr val="585D60"/>
                </a:solidFill>
                <a:latin typeface="Lucida Sans Unicode"/>
                <a:cs typeface="Lucida Sans Unicode"/>
              </a:rPr>
              <a:t>3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=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{</a:t>
            </a:r>
            <a:r>
              <a:rPr dirty="0" sz="1800" spc="-5">
                <a:solidFill>
                  <a:srgbClr val="376BB0"/>
                </a:solidFill>
                <a:latin typeface="Trebuchet MS"/>
                <a:cs typeface="Trebuchet MS"/>
              </a:rPr>
              <a:t>Milk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,</a:t>
            </a:r>
            <a:r>
              <a:rPr dirty="0" sz="1800" spc="-2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DBF86"/>
                </a:solidFill>
                <a:latin typeface="Trebuchet MS"/>
                <a:cs typeface="Trebuchet MS"/>
              </a:rPr>
              <a:t>Beer</a:t>
            </a: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}</a:t>
            </a:r>
            <a:endParaRPr sz="1800">
              <a:latin typeface="Arial"/>
              <a:cs typeface="Arial"/>
            </a:endParaRPr>
          </a:p>
          <a:p>
            <a:pPr marL="19050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SzPct val="112500"/>
              <a:buFont typeface="Trebuchet MS"/>
              <a:buChar char="•"/>
              <a:tabLst>
                <a:tab pos="190500" algn="l"/>
              </a:tabLst>
            </a:pPr>
            <a:r>
              <a:rPr dirty="0" sz="1600" spc="55" i="1">
                <a:solidFill>
                  <a:srgbClr val="585D60"/>
                </a:solidFill>
                <a:latin typeface="Verdana"/>
                <a:cs typeface="Verdana"/>
              </a:rPr>
              <a:t>B</a:t>
            </a:r>
            <a:r>
              <a:rPr dirty="0" baseline="-11111" sz="1875" spc="82">
                <a:solidFill>
                  <a:srgbClr val="585D60"/>
                </a:solidFill>
                <a:latin typeface="Lucida Sans Unicode"/>
                <a:cs typeface="Lucida Sans Unicode"/>
              </a:rPr>
              <a:t>5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=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{</a:t>
            </a:r>
            <a:r>
              <a:rPr dirty="0" sz="1800" spc="-5">
                <a:solidFill>
                  <a:srgbClr val="376BB0"/>
                </a:solidFill>
                <a:latin typeface="Trebuchet MS"/>
                <a:cs typeface="Trebuchet MS"/>
              </a:rPr>
              <a:t>Milk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, </a:t>
            </a:r>
            <a:r>
              <a:rPr dirty="0" sz="1800" spc="10">
                <a:solidFill>
                  <a:srgbClr val="7EC87E"/>
                </a:solidFill>
                <a:latin typeface="Trebuchet MS"/>
                <a:cs typeface="Trebuchet MS"/>
              </a:rPr>
              <a:t>Pepsi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,</a:t>
            </a:r>
            <a:r>
              <a:rPr dirty="0" sz="1800" spc="-8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DBF86"/>
                </a:solidFill>
                <a:latin typeface="Trebuchet MS"/>
                <a:cs typeface="Trebuchet MS"/>
              </a:rPr>
              <a:t>Beer</a:t>
            </a: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}</a:t>
            </a:r>
            <a:endParaRPr sz="1800">
              <a:latin typeface="Arial"/>
              <a:cs typeface="Arial"/>
            </a:endParaRPr>
          </a:p>
          <a:p>
            <a:pPr marL="190500" indent="-133985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SzPct val="112500"/>
              <a:buFont typeface="Trebuchet MS"/>
              <a:buChar char="•"/>
              <a:tabLst>
                <a:tab pos="190500" algn="l"/>
              </a:tabLst>
            </a:pPr>
            <a:r>
              <a:rPr dirty="0" sz="1600" spc="55" i="1">
                <a:solidFill>
                  <a:srgbClr val="585D60"/>
                </a:solidFill>
                <a:latin typeface="Verdana"/>
                <a:cs typeface="Verdana"/>
              </a:rPr>
              <a:t>B</a:t>
            </a:r>
            <a:r>
              <a:rPr dirty="0" baseline="-13333" sz="1875" spc="82">
                <a:solidFill>
                  <a:srgbClr val="585D60"/>
                </a:solidFill>
                <a:latin typeface="Lucida Sans Unicode"/>
                <a:cs typeface="Lucida Sans Unicode"/>
              </a:rPr>
              <a:t>6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=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{</a:t>
            </a:r>
            <a:r>
              <a:rPr dirty="0" sz="1800" spc="-5">
                <a:solidFill>
                  <a:srgbClr val="F0017E"/>
                </a:solidFill>
                <a:latin typeface="Trebuchet MS"/>
                <a:cs typeface="Trebuchet MS"/>
              </a:rPr>
              <a:t>Coke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, </a:t>
            </a:r>
            <a:r>
              <a:rPr dirty="0" sz="1800" spc="-60">
                <a:solidFill>
                  <a:srgbClr val="FDBF86"/>
                </a:solidFill>
                <a:latin typeface="Trebuchet MS"/>
                <a:cs typeface="Trebuchet MS"/>
              </a:rPr>
              <a:t>Beer</a:t>
            </a:r>
            <a:r>
              <a:rPr dirty="0" sz="1800" spc="-60">
                <a:solidFill>
                  <a:srgbClr val="585D60"/>
                </a:solidFill>
                <a:latin typeface="Arial"/>
                <a:cs typeface="Arial"/>
              </a:rPr>
              <a:t>,</a:t>
            </a:r>
            <a:r>
              <a:rPr dirty="0" sz="1800" spc="-114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BEAED4"/>
                </a:solidFill>
                <a:latin typeface="Trebuchet MS"/>
                <a:cs typeface="Trebuchet MS"/>
              </a:rPr>
              <a:t>Juice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}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403080" y="182880"/>
            <a:ext cx="1978660" cy="966469"/>
          </a:xfrm>
          <a:custGeom>
            <a:avLst/>
            <a:gdLst/>
            <a:ahLst/>
            <a:cxnLst/>
            <a:rect l="l" t="t" r="r" b="b"/>
            <a:pathLst>
              <a:path w="1978659" h="966469">
                <a:moveTo>
                  <a:pt x="1978152" y="966216"/>
                </a:moveTo>
                <a:lnTo>
                  <a:pt x="0" y="966216"/>
                </a:lnTo>
                <a:lnTo>
                  <a:pt x="0" y="0"/>
                </a:lnTo>
                <a:lnTo>
                  <a:pt x="1978152" y="0"/>
                </a:lnTo>
                <a:lnTo>
                  <a:pt x="1978152" y="102870"/>
                </a:lnTo>
                <a:lnTo>
                  <a:pt x="274319" y="102870"/>
                </a:lnTo>
                <a:lnTo>
                  <a:pt x="261182" y="103504"/>
                </a:lnTo>
                <a:lnTo>
                  <a:pt x="223287" y="113020"/>
                </a:lnTo>
                <a:lnTo>
                  <a:pt x="189762" y="133087"/>
                </a:lnTo>
                <a:lnTo>
                  <a:pt x="163420" y="162120"/>
                </a:lnTo>
                <a:lnTo>
                  <a:pt x="146677" y="197568"/>
                </a:lnTo>
                <a:lnTo>
                  <a:pt x="140969" y="236220"/>
                </a:lnTo>
                <a:lnTo>
                  <a:pt x="140969" y="655320"/>
                </a:lnTo>
                <a:lnTo>
                  <a:pt x="146677" y="693971"/>
                </a:lnTo>
                <a:lnTo>
                  <a:pt x="163420" y="729419"/>
                </a:lnTo>
                <a:lnTo>
                  <a:pt x="189762" y="758452"/>
                </a:lnTo>
                <a:lnTo>
                  <a:pt x="223287" y="778519"/>
                </a:lnTo>
                <a:lnTo>
                  <a:pt x="261182" y="788035"/>
                </a:lnTo>
                <a:lnTo>
                  <a:pt x="274319" y="788670"/>
                </a:lnTo>
                <a:lnTo>
                  <a:pt x="1978152" y="788670"/>
                </a:lnTo>
                <a:lnTo>
                  <a:pt x="1978152" y="966216"/>
                </a:lnTo>
                <a:close/>
              </a:path>
              <a:path w="1978659" h="966469">
                <a:moveTo>
                  <a:pt x="1978152" y="788670"/>
                </a:moveTo>
                <a:lnTo>
                  <a:pt x="1703069" y="788670"/>
                </a:lnTo>
                <a:lnTo>
                  <a:pt x="1716205" y="788035"/>
                </a:lnTo>
                <a:lnTo>
                  <a:pt x="1729088" y="786132"/>
                </a:lnTo>
                <a:lnTo>
                  <a:pt x="1765992" y="772906"/>
                </a:lnTo>
                <a:lnTo>
                  <a:pt x="1797360" y="749612"/>
                </a:lnTo>
                <a:lnTo>
                  <a:pt x="1820653" y="718244"/>
                </a:lnTo>
                <a:lnTo>
                  <a:pt x="1833880" y="681340"/>
                </a:lnTo>
                <a:lnTo>
                  <a:pt x="1836419" y="655320"/>
                </a:lnTo>
                <a:lnTo>
                  <a:pt x="1836419" y="236220"/>
                </a:lnTo>
                <a:lnTo>
                  <a:pt x="1830708" y="197568"/>
                </a:lnTo>
                <a:lnTo>
                  <a:pt x="1813965" y="162120"/>
                </a:lnTo>
                <a:lnTo>
                  <a:pt x="1787623" y="133087"/>
                </a:lnTo>
                <a:lnTo>
                  <a:pt x="1754098" y="113020"/>
                </a:lnTo>
                <a:lnTo>
                  <a:pt x="1716205" y="103504"/>
                </a:lnTo>
                <a:lnTo>
                  <a:pt x="1703069" y="102870"/>
                </a:lnTo>
                <a:lnTo>
                  <a:pt x="1978152" y="102870"/>
                </a:lnTo>
                <a:lnTo>
                  <a:pt x="1978152" y="788670"/>
                </a:lnTo>
                <a:close/>
              </a:path>
            </a:pathLst>
          </a:custGeom>
          <a:solidFill>
            <a:srgbClr val="323232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9548811" y="290512"/>
            <a:ext cx="1685925" cy="676275"/>
          </a:xfrm>
          <a:custGeom>
            <a:avLst/>
            <a:gdLst/>
            <a:ahLst/>
            <a:cxnLst/>
            <a:rect l="l" t="t" r="r" b="b"/>
            <a:pathLst>
              <a:path w="1685925" h="676275">
                <a:moveTo>
                  <a:pt x="1565780" y="676274"/>
                </a:moveTo>
                <a:lnTo>
                  <a:pt x="120144" y="676274"/>
                </a:lnTo>
                <a:lnTo>
                  <a:pt x="111782" y="675451"/>
                </a:lnTo>
                <a:lnTo>
                  <a:pt x="71578" y="663255"/>
                </a:lnTo>
                <a:lnTo>
                  <a:pt x="31692" y="632642"/>
                </a:lnTo>
                <a:lnTo>
                  <a:pt x="6556" y="589095"/>
                </a:lnTo>
                <a:lnTo>
                  <a:pt x="0" y="556130"/>
                </a:lnTo>
                <a:lnTo>
                  <a:pt x="0" y="120144"/>
                </a:lnTo>
                <a:lnTo>
                  <a:pt x="13018" y="71578"/>
                </a:lnTo>
                <a:lnTo>
                  <a:pt x="43632" y="31692"/>
                </a:lnTo>
                <a:lnTo>
                  <a:pt x="87178" y="6557"/>
                </a:lnTo>
                <a:lnTo>
                  <a:pt x="120144" y="0"/>
                </a:lnTo>
                <a:lnTo>
                  <a:pt x="1565780" y="0"/>
                </a:lnTo>
                <a:lnTo>
                  <a:pt x="1614345" y="13019"/>
                </a:lnTo>
                <a:lnTo>
                  <a:pt x="1654232" y="43632"/>
                </a:lnTo>
                <a:lnTo>
                  <a:pt x="1679366" y="87179"/>
                </a:lnTo>
                <a:lnTo>
                  <a:pt x="1685925" y="120144"/>
                </a:lnTo>
                <a:lnTo>
                  <a:pt x="1685925" y="556130"/>
                </a:lnTo>
                <a:lnTo>
                  <a:pt x="1672904" y="604696"/>
                </a:lnTo>
                <a:lnTo>
                  <a:pt x="1642292" y="644582"/>
                </a:lnTo>
                <a:lnTo>
                  <a:pt x="1598743" y="669717"/>
                </a:lnTo>
                <a:lnTo>
                  <a:pt x="1565780" y="67627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9548810" y="290512"/>
            <a:ext cx="1685925" cy="676275"/>
          </a:xfrm>
          <a:custGeom>
            <a:avLst/>
            <a:gdLst/>
            <a:ahLst/>
            <a:cxnLst/>
            <a:rect l="l" t="t" r="r" b="b"/>
            <a:pathLst>
              <a:path w="1685925" h="676275">
                <a:moveTo>
                  <a:pt x="0" y="547687"/>
                </a:moveTo>
                <a:lnTo>
                  <a:pt x="0" y="128587"/>
                </a:lnTo>
                <a:lnTo>
                  <a:pt x="0" y="120144"/>
                </a:lnTo>
                <a:lnTo>
                  <a:pt x="823" y="111782"/>
                </a:lnTo>
                <a:lnTo>
                  <a:pt x="2470" y="103501"/>
                </a:lnTo>
                <a:lnTo>
                  <a:pt x="4117" y="95220"/>
                </a:lnTo>
                <a:lnTo>
                  <a:pt x="6556" y="87179"/>
                </a:lnTo>
                <a:lnTo>
                  <a:pt x="9787" y="79379"/>
                </a:lnTo>
                <a:lnTo>
                  <a:pt x="13018" y="71578"/>
                </a:lnTo>
                <a:lnTo>
                  <a:pt x="37662" y="37662"/>
                </a:lnTo>
                <a:lnTo>
                  <a:pt x="43632" y="31692"/>
                </a:lnTo>
                <a:lnTo>
                  <a:pt x="50127" y="26361"/>
                </a:lnTo>
                <a:lnTo>
                  <a:pt x="57147" y="21670"/>
                </a:lnTo>
                <a:lnTo>
                  <a:pt x="64167" y="16980"/>
                </a:lnTo>
                <a:lnTo>
                  <a:pt x="71577" y="13019"/>
                </a:lnTo>
                <a:lnTo>
                  <a:pt x="79378" y="9788"/>
                </a:lnTo>
                <a:lnTo>
                  <a:pt x="87178" y="6557"/>
                </a:lnTo>
                <a:lnTo>
                  <a:pt x="95219" y="4117"/>
                </a:lnTo>
                <a:lnTo>
                  <a:pt x="103501" y="2470"/>
                </a:lnTo>
                <a:lnTo>
                  <a:pt x="111782" y="823"/>
                </a:lnTo>
                <a:lnTo>
                  <a:pt x="120144" y="0"/>
                </a:lnTo>
                <a:lnTo>
                  <a:pt x="128588" y="0"/>
                </a:lnTo>
                <a:lnTo>
                  <a:pt x="1557337" y="0"/>
                </a:lnTo>
                <a:lnTo>
                  <a:pt x="1565780" y="0"/>
                </a:lnTo>
                <a:lnTo>
                  <a:pt x="1574142" y="823"/>
                </a:lnTo>
                <a:lnTo>
                  <a:pt x="1582422" y="2470"/>
                </a:lnTo>
                <a:lnTo>
                  <a:pt x="1590703" y="4117"/>
                </a:lnTo>
                <a:lnTo>
                  <a:pt x="1598743" y="6557"/>
                </a:lnTo>
                <a:lnTo>
                  <a:pt x="1606544" y="9788"/>
                </a:lnTo>
                <a:lnTo>
                  <a:pt x="1614344" y="13019"/>
                </a:lnTo>
                <a:lnTo>
                  <a:pt x="1648262" y="37662"/>
                </a:lnTo>
                <a:lnTo>
                  <a:pt x="1672904" y="71578"/>
                </a:lnTo>
                <a:lnTo>
                  <a:pt x="1685101" y="111782"/>
                </a:lnTo>
                <a:lnTo>
                  <a:pt x="1685925" y="120144"/>
                </a:lnTo>
                <a:lnTo>
                  <a:pt x="1685925" y="128587"/>
                </a:lnTo>
                <a:lnTo>
                  <a:pt x="1685925" y="547687"/>
                </a:lnTo>
                <a:lnTo>
                  <a:pt x="1685925" y="556130"/>
                </a:lnTo>
                <a:lnTo>
                  <a:pt x="1685101" y="564492"/>
                </a:lnTo>
                <a:lnTo>
                  <a:pt x="1672904" y="604696"/>
                </a:lnTo>
                <a:lnTo>
                  <a:pt x="1648262" y="638612"/>
                </a:lnTo>
                <a:lnTo>
                  <a:pt x="1628775" y="654603"/>
                </a:lnTo>
                <a:lnTo>
                  <a:pt x="1621754" y="659294"/>
                </a:lnTo>
                <a:lnTo>
                  <a:pt x="1614344" y="663255"/>
                </a:lnTo>
                <a:lnTo>
                  <a:pt x="1606544" y="666486"/>
                </a:lnTo>
                <a:lnTo>
                  <a:pt x="1598743" y="669717"/>
                </a:lnTo>
                <a:lnTo>
                  <a:pt x="1590703" y="672156"/>
                </a:lnTo>
                <a:lnTo>
                  <a:pt x="1582422" y="673804"/>
                </a:lnTo>
                <a:lnTo>
                  <a:pt x="1574142" y="675451"/>
                </a:lnTo>
                <a:lnTo>
                  <a:pt x="1565780" y="676274"/>
                </a:lnTo>
                <a:lnTo>
                  <a:pt x="1557337" y="676274"/>
                </a:lnTo>
                <a:lnTo>
                  <a:pt x="128588" y="676274"/>
                </a:lnTo>
                <a:lnTo>
                  <a:pt x="120144" y="676274"/>
                </a:lnTo>
                <a:lnTo>
                  <a:pt x="111782" y="675451"/>
                </a:lnTo>
                <a:lnTo>
                  <a:pt x="103501" y="673804"/>
                </a:lnTo>
                <a:lnTo>
                  <a:pt x="95219" y="672156"/>
                </a:lnTo>
                <a:lnTo>
                  <a:pt x="87178" y="669717"/>
                </a:lnTo>
                <a:lnTo>
                  <a:pt x="79378" y="666486"/>
                </a:lnTo>
                <a:lnTo>
                  <a:pt x="71578" y="663255"/>
                </a:lnTo>
                <a:lnTo>
                  <a:pt x="64167" y="659294"/>
                </a:lnTo>
                <a:lnTo>
                  <a:pt x="57147" y="654603"/>
                </a:lnTo>
                <a:lnTo>
                  <a:pt x="50127" y="649913"/>
                </a:lnTo>
                <a:lnTo>
                  <a:pt x="21670" y="619126"/>
                </a:lnTo>
                <a:lnTo>
                  <a:pt x="16979" y="612106"/>
                </a:lnTo>
                <a:lnTo>
                  <a:pt x="13018" y="604696"/>
                </a:lnTo>
                <a:lnTo>
                  <a:pt x="9787" y="596895"/>
                </a:lnTo>
                <a:lnTo>
                  <a:pt x="6556" y="589095"/>
                </a:lnTo>
                <a:lnTo>
                  <a:pt x="4117" y="581054"/>
                </a:lnTo>
                <a:lnTo>
                  <a:pt x="2470" y="572773"/>
                </a:lnTo>
                <a:lnTo>
                  <a:pt x="823" y="564492"/>
                </a:lnTo>
                <a:lnTo>
                  <a:pt x="0" y="556130"/>
                </a:lnTo>
                <a:lnTo>
                  <a:pt x="0" y="547687"/>
                </a:lnTo>
                <a:close/>
              </a:path>
            </a:pathLst>
          </a:custGeom>
          <a:ln w="28574">
            <a:solidFill>
              <a:srgbClr val="DDDDD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926846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04:00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5"/>
              <a:t>27</a:t>
            </a:fld>
            <a:r>
              <a:rPr dirty="0" spc="5"/>
              <a:t> </a:t>
            </a:r>
            <a:r>
              <a:rPr dirty="0" spc="160"/>
              <a:t>/</a:t>
            </a:r>
            <a:r>
              <a:rPr dirty="0" spc="-165"/>
              <a:t> </a:t>
            </a:r>
            <a:r>
              <a:rPr dirty="0" spc="5"/>
              <a:t>33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5"/>
              <a:t>27</a:t>
            </a:fld>
            <a:r>
              <a:rPr dirty="0" spc="5"/>
              <a:t> </a:t>
            </a:r>
            <a:r>
              <a:rPr dirty="0" spc="160"/>
              <a:t>/</a:t>
            </a:r>
            <a:r>
              <a:rPr dirty="0" spc="-165"/>
              <a:t> </a:t>
            </a:r>
            <a:r>
              <a:rPr dirty="0" spc="5"/>
              <a:t>33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20700"/>
            <a:ext cx="5368290" cy="6540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4100" spc="-195">
                <a:latin typeface="Trebuchet MS"/>
                <a:cs typeface="Trebuchet MS"/>
              </a:rPr>
              <a:t>Finding </a:t>
            </a:r>
            <a:r>
              <a:rPr dirty="0" sz="4100" spc="-114">
                <a:latin typeface="Trebuchet MS"/>
                <a:cs typeface="Trebuchet MS"/>
              </a:rPr>
              <a:t>Association</a:t>
            </a:r>
            <a:r>
              <a:rPr dirty="0" sz="4100" spc="-450">
                <a:latin typeface="Trebuchet MS"/>
                <a:cs typeface="Trebuchet MS"/>
              </a:rPr>
              <a:t> </a:t>
            </a:r>
            <a:r>
              <a:rPr dirty="0" sz="4100" spc="-160">
                <a:latin typeface="Trebuchet MS"/>
                <a:cs typeface="Trebuchet MS"/>
              </a:rPr>
              <a:t>Rules</a:t>
            </a:r>
            <a:endParaRPr sz="41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36054" y="1530350"/>
            <a:ext cx="9153525" cy="20332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8750" indent="-133985">
              <a:lnSpc>
                <a:spcPct val="100000"/>
              </a:lnSpc>
              <a:spcBef>
                <a:spcPts val="100"/>
              </a:spcBef>
              <a:buFont typeface="Trebuchet MS"/>
              <a:buChar char="•"/>
              <a:tabLst>
                <a:tab pos="159385" algn="l"/>
              </a:tabLst>
            </a:pPr>
            <a:r>
              <a:rPr dirty="0" sz="1800" spc="-45" b="1">
                <a:solidFill>
                  <a:srgbClr val="C2132D"/>
                </a:solidFill>
                <a:latin typeface="Trebuchet MS"/>
                <a:cs typeface="Trebuchet MS"/>
              </a:rPr>
              <a:t>Problem:</a:t>
            </a:r>
            <a:r>
              <a:rPr dirty="0" sz="1800" spc="-10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55" b="1">
                <a:latin typeface="Trebuchet MS"/>
                <a:cs typeface="Trebuchet MS"/>
              </a:rPr>
              <a:t>Find</a:t>
            </a:r>
            <a:r>
              <a:rPr dirty="0" sz="1800" spc="-95" b="1">
                <a:latin typeface="Trebuchet MS"/>
                <a:cs typeface="Trebuchet MS"/>
              </a:rPr>
              <a:t> </a:t>
            </a:r>
            <a:r>
              <a:rPr dirty="0" sz="1800" spc="-35" b="1">
                <a:latin typeface="Trebuchet MS"/>
                <a:cs typeface="Trebuchet MS"/>
              </a:rPr>
              <a:t>all</a:t>
            </a:r>
            <a:r>
              <a:rPr dirty="0" sz="1800" spc="-95" b="1">
                <a:latin typeface="Trebuchet MS"/>
                <a:cs typeface="Trebuchet MS"/>
              </a:rPr>
              <a:t> </a:t>
            </a:r>
            <a:r>
              <a:rPr dirty="0" sz="1800" b="1">
                <a:latin typeface="Trebuchet MS"/>
                <a:cs typeface="Trebuchet MS"/>
              </a:rPr>
              <a:t>association</a:t>
            </a:r>
            <a:r>
              <a:rPr dirty="0" sz="1800" spc="-95" b="1">
                <a:latin typeface="Trebuchet MS"/>
                <a:cs typeface="Trebuchet MS"/>
              </a:rPr>
              <a:t> </a:t>
            </a:r>
            <a:r>
              <a:rPr dirty="0" sz="1800" spc="-30" b="1">
                <a:latin typeface="Trebuchet MS"/>
                <a:cs typeface="Trebuchet MS"/>
              </a:rPr>
              <a:t>rules</a:t>
            </a:r>
            <a:r>
              <a:rPr dirty="0" sz="1800" spc="-90" b="1">
                <a:latin typeface="Trebuchet MS"/>
                <a:cs typeface="Trebuchet MS"/>
              </a:rPr>
              <a:t> </a:t>
            </a:r>
            <a:r>
              <a:rPr dirty="0" sz="1800" spc="-80" b="1">
                <a:latin typeface="Trebuchet MS"/>
                <a:cs typeface="Trebuchet MS"/>
              </a:rPr>
              <a:t>with</a:t>
            </a:r>
            <a:r>
              <a:rPr dirty="0" sz="1800" spc="-95" b="1">
                <a:latin typeface="Trebuchet MS"/>
                <a:cs typeface="Trebuchet MS"/>
              </a:rPr>
              <a:t> </a:t>
            </a:r>
            <a:r>
              <a:rPr dirty="0" sz="1800" spc="-25" b="1">
                <a:latin typeface="Trebuchet MS"/>
                <a:cs typeface="Trebuchet MS"/>
              </a:rPr>
              <a:t>support</a:t>
            </a:r>
            <a:r>
              <a:rPr dirty="0" sz="1800" spc="-95" b="1">
                <a:latin typeface="Trebuchet MS"/>
                <a:cs typeface="Trebuchet MS"/>
              </a:rPr>
              <a:t> </a:t>
            </a:r>
            <a:r>
              <a:rPr dirty="0" sz="1800" b="1">
                <a:latin typeface="Arial"/>
                <a:cs typeface="Arial"/>
              </a:rPr>
              <a:t>≥</a:t>
            </a:r>
            <a:r>
              <a:rPr dirty="0" sz="1800" spc="-55" b="1">
                <a:latin typeface="Arial"/>
                <a:cs typeface="Arial"/>
              </a:rPr>
              <a:t> </a:t>
            </a:r>
            <a:r>
              <a:rPr dirty="0" sz="1800" spc="145" b="1">
                <a:latin typeface="Trebuchet MS"/>
                <a:cs typeface="Trebuchet MS"/>
              </a:rPr>
              <a:t>s</a:t>
            </a:r>
            <a:r>
              <a:rPr dirty="0" sz="1800" spc="-90" b="1">
                <a:latin typeface="Trebuchet MS"/>
                <a:cs typeface="Trebuchet MS"/>
              </a:rPr>
              <a:t> </a:t>
            </a:r>
            <a:r>
              <a:rPr dirty="0" sz="1800" spc="-30" b="1">
                <a:latin typeface="Trebuchet MS"/>
                <a:cs typeface="Trebuchet MS"/>
              </a:rPr>
              <a:t>and</a:t>
            </a:r>
            <a:r>
              <a:rPr dirty="0" sz="1800" spc="-95" b="1">
                <a:latin typeface="Trebuchet MS"/>
                <a:cs typeface="Trebuchet MS"/>
              </a:rPr>
              <a:t> </a:t>
            </a:r>
            <a:r>
              <a:rPr dirty="0" sz="1800" spc="-35" b="1">
                <a:latin typeface="Trebuchet MS"/>
                <a:cs typeface="Trebuchet MS"/>
              </a:rPr>
              <a:t>confidence</a:t>
            </a:r>
            <a:r>
              <a:rPr dirty="0" sz="1800" spc="-95" b="1">
                <a:latin typeface="Trebuchet MS"/>
                <a:cs typeface="Trebuchet MS"/>
              </a:rPr>
              <a:t> </a:t>
            </a:r>
            <a:r>
              <a:rPr dirty="0" sz="1800" b="1">
                <a:latin typeface="Arial"/>
                <a:cs typeface="Arial"/>
              </a:rPr>
              <a:t>≥</a:t>
            </a:r>
            <a:r>
              <a:rPr dirty="0" sz="1800" spc="-55" b="1">
                <a:latin typeface="Arial"/>
                <a:cs typeface="Arial"/>
              </a:rPr>
              <a:t> </a:t>
            </a:r>
            <a:r>
              <a:rPr dirty="0" sz="1800" spc="15" b="1">
                <a:latin typeface="Trebuchet MS"/>
                <a:cs typeface="Trebuchet MS"/>
              </a:rPr>
              <a:t>c</a:t>
            </a:r>
            <a:endParaRPr sz="1800">
              <a:latin typeface="Trebuchet MS"/>
              <a:cs typeface="Trebuchet MS"/>
            </a:endParaRPr>
          </a:p>
          <a:p>
            <a:pPr lvl="1" marL="539750" indent="-134620">
              <a:lnSpc>
                <a:spcPct val="100000"/>
              </a:lnSpc>
              <a:spcBef>
                <a:spcPts val="1290"/>
              </a:spcBef>
              <a:buFont typeface="Trebuchet MS"/>
              <a:buChar char="•"/>
              <a:tabLst>
                <a:tab pos="540385" algn="l"/>
              </a:tabLst>
            </a:pPr>
            <a:r>
              <a:rPr dirty="0" sz="1800" spc="-55" b="1">
                <a:solidFill>
                  <a:srgbClr val="C2132D"/>
                </a:solidFill>
                <a:latin typeface="Trebuchet MS"/>
                <a:cs typeface="Trebuchet MS"/>
              </a:rPr>
              <a:t>Note:</a:t>
            </a:r>
            <a:r>
              <a:rPr dirty="0" sz="1800" spc="-10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Support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Arial"/>
                <a:cs typeface="Arial"/>
              </a:rPr>
              <a:t>of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5">
                <a:solidFill>
                  <a:srgbClr val="585D60"/>
                </a:solidFill>
                <a:latin typeface="Arial"/>
                <a:cs typeface="Arial"/>
              </a:rPr>
              <a:t>an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association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rule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Arial"/>
                <a:cs typeface="Arial"/>
              </a:rPr>
              <a:t>is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5">
                <a:solidFill>
                  <a:srgbClr val="585D60"/>
                </a:solidFill>
                <a:latin typeface="Arial"/>
                <a:cs typeface="Arial"/>
              </a:rPr>
              <a:t>support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Arial"/>
                <a:cs typeface="Arial"/>
              </a:rPr>
              <a:t>of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set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Arial"/>
                <a:cs typeface="Arial"/>
              </a:rPr>
              <a:t>of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5">
                <a:solidFill>
                  <a:srgbClr val="585D60"/>
                </a:solidFill>
                <a:latin typeface="Arial"/>
                <a:cs typeface="Arial"/>
              </a:rPr>
              <a:t>items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on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585D60"/>
                </a:solidFill>
                <a:latin typeface="Arial"/>
                <a:cs typeface="Arial"/>
              </a:rPr>
              <a:t>left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side</a:t>
            </a:r>
            <a:endParaRPr sz="1800">
              <a:latin typeface="Arial"/>
              <a:cs typeface="Arial"/>
            </a:endParaRPr>
          </a:p>
          <a:p>
            <a:pPr marL="158750" indent="-133985">
              <a:lnSpc>
                <a:spcPct val="100000"/>
              </a:lnSpc>
              <a:spcBef>
                <a:spcPts val="1215"/>
              </a:spcBef>
              <a:buFont typeface="Trebuchet MS"/>
              <a:buChar char="•"/>
              <a:tabLst>
                <a:tab pos="159385" algn="l"/>
              </a:tabLst>
            </a:pPr>
            <a:r>
              <a:rPr dirty="0" sz="1800" spc="-30" b="1">
                <a:solidFill>
                  <a:srgbClr val="C2132D"/>
                </a:solidFill>
                <a:latin typeface="Trebuchet MS"/>
                <a:cs typeface="Trebuchet MS"/>
              </a:rPr>
              <a:t>Hard </a:t>
            </a:r>
            <a:r>
              <a:rPr dirty="0" sz="1800" spc="-75" b="1">
                <a:solidFill>
                  <a:srgbClr val="C2132D"/>
                </a:solidFill>
                <a:latin typeface="Trebuchet MS"/>
                <a:cs typeface="Trebuchet MS"/>
              </a:rPr>
              <a:t>part: </a:t>
            </a:r>
            <a:r>
              <a:rPr dirty="0" sz="1800" spc="-30" b="1">
                <a:latin typeface="Trebuchet MS"/>
                <a:cs typeface="Trebuchet MS"/>
              </a:rPr>
              <a:t>Finding </a:t>
            </a:r>
            <a:r>
              <a:rPr dirty="0" sz="1800" spc="-80" b="1">
                <a:latin typeface="Trebuchet MS"/>
                <a:cs typeface="Trebuchet MS"/>
              </a:rPr>
              <a:t>the </a:t>
            </a:r>
            <a:r>
              <a:rPr dirty="0" sz="1800" spc="-70" b="1">
                <a:latin typeface="Trebuchet MS"/>
                <a:cs typeface="Trebuchet MS"/>
              </a:rPr>
              <a:t>frequent</a:t>
            </a:r>
            <a:r>
              <a:rPr dirty="0" sz="1800" spc="-270" b="1">
                <a:latin typeface="Trebuchet MS"/>
                <a:cs typeface="Trebuchet MS"/>
              </a:rPr>
              <a:t> </a:t>
            </a:r>
            <a:r>
              <a:rPr dirty="0" sz="1800" spc="-30" b="1">
                <a:latin typeface="Trebuchet MS"/>
                <a:cs typeface="Trebuchet MS"/>
              </a:rPr>
              <a:t>itemsets!</a:t>
            </a:r>
            <a:endParaRPr sz="1800">
              <a:latin typeface="Trebuchet MS"/>
              <a:cs typeface="Trebuchet MS"/>
            </a:endParaRPr>
          </a:p>
          <a:p>
            <a:pPr lvl="1" marL="539750" indent="-134620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Font typeface="Trebuchet MS"/>
              <a:buChar char="•"/>
              <a:tabLst>
                <a:tab pos="540385" algn="l"/>
              </a:tabLst>
            </a:pPr>
            <a:r>
              <a:rPr dirty="0" sz="1800" spc="55">
                <a:solidFill>
                  <a:srgbClr val="585D60"/>
                </a:solidFill>
                <a:latin typeface="Arial"/>
                <a:cs typeface="Arial"/>
              </a:rPr>
              <a:t>If </a:t>
            </a:r>
            <a:r>
              <a:rPr dirty="0" sz="1800" spc="-100">
                <a:solidFill>
                  <a:srgbClr val="C2132D"/>
                </a:solidFill>
                <a:latin typeface="Trebuchet MS"/>
                <a:cs typeface="Trebuchet MS"/>
              </a:rPr>
              <a:t>{i</a:t>
            </a:r>
            <a:r>
              <a:rPr dirty="0" baseline="-12345" sz="2025" spc="-150">
                <a:solidFill>
                  <a:srgbClr val="C2132D"/>
                </a:solidFill>
                <a:latin typeface="Trebuchet MS"/>
                <a:cs typeface="Trebuchet MS"/>
              </a:rPr>
              <a:t>1</a:t>
            </a:r>
            <a:r>
              <a:rPr dirty="0" sz="1800" spc="-100">
                <a:solidFill>
                  <a:srgbClr val="C2132D"/>
                </a:solidFill>
                <a:latin typeface="Trebuchet MS"/>
                <a:cs typeface="Trebuchet MS"/>
              </a:rPr>
              <a:t>, </a:t>
            </a:r>
            <a:r>
              <a:rPr dirty="0" sz="1800" spc="-110">
                <a:solidFill>
                  <a:srgbClr val="C2132D"/>
                </a:solidFill>
                <a:latin typeface="Trebuchet MS"/>
                <a:cs typeface="Trebuchet MS"/>
              </a:rPr>
              <a:t>i</a:t>
            </a:r>
            <a:r>
              <a:rPr dirty="0" baseline="-12345" sz="2025" spc="-165">
                <a:solidFill>
                  <a:srgbClr val="C2132D"/>
                </a:solidFill>
                <a:latin typeface="Trebuchet MS"/>
                <a:cs typeface="Trebuchet MS"/>
              </a:rPr>
              <a:t>2</a:t>
            </a:r>
            <a:r>
              <a:rPr dirty="0" sz="1800" spc="-110">
                <a:solidFill>
                  <a:srgbClr val="C2132D"/>
                </a:solidFill>
                <a:latin typeface="Trebuchet MS"/>
                <a:cs typeface="Trebuchet MS"/>
              </a:rPr>
              <a:t>,…,i</a:t>
            </a:r>
            <a:r>
              <a:rPr dirty="0" baseline="-12345" sz="2025" spc="-165">
                <a:solidFill>
                  <a:srgbClr val="C2132D"/>
                </a:solidFill>
                <a:latin typeface="Trebuchet MS"/>
                <a:cs typeface="Trebuchet MS"/>
              </a:rPr>
              <a:t>k</a:t>
            </a:r>
            <a:r>
              <a:rPr dirty="0" sz="1800" spc="-110">
                <a:solidFill>
                  <a:srgbClr val="C2132D"/>
                </a:solidFill>
                <a:latin typeface="Trebuchet MS"/>
                <a:cs typeface="Trebuchet MS"/>
              </a:rPr>
              <a:t>} </a:t>
            </a:r>
            <a:r>
              <a:rPr dirty="0" sz="1800">
                <a:solidFill>
                  <a:srgbClr val="C2132D"/>
                </a:solidFill>
                <a:latin typeface="Arial"/>
                <a:cs typeface="Arial"/>
              </a:rPr>
              <a:t>→ </a:t>
            </a:r>
            <a:r>
              <a:rPr dirty="0" sz="1800" spc="-229">
                <a:solidFill>
                  <a:srgbClr val="C2132D"/>
                </a:solidFill>
                <a:latin typeface="Trebuchet MS"/>
                <a:cs typeface="Trebuchet MS"/>
              </a:rPr>
              <a:t>j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has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high </a:t>
            </a:r>
            <a:r>
              <a:rPr dirty="0" sz="1800" spc="25">
                <a:solidFill>
                  <a:srgbClr val="585D60"/>
                </a:solidFill>
                <a:latin typeface="Arial"/>
                <a:cs typeface="Arial"/>
              </a:rPr>
              <a:t>support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and confidence,</a:t>
            </a:r>
            <a:r>
              <a:rPr dirty="0" sz="1800" spc="-31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then:</a:t>
            </a:r>
            <a:endParaRPr sz="1800">
              <a:latin typeface="Arial"/>
              <a:cs typeface="Arial"/>
            </a:endParaRPr>
          </a:p>
          <a:p>
            <a:pPr lvl="1" marL="539750" indent="-134620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Font typeface="Trebuchet MS"/>
              <a:buChar char="•"/>
              <a:tabLst>
                <a:tab pos="540385" algn="l"/>
              </a:tabLst>
            </a:pPr>
            <a:r>
              <a:rPr dirty="0" sz="1800" spc="25">
                <a:solidFill>
                  <a:srgbClr val="585D60"/>
                </a:solidFill>
                <a:latin typeface="Arial"/>
                <a:cs typeface="Arial"/>
              </a:rPr>
              <a:t>both </a:t>
            </a:r>
            <a:r>
              <a:rPr dirty="0" sz="1800" spc="-100">
                <a:solidFill>
                  <a:srgbClr val="FFA500"/>
                </a:solidFill>
                <a:latin typeface="Trebuchet MS"/>
                <a:cs typeface="Trebuchet MS"/>
              </a:rPr>
              <a:t>{i</a:t>
            </a:r>
            <a:r>
              <a:rPr dirty="0" baseline="-16460" sz="2025" spc="-150">
                <a:solidFill>
                  <a:srgbClr val="FFA500"/>
                </a:solidFill>
                <a:latin typeface="Trebuchet MS"/>
                <a:cs typeface="Trebuchet MS"/>
              </a:rPr>
              <a:t>1</a:t>
            </a:r>
            <a:r>
              <a:rPr dirty="0" sz="1800" spc="-100">
                <a:solidFill>
                  <a:srgbClr val="FFA500"/>
                </a:solidFill>
                <a:latin typeface="Trebuchet MS"/>
                <a:cs typeface="Trebuchet MS"/>
              </a:rPr>
              <a:t>, </a:t>
            </a:r>
            <a:r>
              <a:rPr dirty="0" sz="1800" spc="-114">
                <a:solidFill>
                  <a:srgbClr val="FFA500"/>
                </a:solidFill>
                <a:latin typeface="Trebuchet MS"/>
                <a:cs typeface="Trebuchet MS"/>
              </a:rPr>
              <a:t>i</a:t>
            </a:r>
            <a:r>
              <a:rPr dirty="0" baseline="-16460" sz="2025" spc="-172">
                <a:solidFill>
                  <a:srgbClr val="FFA500"/>
                </a:solidFill>
                <a:latin typeface="Trebuchet MS"/>
                <a:cs typeface="Trebuchet MS"/>
              </a:rPr>
              <a:t>2</a:t>
            </a:r>
            <a:r>
              <a:rPr dirty="0" sz="1800" spc="-114">
                <a:solidFill>
                  <a:srgbClr val="FFA500"/>
                </a:solidFill>
                <a:latin typeface="Trebuchet MS"/>
                <a:cs typeface="Trebuchet MS"/>
              </a:rPr>
              <a:t>,… </a:t>
            </a:r>
            <a:r>
              <a:rPr dirty="0" sz="1800" spc="-110">
                <a:solidFill>
                  <a:srgbClr val="FFA500"/>
                </a:solidFill>
                <a:latin typeface="Trebuchet MS"/>
                <a:cs typeface="Trebuchet MS"/>
              </a:rPr>
              <a:t>,i</a:t>
            </a:r>
            <a:r>
              <a:rPr dirty="0" baseline="-16460" sz="2025" spc="-165">
                <a:solidFill>
                  <a:srgbClr val="FFA500"/>
                </a:solidFill>
                <a:latin typeface="Trebuchet MS"/>
                <a:cs typeface="Trebuchet MS"/>
              </a:rPr>
              <a:t>k</a:t>
            </a:r>
            <a:r>
              <a:rPr dirty="0" sz="1800" spc="-110">
                <a:solidFill>
                  <a:srgbClr val="FFA500"/>
                </a:solidFill>
                <a:latin typeface="Trebuchet MS"/>
                <a:cs typeface="Trebuchet MS"/>
              </a:rPr>
              <a:t>}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and </a:t>
            </a:r>
            <a:r>
              <a:rPr dirty="0" sz="1800" spc="25">
                <a:solidFill>
                  <a:srgbClr val="585D60"/>
                </a:solidFill>
                <a:latin typeface="Arial"/>
                <a:cs typeface="Arial"/>
              </a:rPr>
              <a:t>both </a:t>
            </a:r>
            <a:r>
              <a:rPr dirty="0" sz="1800" spc="-100">
                <a:solidFill>
                  <a:srgbClr val="FFA500"/>
                </a:solidFill>
                <a:latin typeface="Trebuchet MS"/>
                <a:cs typeface="Trebuchet MS"/>
              </a:rPr>
              <a:t>{i</a:t>
            </a:r>
            <a:r>
              <a:rPr dirty="0" baseline="-16460" sz="2025" spc="-150">
                <a:solidFill>
                  <a:srgbClr val="FFA500"/>
                </a:solidFill>
                <a:latin typeface="Trebuchet MS"/>
                <a:cs typeface="Trebuchet MS"/>
              </a:rPr>
              <a:t>1</a:t>
            </a:r>
            <a:r>
              <a:rPr dirty="0" sz="1800" spc="-100">
                <a:solidFill>
                  <a:srgbClr val="FFA500"/>
                </a:solidFill>
                <a:latin typeface="Trebuchet MS"/>
                <a:cs typeface="Trebuchet MS"/>
              </a:rPr>
              <a:t>, </a:t>
            </a:r>
            <a:r>
              <a:rPr dirty="0" sz="1800" spc="-145">
                <a:solidFill>
                  <a:srgbClr val="FFA500"/>
                </a:solidFill>
                <a:latin typeface="Trebuchet MS"/>
                <a:cs typeface="Trebuchet MS"/>
              </a:rPr>
              <a:t>i</a:t>
            </a:r>
            <a:r>
              <a:rPr dirty="0" baseline="-16460" sz="2025" spc="-217">
                <a:solidFill>
                  <a:srgbClr val="FFA500"/>
                </a:solidFill>
                <a:latin typeface="Trebuchet MS"/>
                <a:cs typeface="Trebuchet MS"/>
              </a:rPr>
              <a:t>2</a:t>
            </a:r>
            <a:r>
              <a:rPr dirty="0" sz="1800" spc="-145">
                <a:solidFill>
                  <a:srgbClr val="FFA500"/>
                </a:solidFill>
                <a:latin typeface="Trebuchet MS"/>
                <a:cs typeface="Trebuchet MS"/>
              </a:rPr>
              <a:t>,…,i</a:t>
            </a:r>
            <a:r>
              <a:rPr dirty="0" baseline="-16460" sz="2025" spc="-217">
                <a:solidFill>
                  <a:srgbClr val="FFA500"/>
                </a:solidFill>
                <a:latin typeface="Trebuchet MS"/>
                <a:cs typeface="Trebuchet MS"/>
              </a:rPr>
              <a:t>k</a:t>
            </a:r>
            <a:r>
              <a:rPr dirty="0" sz="1800" spc="-145">
                <a:solidFill>
                  <a:srgbClr val="FFA500"/>
                </a:solidFill>
                <a:latin typeface="Trebuchet MS"/>
                <a:cs typeface="Trebuchet MS"/>
              </a:rPr>
              <a:t>, j} </a:t>
            </a:r>
            <a:r>
              <a:rPr dirty="0" sz="1800" spc="40">
                <a:solidFill>
                  <a:srgbClr val="585D60"/>
                </a:solidFill>
                <a:latin typeface="Arial"/>
                <a:cs typeface="Arial"/>
              </a:rPr>
              <a:t>will </a:t>
            </a:r>
            <a:r>
              <a:rPr dirty="0" sz="1800" spc="-20">
                <a:solidFill>
                  <a:srgbClr val="585D60"/>
                </a:solidFill>
                <a:latin typeface="Arial"/>
                <a:cs typeface="Arial"/>
              </a:rPr>
              <a:t>be</a:t>
            </a:r>
            <a:r>
              <a:rPr dirty="0" sz="1800" spc="-23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“frequent”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20700"/>
            <a:ext cx="9660890" cy="6540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4100" spc="-204">
                <a:latin typeface="Trebuchet MS"/>
                <a:cs typeface="Trebuchet MS"/>
              </a:rPr>
              <a:t>Naïve Approach </a:t>
            </a:r>
            <a:r>
              <a:rPr dirty="0" sz="4100" spc="-290">
                <a:latin typeface="Trebuchet MS"/>
                <a:cs typeface="Trebuchet MS"/>
              </a:rPr>
              <a:t>to </a:t>
            </a:r>
            <a:r>
              <a:rPr dirty="0" sz="4100" spc="-204">
                <a:latin typeface="Trebuchet MS"/>
                <a:cs typeface="Trebuchet MS"/>
              </a:rPr>
              <a:t>Counting </a:t>
            </a:r>
            <a:r>
              <a:rPr dirty="0" sz="4100" spc="-290">
                <a:latin typeface="Trebuchet MS"/>
                <a:cs typeface="Trebuchet MS"/>
              </a:rPr>
              <a:t>Frequent</a:t>
            </a:r>
            <a:r>
              <a:rPr dirty="0" sz="4100" spc="-560">
                <a:latin typeface="Trebuchet MS"/>
                <a:cs typeface="Trebuchet MS"/>
              </a:rPr>
              <a:t> </a:t>
            </a:r>
            <a:r>
              <a:rPr dirty="0" sz="4100" spc="-175">
                <a:latin typeface="Trebuchet MS"/>
                <a:cs typeface="Trebuchet MS"/>
              </a:rPr>
              <a:t>Itemsets</a:t>
            </a:r>
            <a:endParaRPr sz="41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8754" y="1530350"/>
            <a:ext cx="7339965" cy="7378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 indent="-133985">
              <a:lnSpc>
                <a:spcPct val="100000"/>
              </a:lnSpc>
              <a:spcBef>
                <a:spcPts val="100"/>
              </a:spcBef>
              <a:buClr>
                <a:srgbClr val="C2132D"/>
              </a:buClr>
              <a:buFont typeface="Trebuchet MS"/>
              <a:buChar char="•"/>
              <a:tabLst>
                <a:tab pos="146685" algn="l"/>
              </a:tabLst>
            </a:pPr>
            <a:r>
              <a:rPr dirty="0" sz="1800" spc="-40">
                <a:solidFill>
                  <a:srgbClr val="585D60"/>
                </a:solidFill>
                <a:latin typeface="Arial"/>
                <a:cs typeface="Arial"/>
              </a:rPr>
              <a:t>Naïve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approach </a:t>
            </a:r>
            <a:r>
              <a:rPr dirty="0" sz="1800" spc="45">
                <a:solidFill>
                  <a:srgbClr val="585D60"/>
                </a:solidFill>
                <a:latin typeface="Arial"/>
                <a:cs typeface="Arial"/>
              </a:rPr>
              <a:t>to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finding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frequent</a:t>
            </a:r>
            <a:r>
              <a:rPr dirty="0" sz="1800" spc="-30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pairs</a:t>
            </a:r>
            <a:endParaRPr sz="1800">
              <a:latin typeface="Arial"/>
              <a:cs typeface="Arial"/>
            </a:endParaRPr>
          </a:p>
          <a:p>
            <a:pPr marL="146050" indent="-133985">
              <a:lnSpc>
                <a:spcPct val="100000"/>
              </a:lnSpc>
              <a:spcBef>
                <a:spcPts val="1290"/>
              </a:spcBef>
              <a:buFont typeface="Trebuchet MS"/>
              <a:buChar char="•"/>
              <a:tabLst>
                <a:tab pos="146685" algn="l"/>
              </a:tabLst>
            </a:pPr>
            <a:r>
              <a:rPr dirty="0" sz="1800" spc="-10" b="1">
                <a:solidFill>
                  <a:srgbClr val="C2132D"/>
                </a:solidFill>
                <a:latin typeface="Trebuchet MS"/>
                <a:cs typeface="Trebuchet MS"/>
              </a:rPr>
              <a:t>Read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60" b="1">
                <a:solidFill>
                  <a:srgbClr val="C2132D"/>
                </a:solidFill>
                <a:latin typeface="Trebuchet MS"/>
                <a:cs typeface="Trebuchet MS"/>
              </a:rPr>
              <a:t>file</a:t>
            </a:r>
            <a:r>
              <a:rPr dirty="0" sz="1800" spc="-8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65" b="1">
                <a:solidFill>
                  <a:srgbClr val="C2132D"/>
                </a:solidFill>
                <a:latin typeface="Trebuchet MS"/>
                <a:cs typeface="Trebuchet MS"/>
              </a:rPr>
              <a:t>once,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25" b="1">
                <a:solidFill>
                  <a:srgbClr val="C2132D"/>
                </a:solidFill>
                <a:latin typeface="Trebuchet MS"/>
                <a:cs typeface="Trebuchet MS"/>
              </a:rPr>
              <a:t>counting</a:t>
            </a:r>
            <a:r>
              <a:rPr dirty="0" sz="1800" spc="-8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60" b="1">
                <a:solidFill>
                  <a:srgbClr val="C2132D"/>
                </a:solidFill>
                <a:latin typeface="Trebuchet MS"/>
                <a:cs typeface="Trebuchet MS"/>
              </a:rPr>
              <a:t>in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25" b="1">
                <a:solidFill>
                  <a:srgbClr val="C2132D"/>
                </a:solidFill>
                <a:latin typeface="Trebuchet MS"/>
                <a:cs typeface="Trebuchet MS"/>
              </a:rPr>
              <a:t>main</a:t>
            </a:r>
            <a:r>
              <a:rPr dirty="0" sz="1800" spc="-8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50" b="1">
                <a:solidFill>
                  <a:srgbClr val="C2132D"/>
                </a:solidFill>
                <a:latin typeface="Trebuchet MS"/>
                <a:cs typeface="Trebuchet MS"/>
              </a:rPr>
              <a:t>memorythe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30" b="1">
                <a:solidFill>
                  <a:srgbClr val="C2132D"/>
                </a:solidFill>
                <a:latin typeface="Trebuchet MS"/>
                <a:cs typeface="Trebuchet MS"/>
              </a:rPr>
              <a:t>occurrences</a:t>
            </a:r>
            <a:r>
              <a:rPr dirty="0" sz="1800" spc="-8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15" b="1">
                <a:solidFill>
                  <a:srgbClr val="C2132D"/>
                </a:solidFill>
                <a:latin typeface="Trebuchet MS"/>
                <a:cs typeface="Trebuchet MS"/>
              </a:rPr>
              <a:t>of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30" b="1">
                <a:solidFill>
                  <a:srgbClr val="C2132D"/>
                </a:solidFill>
                <a:latin typeface="Trebuchet MS"/>
                <a:cs typeface="Trebuchet MS"/>
              </a:rPr>
              <a:t>each</a:t>
            </a:r>
            <a:r>
              <a:rPr dirty="0" sz="1800" spc="-8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75" b="1">
                <a:solidFill>
                  <a:srgbClr val="C2132D"/>
                </a:solidFill>
                <a:latin typeface="Trebuchet MS"/>
                <a:cs typeface="Trebuchet MS"/>
              </a:rPr>
              <a:t>pair: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89315" y="2424211"/>
            <a:ext cx="26212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pairs </a:t>
            </a:r>
            <a:r>
              <a:rPr dirty="0" sz="1800" spc="-25">
                <a:solidFill>
                  <a:srgbClr val="585D60"/>
                </a:solidFill>
                <a:latin typeface="Arial"/>
                <a:cs typeface="Arial"/>
              </a:rPr>
              <a:t>by </a:t>
            </a:r>
            <a:r>
              <a:rPr dirty="0" sz="1800" spc="55">
                <a:solidFill>
                  <a:srgbClr val="585D60"/>
                </a:solidFill>
                <a:latin typeface="Arial"/>
                <a:cs typeface="Arial"/>
              </a:rPr>
              <a:t>two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nested</a:t>
            </a:r>
            <a:r>
              <a:rPr dirty="0" sz="1800" spc="-33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5">
                <a:solidFill>
                  <a:srgbClr val="585D60"/>
                </a:solidFill>
                <a:latin typeface="Arial"/>
                <a:cs typeface="Arial"/>
              </a:rPr>
              <a:t>loops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29754" y="4226520"/>
            <a:ext cx="27520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 indent="-133985">
              <a:lnSpc>
                <a:spcPct val="100000"/>
              </a:lnSpc>
              <a:spcBef>
                <a:spcPts val="100"/>
              </a:spcBef>
              <a:buClr>
                <a:srgbClr val="C2132D"/>
              </a:buClr>
              <a:buFont typeface="Trebuchet MS"/>
              <a:buChar char="•"/>
              <a:tabLst>
                <a:tab pos="146685" algn="l"/>
              </a:tabLst>
            </a:pP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Number </a:t>
            </a:r>
            <a:r>
              <a:rPr dirty="0" sz="1800" spc="75">
                <a:solidFill>
                  <a:srgbClr val="585D60"/>
                </a:solidFill>
                <a:latin typeface="Arial"/>
                <a:cs typeface="Arial"/>
              </a:rPr>
              <a:t>of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pairs </a:t>
            </a:r>
            <a:r>
              <a:rPr dirty="0" sz="1800" spc="75">
                <a:solidFill>
                  <a:srgbClr val="585D60"/>
                </a:solidFill>
                <a:latin typeface="Arial"/>
                <a:cs typeface="Arial"/>
              </a:rPr>
              <a:t>of</a:t>
            </a:r>
            <a:r>
              <a:rPr dirty="0" sz="1800" spc="-3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items: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962600" y="2359405"/>
            <a:ext cx="552450" cy="2197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150" spc="10" i="1">
                <a:solidFill>
                  <a:srgbClr val="585D60"/>
                </a:solidFill>
                <a:latin typeface="Verdana"/>
                <a:cs typeface="Verdana"/>
              </a:rPr>
              <a:t>n</a:t>
            </a:r>
            <a:r>
              <a:rPr dirty="0" sz="1250" spc="10">
                <a:solidFill>
                  <a:srgbClr val="585D60"/>
                </a:solidFill>
                <a:latin typeface="Lucida Sans Unicode"/>
                <a:cs typeface="Lucida Sans Unicode"/>
              </a:rPr>
              <a:t>(</a:t>
            </a:r>
            <a:r>
              <a:rPr dirty="0" sz="1150" spc="10" i="1">
                <a:solidFill>
                  <a:srgbClr val="585D60"/>
                </a:solidFill>
                <a:latin typeface="Verdana"/>
                <a:cs typeface="Verdana"/>
              </a:rPr>
              <a:t>n</a:t>
            </a:r>
            <a:r>
              <a:rPr dirty="0" sz="1250" spc="10">
                <a:solidFill>
                  <a:srgbClr val="585D60"/>
                </a:solidFill>
                <a:latin typeface="Lucida Sans Unicode"/>
                <a:cs typeface="Lucida Sans Unicode"/>
              </a:rPr>
              <a:t>−1)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85544" y="2568955"/>
            <a:ext cx="106680" cy="2197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250" spc="-155">
                <a:solidFill>
                  <a:srgbClr val="585D60"/>
                </a:solidFill>
                <a:latin typeface="Lucida Sans Unicode"/>
                <a:cs typeface="Lucida Sans Unicode"/>
              </a:rPr>
              <a:t>2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962649" y="2605087"/>
            <a:ext cx="552450" cy="0"/>
          </a:xfrm>
          <a:custGeom>
            <a:avLst/>
            <a:gdLst/>
            <a:ahLst/>
            <a:cxnLst/>
            <a:rect l="l" t="t" r="r" b="b"/>
            <a:pathLst>
              <a:path w="552450" h="0">
                <a:moveTo>
                  <a:pt x="0" y="0"/>
                </a:moveTo>
                <a:lnTo>
                  <a:pt x="552449" y="0"/>
                </a:lnTo>
              </a:path>
            </a:pathLst>
          </a:custGeom>
          <a:ln w="9524">
            <a:solidFill>
              <a:srgbClr val="585D6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123354" y="2425700"/>
            <a:ext cx="4790440" cy="747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52450" indent="-134620">
              <a:lnSpc>
                <a:spcPct val="100000"/>
              </a:lnSpc>
              <a:spcBef>
                <a:spcPts val="100"/>
              </a:spcBef>
              <a:buClr>
                <a:srgbClr val="C2132D"/>
              </a:buClr>
              <a:buFont typeface="Trebuchet MS"/>
              <a:buChar char="•"/>
              <a:tabLst>
                <a:tab pos="553085" algn="l"/>
              </a:tabLst>
            </a:pP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From</a:t>
            </a:r>
            <a:r>
              <a:rPr dirty="0" sz="1800" spc="-6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each</a:t>
            </a:r>
            <a:r>
              <a:rPr dirty="0" sz="1800" spc="-6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basket</a:t>
            </a:r>
            <a:r>
              <a:rPr dirty="0" sz="1800" spc="-6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Arial"/>
                <a:cs typeface="Arial"/>
              </a:rPr>
              <a:t>of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65" i="1">
                <a:solidFill>
                  <a:srgbClr val="585D60"/>
                </a:solidFill>
                <a:latin typeface="Verdana"/>
                <a:cs typeface="Verdana"/>
              </a:rPr>
              <a:t>n</a:t>
            </a:r>
            <a:r>
              <a:rPr dirty="0" sz="1600" spc="-125" i="1">
                <a:solidFill>
                  <a:srgbClr val="585D60"/>
                </a:solidFill>
                <a:latin typeface="Verdana"/>
                <a:cs typeface="Verdana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items,</a:t>
            </a:r>
            <a:r>
              <a:rPr dirty="0" sz="1800" spc="-6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5">
                <a:solidFill>
                  <a:srgbClr val="585D60"/>
                </a:solidFill>
                <a:latin typeface="Arial"/>
                <a:cs typeface="Arial"/>
              </a:rPr>
              <a:t>generate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585D60"/>
                </a:solidFill>
                <a:latin typeface="Arial"/>
                <a:cs typeface="Arial"/>
              </a:rPr>
              <a:t>its</a:t>
            </a:r>
            <a:endParaRPr sz="1800">
              <a:latin typeface="Arial"/>
              <a:cs typeface="Arial"/>
            </a:endParaRPr>
          </a:p>
          <a:p>
            <a:pPr marL="171450" indent="-133985">
              <a:lnSpc>
                <a:spcPct val="100000"/>
              </a:lnSpc>
              <a:spcBef>
                <a:spcPts val="1365"/>
              </a:spcBef>
              <a:buClr>
                <a:srgbClr val="C2132D"/>
              </a:buClr>
              <a:buFont typeface="Trebuchet MS"/>
              <a:buChar char="•"/>
              <a:tabLst>
                <a:tab pos="172085" algn="l"/>
              </a:tabLst>
            </a:pPr>
            <a:r>
              <a:rPr dirty="0" sz="1800" spc="-15">
                <a:solidFill>
                  <a:srgbClr val="585D60"/>
                </a:solidFill>
                <a:latin typeface="Arial"/>
                <a:cs typeface="Arial"/>
              </a:rPr>
              <a:t>Fails </a:t>
            </a:r>
            <a:r>
              <a:rPr dirty="0" sz="1800" spc="80">
                <a:solidFill>
                  <a:srgbClr val="585D60"/>
                </a:solidFill>
                <a:latin typeface="Arial"/>
                <a:cs typeface="Arial"/>
              </a:rPr>
              <a:t>if </a:t>
            </a:r>
            <a:r>
              <a:rPr dirty="0" sz="1800" spc="35">
                <a:solidFill>
                  <a:srgbClr val="585D60"/>
                </a:solidFill>
                <a:latin typeface="Arial"/>
                <a:cs typeface="Arial"/>
              </a:rPr>
              <a:t>(#items)</a:t>
            </a:r>
            <a:r>
              <a:rPr dirty="0" baseline="26748" sz="2025" spc="52">
                <a:solidFill>
                  <a:srgbClr val="585D60"/>
                </a:solidFill>
                <a:latin typeface="Arial"/>
                <a:cs typeface="Arial"/>
              </a:rPr>
              <a:t>2 </a:t>
            </a:r>
            <a:r>
              <a:rPr dirty="0" sz="1800" spc="-15">
                <a:solidFill>
                  <a:srgbClr val="585D60"/>
                </a:solidFill>
                <a:latin typeface="Arial"/>
                <a:cs typeface="Arial"/>
              </a:rPr>
              <a:t>exceeds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main</a:t>
            </a:r>
            <a:r>
              <a:rPr dirty="0" sz="1800" spc="-23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memory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04354" y="3157219"/>
            <a:ext cx="6666865" cy="882650"/>
          </a:xfrm>
          <a:prstGeom prst="rect">
            <a:avLst/>
          </a:prstGeom>
        </p:spPr>
        <p:txBody>
          <a:bodyPr wrap="square" lIns="0" tIns="167005" rIns="0" bIns="0" rtlCol="0" vert="horz">
            <a:spAutoFit/>
          </a:bodyPr>
          <a:lstStyle/>
          <a:p>
            <a:pPr marL="171450" indent="-133985">
              <a:lnSpc>
                <a:spcPct val="100000"/>
              </a:lnSpc>
              <a:spcBef>
                <a:spcPts val="1315"/>
              </a:spcBef>
              <a:buClr>
                <a:srgbClr val="C2132D"/>
              </a:buClr>
              <a:buFont typeface="Trebuchet MS"/>
              <a:buChar char="•"/>
              <a:tabLst>
                <a:tab pos="172085" algn="l"/>
              </a:tabLst>
            </a:pPr>
            <a:r>
              <a:rPr dirty="0" sz="1800" spc="-25">
                <a:solidFill>
                  <a:srgbClr val="585D60"/>
                </a:solidFill>
                <a:latin typeface="Arial"/>
                <a:cs typeface="Arial"/>
              </a:rPr>
              <a:t>Remember:</a:t>
            </a:r>
            <a:r>
              <a:rPr dirty="0" sz="1800" spc="-6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585D60"/>
                </a:solidFill>
                <a:latin typeface="Arial"/>
                <a:cs typeface="Arial"/>
              </a:rPr>
              <a:t>#items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can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585D60"/>
                </a:solidFill>
                <a:latin typeface="Arial"/>
                <a:cs typeface="Arial"/>
              </a:rPr>
              <a:t>be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100K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(Wal-Mart)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or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585D60"/>
                </a:solidFill>
                <a:latin typeface="Arial"/>
                <a:cs typeface="Arial"/>
              </a:rPr>
              <a:t>10B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35">
                <a:solidFill>
                  <a:srgbClr val="585D60"/>
                </a:solidFill>
                <a:latin typeface="Arial"/>
                <a:cs typeface="Arial"/>
              </a:rPr>
              <a:t>(Web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pages)</a:t>
            </a:r>
            <a:endParaRPr sz="1800">
              <a:latin typeface="Arial"/>
              <a:cs typeface="Arial"/>
            </a:endParaRPr>
          </a:p>
          <a:p>
            <a:pPr marL="171450" indent="-133985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Font typeface="Trebuchet MS"/>
              <a:buChar char="•"/>
              <a:tabLst>
                <a:tab pos="172085" algn="l"/>
              </a:tabLst>
            </a:pPr>
            <a:r>
              <a:rPr dirty="0" sz="1800" spc="-20">
                <a:solidFill>
                  <a:srgbClr val="585D60"/>
                </a:solidFill>
                <a:latin typeface="Arial"/>
                <a:cs typeface="Arial"/>
              </a:rPr>
              <a:t>Suppose </a:t>
            </a:r>
            <a:r>
              <a:rPr dirty="0" sz="1800" spc="-215">
                <a:solidFill>
                  <a:srgbClr val="585D60"/>
                </a:solidFill>
                <a:latin typeface="Lucida Sans Unicode"/>
                <a:cs typeface="Lucida Sans Unicode"/>
              </a:rPr>
              <a:t>10</a:t>
            </a:r>
            <a:r>
              <a:rPr dirty="0" baseline="33333" sz="1875" spc="-322">
                <a:solidFill>
                  <a:srgbClr val="585D60"/>
                </a:solidFill>
                <a:latin typeface="Lucida Sans Unicode"/>
                <a:cs typeface="Lucida Sans Unicode"/>
              </a:rPr>
              <a:t>5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items, </a:t>
            </a:r>
            <a:r>
              <a:rPr dirty="0" sz="1800" spc="25">
                <a:solidFill>
                  <a:srgbClr val="585D60"/>
                </a:solidFill>
                <a:latin typeface="Arial"/>
                <a:cs typeface="Arial"/>
              </a:rPr>
              <a:t>counts </a:t>
            </a:r>
            <a:r>
              <a:rPr dirty="0" sz="1800" spc="-30">
                <a:solidFill>
                  <a:srgbClr val="585D60"/>
                </a:solidFill>
                <a:latin typeface="Arial"/>
                <a:cs typeface="Arial"/>
              </a:rPr>
              <a:t>are </a:t>
            </a:r>
            <a:r>
              <a:rPr dirty="0" sz="1800" spc="-20">
                <a:solidFill>
                  <a:srgbClr val="585D60"/>
                </a:solidFill>
                <a:latin typeface="Arial"/>
                <a:cs typeface="Arial"/>
              </a:rPr>
              <a:t>4-byte</a:t>
            </a:r>
            <a:r>
              <a:rPr dirty="0" sz="1800" spc="-254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integers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219104" y="4225924"/>
            <a:ext cx="95694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= </a:t>
            </a:r>
            <a:r>
              <a:rPr dirty="0" sz="1800" spc="-240">
                <a:solidFill>
                  <a:srgbClr val="585D60"/>
                </a:solidFill>
                <a:latin typeface="Lucida Sans Unicode"/>
                <a:cs typeface="Lucida Sans Unicode"/>
              </a:rPr>
              <a:t>5 </a:t>
            </a:r>
            <a:r>
              <a:rPr dirty="0" sz="1800" spc="-535">
                <a:solidFill>
                  <a:srgbClr val="585D60"/>
                </a:solidFill>
                <a:latin typeface="Lucida Sans Unicode"/>
                <a:cs typeface="Lucida Sans Unicode"/>
              </a:rPr>
              <a:t>∗</a:t>
            </a:r>
            <a:r>
              <a:rPr dirty="0" sz="1800" spc="-52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215">
                <a:solidFill>
                  <a:srgbClr val="585D60"/>
                </a:solidFill>
                <a:latin typeface="Lucida Sans Unicode"/>
                <a:cs typeface="Lucida Sans Unicode"/>
              </a:rPr>
              <a:t>10</a:t>
            </a:r>
            <a:r>
              <a:rPr dirty="0" baseline="33333" sz="1875" spc="-322">
                <a:solidFill>
                  <a:srgbClr val="585D60"/>
                </a:solidFill>
                <a:latin typeface="Lucida Sans Unicode"/>
                <a:cs typeface="Lucida Sans Unicode"/>
              </a:rPr>
              <a:t>9</a:t>
            </a:r>
            <a:endParaRPr baseline="33333" sz="1875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328368" y="4169155"/>
            <a:ext cx="862330" cy="2197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dirty="0" sz="1250" spc="-75">
                <a:solidFill>
                  <a:srgbClr val="585D60"/>
                </a:solidFill>
                <a:latin typeface="Lucida Sans Unicode"/>
                <a:cs typeface="Lucida Sans Unicode"/>
              </a:rPr>
              <a:t>10</a:t>
            </a:r>
            <a:r>
              <a:rPr dirty="0" baseline="30864" sz="1350" spc="-112">
                <a:solidFill>
                  <a:srgbClr val="585D60"/>
                </a:solidFill>
                <a:latin typeface="Lucida Sans Unicode"/>
                <a:cs typeface="Lucida Sans Unicode"/>
              </a:rPr>
              <a:t>5</a:t>
            </a:r>
            <a:r>
              <a:rPr dirty="0" sz="1250" spc="-75">
                <a:solidFill>
                  <a:srgbClr val="585D60"/>
                </a:solidFill>
                <a:latin typeface="Lucida Sans Unicode"/>
                <a:cs typeface="Lucida Sans Unicode"/>
              </a:rPr>
              <a:t>(10</a:t>
            </a:r>
            <a:r>
              <a:rPr dirty="0" baseline="30864" sz="1350" spc="-112">
                <a:solidFill>
                  <a:srgbClr val="585D60"/>
                </a:solidFill>
                <a:latin typeface="Lucida Sans Unicode"/>
                <a:cs typeface="Lucida Sans Unicode"/>
              </a:rPr>
              <a:t>5</a:t>
            </a:r>
            <a:r>
              <a:rPr dirty="0" sz="1250" spc="-75">
                <a:solidFill>
                  <a:srgbClr val="585D60"/>
                </a:solidFill>
                <a:latin typeface="Lucida Sans Unicode"/>
                <a:cs typeface="Lucida Sans Unicode"/>
              </a:rPr>
              <a:t>−1)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706341" y="4369180"/>
            <a:ext cx="106680" cy="2197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250" spc="-155">
                <a:solidFill>
                  <a:srgbClr val="585D60"/>
                </a:solidFill>
                <a:latin typeface="Lucida Sans Unicode"/>
                <a:cs typeface="Lucida Sans Unicode"/>
              </a:rPr>
              <a:t>2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352925" y="4405312"/>
            <a:ext cx="809625" cy="0"/>
          </a:xfrm>
          <a:custGeom>
            <a:avLst/>
            <a:gdLst/>
            <a:ahLst/>
            <a:cxnLst/>
            <a:rect l="l" t="t" r="r" b="b"/>
            <a:pathLst>
              <a:path w="809625" h="0">
                <a:moveTo>
                  <a:pt x="0" y="0"/>
                </a:moveTo>
                <a:lnTo>
                  <a:pt x="809624" y="0"/>
                </a:lnTo>
              </a:path>
            </a:pathLst>
          </a:custGeom>
          <a:ln w="9524">
            <a:solidFill>
              <a:srgbClr val="585D6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1504354" y="4673599"/>
            <a:ext cx="55124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71450" indent="-133985">
              <a:lnSpc>
                <a:spcPct val="100000"/>
              </a:lnSpc>
              <a:spcBef>
                <a:spcPts val="100"/>
              </a:spcBef>
              <a:buClr>
                <a:srgbClr val="C2132D"/>
              </a:buClr>
              <a:buFont typeface="Trebuchet MS"/>
              <a:buChar char="•"/>
              <a:tabLst>
                <a:tab pos="172085" algn="l"/>
              </a:tabLst>
            </a:pPr>
            <a:r>
              <a:rPr dirty="0" sz="1800" spc="-20">
                <a:solidFill>
                  <a:srgbClr val="585D60"/>
                </a:solidFill>
                <a:latin typeface="Arial"/>
                <a:cs typeface="Arial"/>
              </a:rPr>
              <a:t>Therefore, </a:t>
            </a:r>
            <a:r>
              <a:rPr dirty="0" sz="1800" spc="-240">
                <a:solidFill>
                  <a:srgbClr val="585D60"/>
                </a:solidFill>
                <a:latin typeface="Lucida Sans Unicode"/>
                <a:cs typeface="Lucida Sans Unicode"/>
              </a:rPr>
              <a:t>2 </a:t>
            </a:r>
            <a:r>
              <a:rPr dirty="0" sz="1800" spc="-535">
                <a:solidFill>
                  <a:srgbClr val="585D60"/>
                </a:solidFill>
                <a:latin typeface="Lucida Sans Unicode"/>
                <a:cs typeface="Lucida Sans Unicode"/>
              </a:rPr>
              <a:t>∗ </a:t>
            </a:r>
            <a:r>
              <a:rPr dirty="0" sz="1800" spc="-200">
                <a:solidFill>
                  <a:srgbClr val="585D60"/>
                </a:solidFill>
                <a:latin typeface="Lucida Sans Unicode"/>
                <a:cs typeface="Lucida Sans Unicode"/>
              </a:rPr>
              <a:t>10</a:t>
            </a:r>
            <a:r>
              <a:rPr dirty="0" baseline="33333" sz="1875" spc="-300">
                <a:solidFill>
                  <a:srgbClr val="585D60"/>
                </a:solidFill>
                <a:latin typeface="Lucida Sans Unicode"/>
                <a:cs typeface="Lucida Sans Unicode"/>
              </a:rPr>
              <a:t>10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(20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gigabytes) </a:t>
            </a:r>
            <a:r>
              <a:rPr dirty="0" sz="1800" spc="75">
                <a:solidFill>
                  <a:srgbClr val="585D60"/>
                </a:solidFill>
                <a:latin typeface="Arial"/>
                <a:cs typeface="Arial"/>
              </a:rPr>
              <a:t>of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memory</a:t>
            </a:r>
            <a:r>
              <a:rPr dirty="0" sz="1800" spc="-3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585D60"/>
                </a:solidFill>
                <a:latin typeface="Arial"/>
                <a:cs typeface="Arial"/>
              </a:rPr>
              <a:t>needed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14400" y="6205537"/>
            <a:ext cx="6867525" cy="0"/>
          </a:xfrm>
          <a:custGeom>
            <a:avLst/>
            <a:gdLst/>
            <a:ahLst/>
            <a:cxnLst/>
            <a:rect l="l" t="t" r="r" b="b"/>
            <a:pathLst>
              <a:path w="6867525" h="0">
                <a:moveTo>
                  <a:pt x="0" y="0"/>
                </a:moveTo>
                <a:lnTo>
                  <a:pt x="6867524" y="0"/>
                </a:lnTo>
              </a:path>
            </a:pathLst>
          </a:custGeom>
          <a:ln w="9524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914400" y="6215062"/>
            <a:ext cx="6867525" cy="0"/>
          </a:xfrm>
          <a:custGeom>
            <a:avLst/>
            <a:gdLst/>
            <a:ahLst/>
            <a:cxnLst/>
            <a:rect l="l" t="t" r="r" b="b"/>
            <a:pathLst>
              <a:path w="6867525" h="0">
                <a:moveTo>
                  <a:pt x="0" y="0"/>
                </a:moveTo>
                <a:lnTo>
                  <a:pt x="6867524" y="0"/>
                </a:lnTo>
              </a:path>
            </a:pathLst>
          </a:custGeom>
          <a:ln w="9524">
            <a:solidFill>
              <a:srgbClr val="EDED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7772400" y="6200774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9524" y="19049"/>
                </a:moveTo>
                <a:lnTo>
                  <a:pt x="0" y="19049"/>
                </a:lnTo>
                <a:lnTo>
                  <a:pt x="0" y="9524"/>
                </a:lnTo>
                <a:lnTo>
                  <a:pt x="9524" y="0"/>
                </a:lnTo>
                <a:lnTo>
                  <a:pt x="9524" y="19049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914400" y="6200774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0" y="19049"/>
                </a:moveTo>
                <a:lnTo>
                  <a:pt x="0" y="0"/>
                </a:lnTo>
                <a:lnTo>
                  <a:pt x="9524" y="0"/>
                </a:lnTo>
                <a:lnTo>
                  <a:pt x="9524" y="9524"/>
                </a:lnTo>
                <a:lnTo>
                  <a:pt x="0" y="19049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5"/>
              <a:t>29</a:t>
            </a:fld>
            <a:r>
              <a:rPr dirty="0" spc="5"/>
              <a:t> </a:t>
            </a:r>
            <a:r>
              <a:rPr dirty="0" spc="160"/>
              <a:t>/</a:t>
            </a:r>
            <a:r>
              <a:rPr dirty="0" spc="-165"/>
              <a:t> </a:t>
            </a:r>
            <a:r>
              <a:rPr dirty="0" spc="5"/>
              <a:t>33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901700" y="6287356"/>
            <a:ext cx="6897370" cy="213360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1250" spc="-20" b="1">
                <a:solidFill>
                  <a:srgbClr val="C2132D"/>
                </a:solidFill>
                <a:latin typeface="Trebuchet MS"/>
                <a:cs typeface="Trebuchet MS"/>
              </a:rPr>
              <a:t>Source:</a:t>
            </a:r>
            <a:r>
              <a:rPr dirty="0" sz="1250" spc="-6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250" spc="25">
                <a:solidFill>
                  <a:srgbClr val="585D60"/>
                </a:solidFill>
                <a:latin typeface="Arial"/>
                <a:cs typeface="Arial"/>
              </a:rPr>
              <a:t>J.</a:t>
            </a:r>
            <a:r>
              <a:rPr dirty="0" sz="1250" spc="-3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250" spc="-15">
                <a:solidFill>
                  <a:srgbClr val="585D60"/>
                </a:solidFill>
                <a:latin typeface="Arial"/>
                <a:cs typeface="Arial"/>
              </a:rPr>
              <a:t>Leskovec,</a:t>
            </a:r>
            <a:r>
              <a:rPr dirty="0" sz="1250" spc="-3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250" spc="-15">
                <a:solidFill>
                  <a:srgbClr val="585D60"/>
                </a:solidFill>
                <a:latin typeface="Arial"/>
                <a:cs typeface="Arial"/>
              </a:rPr>
              <a:t>A.</a:t>
            </a:r>
            <a:r>
              <a:rPr dirty="0" sz="1250" spc="-3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250" spc="-20">
                <a:solidFill>
                  <a:srgbClr val="585D60"/>
                </a:solidFill>
                <a:latin typeface="Arial"/>
                <a:cs typeface="Arial"/>
              </a:rPr>
              <a:t>Rajaraman,</a:t>
            </a:r>
            <a:r>
              <a:rPr dirty="0" sz="1250" spc="-3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250" spc="25">
                <a:solidFill>
                  <a:srgbClr val="585D60"/>
                </a:solidFill>
                <a:latin typeface="Arial"/>
                <a:cs typeface="Arial"/>
              </a:rPr>
              <a:t>J.</a:t>
            </a:r>
            <a:r>
              <a:rPr dirty="0" sz="1250" spc="-3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250" spc="-5">
                <a:solidFill>
                  <a:srgbClr val="585D60"/>
                </a:solidFill>
                <a:latin typeface="Arial"/>
                <a:cs typeface="Arial"/>
              </a:rPr>
              <a:t>Ullman:</a:t>
            </a:r>
            <a:r>
              <a:rPr dirty="0" sz="1250" spc="-3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250" spc="20">
                <a:solidFill>
                  <a:srgbClr val="585D60"/>
                </a:solidFill>
                <a:latin typeface="Arial"/>
                <a:cs typeface="Arial"/>
              </a:rPr>
              <a:t>Mining</a:t>
            </a:r>
            <a:r>
              <a:rPr dirty="0" sz="1250" spc="-3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250" spc="55">
                <a:solidFill>
                  <a:srgbClr val="585D60"/>
                </a:solidFill>
                <a:latin typeface="Arial"/>
                <a:cs typeface="Arial"/>
              </a:rPr>
              <a:t>of</a:t>
            </a:r>
            <a:r>
              <a:rPr dirty="0" sz="1250" spc="-3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250" spc="10">
                <a:solidFill>
                  <a:srgbClr val="585D60"/>
                </a:solidFill>
                <a:latin typeface="Arial"/>
                <a:cs typeface="Arial"/>
              </a:rPr>
              <a:t>Massive</a:t>
            </a:r>
            <a:r>
              <a:rPr dirty="0" sz="1250" spc="-3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250" spc="-5">
                <a:solidFill>
                  <a:srgbClr val="585D60"/>
                </a:solidFill>
                <a:latin typeface="Arial"/>
                <a:cs typeface="Arial"/>
              </a:rPr>
              <a:t>Datasets,</a:t>
            </a:r>
            <a:r>
              <a:rPr dirty="0" sz="1250" spc="-3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250" spc="-5">
                <a:solidFill>
                  <a:srgbClr val="83D5D3"/>
                </a:solidFill>
                <a:latin typeface="Cambria"/>
                <a:cs typeface="Cambria"/>
                <a:hlinkClick r:id="rId2"/>
              </a:rPr>
              <a:t>http://www.mmds.org</a:t>
            </a:r>
            <a:endParaRPr sz="12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248399" y="1647825"/>
            <a:ext cx="4362449" cy="304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01700" y="520700"/>
            <a:ext cx="3716654" cy="6540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4100" spc="-225">
                <a:latin typeface="Trebuchet MS"/>
                <a:cs typeface="Trebuchet MS"/>
              </a:rPr>
              <a:t>A-Priori</a:t>
            </a:r>
            <a:r>
              <a:rPr dirty="0" sz="4100" spc="-340">
                <a:latin typeface="Trebuchet MS"/>
                <a:cs typeface="Trebuchet MS"/>
              </a:rPr>
              <a:t> </a:t>
            </a:r>
            <a:r>
              <a:rPr dirty="0" sz="4100" spc="-220">
                <a:latin typeface="Trebuchet MS"/>
                <a:cs typeface="Trebuchet MS"/>
              </a:rPr>
              <a:t>Algorithm</a:t>
            </a:r>
            <a:endParaRPr sz="41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8754" y="1709420"/>
            <a:ext cx="4102100" cy="38925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46050" marR="39370" indent="-133985">
              <a:lnSpc>
                <a:spcPct val="116300"/>
              </a:lnSpc>
              <a:spcBef>
                <a:spcPts val="135"/>
              </a:spcBef>
              <a:buFont typeface="Trebuchet MS"/>
              <a:buChar char="•"/>
              <a:tabLst>
                <a:tab pos="146685" algn="l"/>
              </a:tabLst>
            </a:pPr>
            <a:r>
              <a:rPr dirty="0" sz="1800" spc="95" b="1">
                <a:solidFill>
                  <a:srgbClr val="C2132D"/>
                </a:solidFill>
                <a:latin typeface="Trebuchet MS"/>
                <a:cs typeface="Trebuchet MS"/>
              </a:rPr>
              <a:t>Pass 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1: </a:t>
            </a:r>
            <a:r>
              <a:rPr dirty="0" sz="1800" spc="-65">
                <a:solidFill>
                  <a:srgbClr val="585D60"/>
                </a:solidFill>
                <a:latin typeface="Arial"/>
                <a:cs typeface="Arial"/>
              </a:rPr>
              <a:t>Read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baskets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and </a:t>
            </a:r>
            <a:r>
              <a:rPr dirty="0" sz="1800" spc="25">
                <a:solidFill>
                  <a:srgbClr val="585D60"/>
                </a:solidFill>
                <a:latin typeface="Arial"/>
                <a:cs typeface="Arial"/>
              </a:rPr>
              <a:t>count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in 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main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memory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occurrences </a:t>
            </a:r>
            <a:r>
              <a:rPr dirty="0" sz="1800" spc="75">
                <a:solidFill>
                  <a:srgbClr val="585D60"/>
                </a:solidFill>
                <a:latin typeface="Arial"/>
                <a:cs typeface="Arial"/>
              </a:rPr>
              <a:t>of</a:t>
            </a:r>
            <a:r>
              <a:rPr dirty="0" sz="1800" spc="-37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each </a:t>
            </a:r>
            <a:r>
              <a:rPr dirty="0" sz="1800" spc="-10">
                <a:solidFill>
                  <a:srgbClr val="C2132D"/>
                </a:solidFill>
                <a:latin typeface="Arial"/>
                <a:cs typeface="Arial"/>
              </a:rPr>
              <a:t> </a:t>
            </a:r>
            <a:r>
              <a:rPr dirty="0" sz="1800" spc="-45" b="1">
                <a:solidFill>
                  <a:srgbClr val="C2132D"/>
                </a:solidFill>
                <a:latin typeface="Trebuchet MS"/>
                <a:cs typeface="Trebuchet MS"/>
              </a:rPr>
              <a:t>individual</a:t>
            </a:r>
            <a:r>
              <a:rPr dirty="0" sz="1800" spc="-10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55" b="1">
                <a:solidFill>
                  <a:srgbClr val="C2132D"/>
                </a:solidFill>
                <a:latin typeface="Trebuchet MS"/>
                <a:cs typeface="Trebuchet MS"/>
              </a:rPr>
              <a:t>item</a:t>
            </a:r>
            <a:endParaRPr sz="1800">
              <a:latin typeface="Trebuchet MS"/>
              <a:cs typeface="Trebuchet MS"/>
            </a:endParaRPr>
          </a:p>
          <a:p>
            <a:pPr lvl="1" marL="527050" marR="5080" indent="-133985">
              <a:lnSpc>
                <a:spcPct val="114599"/>
              </a:lnSpc>
              <a:spcBef>
                <a:spcPts val="975"/>
              </a:spcBef>
              <a:buClr>
                <a:srgbClr val="C2132D"/>
              </a:buClr>
              <a:buFont typeface="Trebuchet MS"/>
              <a:buChar char="•"/>
              <a:tabLst>
                <a:tab pos="527685" algn="l"/>
              </a:tabLst>
            </a:pPr>
            <a:r>
              <a:rPr dirty="0" sz="1800" spc="-30">
                <a:solidFill>
                  <a:srgbClr val="585D60"/>
                </a:solidFill>
                <a:latin typeface="Arial"/>
                <a:cs typeface="Arial"/>
              </a:rPr>
              <a:t>Requires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only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memory</a:t>
            </a:r>
            <a:r>
              <a:rPr dirty="0" sz="1800" spc="-1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proportional  </a:t>
            </a:r>
            <a:r>
              <a:rPr dirty="0" sz="1800" spc="45">
                <a:solidFill>
                  <a:srgbClr val="585D60"/>
                </a:solidFill>
                <a:latin typeface="Arial"/>
                <a:cs typeface="Arial"/>
              </a:rPr>
              <a:t>to</a:t>
            </a:r>
            <a:r>
              <a:rPr dirty="0" sz="1800" spc="-6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585D60"/>
                </a:solidFill>
                <a:latin typeface="Arial"/>
                <a:cs typeface="Arial"/>
              </a:rPr>
              <a:t>#items</a:t>
            </a:r>
            <a:endParaRPr sz="1800">
              <a:latin typeface="Arial"/>
              <a:cs typeface="Arial"/>
            </a:endParaRPr>
          </a:p>
          <a:p>
            <a:pPr marL="146050" marR="327660" indent="-133985">
              <a:lnSpc>
                <a:spcPct val="118100"/>
              </a:lnSpc>
              <a:spcBef>
                <a:spcPts val="900"/>
              </a:spcBef>
              <a:buFont typeface="Trebuchet MS"/>
              <a:buChar char="•"/>
              <a:tabLst>
                <a:tab pos="146685" algn="l"/>
              </a:tabLst>
            </a:pPr>
            <a:r>
              <a:rPr dirty="0" sz="1800" b="1">
                <a:solidFill>
                  <a:srgbClr val="C2132D"/>
                </a:solidFill>
                <a:latin typeface="Trebuchet MS"/>
                <a:cs typeface="Trebuchet MS"/>
              </a:rPr>
              <a:t>Items</a:t>
            </a:r>
            <a:r>
              <a:rPr dirty="0" sz="1800" spc="-10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70" b="1">
                <a:solidFill>
                  <a:srgbClr val="C2132D"/>
                </a:solidFill>
                <a:latin typeface="Trebuchet MS"/>
                <a:cs typeface="Trebuchet MS"/>
              </a:rPr>
              <a:t>that</a:t>
            </a:r>
            <a:r>
              <a:rPr dirty="0" sz="1800" spc="-10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40" b="1">
                <a:solidFill>
                  <a:srgbClr val="C2132D"/>
                </a:solidFill>
                <a:latin typeface="Trebuchet MS"/>
                <a:cs typeface="Trebuchet MS"/>
              </a:rPr>
              <a:t>appear</a:t>
            </a:r>
            <a:r>
              <a:rPr dirty="0" sz="1800" spc="-9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400" spc="630">
                <a:solidFill>
                  <a:srgbClr val="C2132D"/>
                </a:solidFill>
                <a:latin typeface="Arial"/>
                <a:cs typeface="Arial"/>
              </a:rPr>
              <a:t>≥</a:t>
            </a:r>
            <a:r>
              <a:rPr dirty="0" sz="1400" spc="105">
                <a:solidFill>
                  <a:srgbClr val="C2132D"/>
                </a:solidFill>
                <a:latin typeface="Arial"/>
                <a:cs typeface="Arial"/>
              </a:rPr>
              <a:t> </a:t>
            </a:r>
            <a:r>
              <a:rPr dirty="0" sz="1250" spc="190" i="1">
                <a:solidFill>
                  <a:srgbClr val="C2132D"/>
                </a:solidFill>
                <a:latin typeface="Verdana"/>
                <a:cs typeface="Verdana"/>
              </a:rPr>
              <a:t>s</a:t>
            </a:r>
            <a:r>
              <a:rPr dirty="0" sz="1250" i="1">
                <a:solidFill>
                  <a:srgbClr val="C2132D"/>
                </a:solidFill>
                <a:latin typeface="Verdana"/>
                <a:cs typeface="Verdana"/>
              </a:rPr>
              <a:t> </a:t>
            </a:r>
            <a:r>
              <a:rPr dirty="0" sz="1800" spc="-15" b="1">
                <a:solidFill>
                  <a:srgbClr val="C2132D"/>
                </a:solidFill>
                <a:latin typeface="Trebuchet MS"/>
                <a:cs typeface="Trebuchet MS"/>
              </a:rPr>
              <a:t>times</a:t>
            </a:r>
            <a:r>
              <a:rPr dirty="0" sz="1800" spc="-10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65" b="1">
                <a:solidFill>
                  <a:srgbClr val="C2132D"/>
                </a:solidFill>
                <a:latin typeface="Trebuchet MS"/>
                <a:cs typeface="Trebuchet MS"/>
              </a:rPr>
              <a:t>are</a:t>
            </a:r>
            <a:r>
              <a:rPr dirty="0" sz="1800" spc="-9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80" b="1">
                <a:solidFill>
                  <a:srgbClr val="C2132D"/>
                </a:solidFill>
                <a:latin typeface="Trebuchet MS"/>
                <a:cs typeface="Trebuchet MS"/>
              </a:rPr>
              <a:t>the  </a:t>
            </a:r>
            <a:r>
              <a:rPr dirty="0" sz="1800" spc="-70" b="1">
                <a:solidFill>
                  <a:srgbClr val="C2132D"/>
                </a:solidFill>
                <a:latin typeface="Trebuchet MS"/>
                <a:cs typeface="Trebuchet MS"/>
              </a:rPr>
              <a:t>frequent</a:t>
            </a:r>
            <a:r>
              <a:rPr dirty="0" sz="1800" spc="-10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15" b="1">
                <a:solidFill>
                  <a:srgbClr val="C2132D"/>
                </a:solidFill>
                <a:latin typeface="Trebuchet MS"/>
                <a:cs typeface="Trebuchet MS"/>
              </a:rPr>
              <a:t>items</a:t>
            </a:r>
            <a:endParaRPr sz="1800">
              <a:latin typeface="Trebuchet MS"/>
              <a:cs typeface="Trebuchet MS"/>
            </a:endParaRPr>
          </a:p>
          <a:p>
            <a:pPr marL="146050" marR="78740" indent="-133985">
              <a:lnSpc>
                <a:spcPct val="116900"/>
              </a:lnSpc>
              <a:spcBef>
                <a:spcPts val="850"/>
              </a:spcBef>
              <a:buFont typeface="Trebuchet MS"/>
              <a:buChar char="•"/>
              <a:tabLst>
                <a:tab pos="146685" algn="l"/>
              </a:tabLst>
            </a:pPr>
            <a:r>
              <a:rPr dirty="0" sz="1800" spc="95" b="1">
                <a:solidFill>
                  <a:srgbClr val="C2132D"/>
                </a:solidFill>
                <a:latin typeface="Trebuchet MS"/>
                <a:cs typeface="Trebuchet MS"/>
              </a:rPr>
              <a:t>Pass 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2: </a:t>
            </a:r>
            <a:r>
              <a:rPr dirty="0" sz="1800" spc="-65">
                <a:solidFill>
                  <a:srgbClr val="585D60"/>
                </a:solidFill>
                <a:latin typeface="Arial"/>
                <a:cs typeface="Arial"/>
              </a:rPr>
              <a:t>Read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baskets</a:t>
            </a:r>
            <a:r>
              <a:rPr dirty="0" sz="1800" spc="-36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again and </a:t>
            </a:r>
            <a:r>
              <a:rPr dirty="0" sz="1800" spc="25">
                <a:solidFill>
                  <a:srgbClr val="585D60"/>
                </a:solidFill>
                <a:latin typeface="Arial"/>
                <a:cs typeface="Arial"/>
              </a:rPr>
              <a:t>count 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in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main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memory </a:t>
            </a:r>
            <a:r>
              <a:rPr dirty="0" sz="1800" spc="-45" b="1">
                <a:solidFill>
                  <a:srgbClr val="C2132D"/>
                </a:solidFill>
                <a:latin typeface="Trebuchet MS"/>
                <a:cs typeface="Trebuchet MS"/>
              </a:rPr>
              <a:t>only </a:t>
            </a:r>
            <a:r>
              <a:rPr dirty="0" sz="1800" spc="-20" b="1">
                <a:solidFill>
                  <a:srgbClr val="C2132D"/>
                </a:solidFill>
                <a:latin typeface="Trebuchet MS"/>
                <a:cs typeface="Trebuchet MS"/>
              </a:rPr>
              <a:t>those </a:t>
            </a:r>
            <a:r>
              <a:rPr dirty="0" sz="1800" spc="-15" b="1">
                <a:solidFill>
                  <a:srgbClr val="C2132D"/>
                </a:solidFill>
                <a:latin typeface="Trebuchet MS"/>
                <a:cs typeface="Trebuchet MS"/>
              </a:rPr>
              <a:t>pairs  </a:t>
            </a:r>
            <a:r>
              <a:rPr dirty="0" sz="1800" spc="-85" b="1">
                <a:solidFill>
                  <a:srgbClr val="C2132D"/>
                </a:solidFill>
                <a:latin typeface="Trebuchet MS"/>
                <a:cs typeface="Trebuchet MS"/>
              </a:rPr>
              <a:t>where </a:t>
            </a:r>
            <a:r>
              <a:rPr dirty="0" sz="1800" spc="-55" b="1">
                <a:solidFill>
                  <a:srgbClr val="C2132D"/>
                </a:solidFill>
                <a:latin typeface="Trebuchet MS"/>
                <a:cs typeface="Trebuchet MS"/>
              </a:rPr>
              <a:t>both </a:t>
            </a:r>
            <a:r>
              <a:rPr dirty="0" sz="1800" spc="-30" b="1">
                <a:solidFill>
                  <a:srgbClr val="C2132D"/>
                </a:solidFill>
                <a:latin typeface="Trebuchet MS"/>
                <a:cs typeface="Trebuchet MS"/>
              </a:rPr>
              <a:t>elements </a:t>
            </a:r>
            <a:r>
              <a:rPr dirty="0" sz="1800" spc="-65" b="1">
                <a:solidFill>
                  <a:srgbClr val="C2132D"/>
                </a:solidFill>
                <a:latin typeface="Trebuchet MS"/>
                <a:cs typeface="Trebuchet MS"/>
              </a:rPr>
              <a:t>are </a:t>
            </a:r>
            <a:r>
              <a:rPr dirty="0" sz="1800" spc="-70" b="1">
                <a:solidFill>
                  <a:srgbClr val="C2132D"/>
                </a:solidFill>
                <a:latin typeface="Trebuchet MS"/>
                <a:cs typeface="Trebuchet MS"/>
              </a:rPr>
              <a:t>frequent  </a:t>
            </a:r>
            <a:r>
              <a:rPr dirty="0" sz="1800" spc="-40" b="1">
                <a:solidFill>
                  <a:srgbClr val="C2132D"/>
                </a:solidFill>
                <a:latin typeface="Trebuchet MS"/>
                <a:cs typeface="Trebuchet MS"/>
              </a:rPr>
              <a:t>(from </a:t>
            </a:r>
            <a:r>
              <a:rPr dirty="0" sz="1800" spc="95" b="1">
                <a:solidFill>
                  <a:srgbClr val="C2132D"/>
                </a:solidFill>
                <a:latin typeface="Trebuchet MS"/>
                <a:cs typeface="Trebuchet MS"/>
              </a:rPr>
              <a:t>Pass</a:t>
            </a:r>
            <a:r>
              <a:rPr dirty="0" sz="1800" spc="-15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30" b="1">
                <a:solidFill>
                  <a:srgbClr val="C2132D"/>
                </a:solidFill>
                <a:latin typeface="Trebuchet MS"/>
                <a:cs typeface="Trebuchet MS"/>
              </a:rPr>
              <a:t>1)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14400" y="6205537"/>
            <a:ext cx="6867525" cy="0"/>
          </a:xfrm>
          <a:custGeom>
            <a:avLst/>
            <a:gdLst/>
            <a:ahLst/>
            <a:cxnLst/>
            <a:rect l="l" t="t" r="r" b="b"/>
            <a:pathLst>
              <a:path w="6867525" h="0">
                <a:moveTo>
                  <a:pt x="0" y="0"/>
                </a:moveTo>
                <a:lnTo>
                  <a:pt x="6867524" y="0"/>
                </a:lnTo>
              </a:path>
            </a:pathLst>
          </a:custGeom>
          <a:ln w="9524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914400" y="6215062"/>
            <a:ext cx="6867525" cy="0"/>
          </a:xfrm>
          <a:custGeom>
            <a:avLst/>
            <a:gdLst/>
            <a:ahLst/>
            <a:cxnLst/>
            <a:rect l="l" t="t" r="r" b="b"/>
            <a:pathLst>
              <a:path w="6867525" h="0">
                <a:moveTo>
                  <a:pt x="0" y="0"/>
                </a:moveTo>
                <a:lnTo>
                  <a:pt x="6867524" y="0"/>
                </a:lnTo>
              </a:path>
            </a:pathLst>
          </a:custGeom>
          <a:ln w="9524">
            <a:solidFill>
              <a:srgbClr val="EDED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772400" y="6200774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9524" y="19049"/>
                </a:moveTo>
                <a:lnTo>
                  <a:pt x="0" y="19049"/>
                </a:lnTo>
                <a:lnTo>
                  <a:pt x="0" y="9524"/>
                </a:lnTo>
                <a:lnTo>
                  <a:pt x="9524" y="0"/>
                </a:lnTo>
                <a:lnTo>
                  <a:pt x="9524" y="19049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914400" y="6200774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0" y="19049"/>
                </a:moveTo>
                <a:lnTo>
                  <a:pt x="0" y="0"/>
                </a:lnTo>
                <a:lnTo>
                  <a:pt x="9524" y="0"/>
                </a:lnTo>
                <a:lnTo>
                  <a:pt x="9524" y="9524"/>
                </a:lnTo>
                <a:lnTo>
                  <a:pt x="0" y="19049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5"/>
              <a:t>29</a:t>
            </a:fld>
            <a:r>
              <a:rPr dirty="0" spc="5"/>
              <a:t> </a:t>
            </a:r>
            <a:r>
              <a:rPr dirty="0" spc="160"/>
              <a:t>/</a:t>
            </a:r>
            <a:r>
              <a:rPr dirty="0" spc="-165"/>
              <a:t> </a:t>
            </a:r>
            <a:r>
              <a:rPr dirty="0" spc="5"/>
              <a:t>33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901700" y="6287356"/>
            <a:ext cx="6897370" cy="213360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1250" spc="-20" b="1">
                <a:solidFill>
                  <a:srgbClr val="C2132D"/>
                </a:solidFill>
                <a:latin typeface="Trebuchet MS"/>
                <a:cs typeface="Trebuchet MS"/>
              </a:rPr>
              <a:t>Source:</a:t>
            </a:r>
            <a:r>
              <a:rPr dirty="0" sz="1250" spc="-6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250" spc="25">
                <a:solidFill>
                  <a:srgbClr val="585D60"/>
                </a:solidFill>
                <a:latin typeface="Arial"/>
                <a:cs typeface="Arial"/>
              </a:rPr>
              <a:t>J.</a:t>
            </a:r>
            <a:r>
              <a:rPr dirty="0" sz="1250" spc="-3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250" spc="-15">
                <a:solidFill>
                  <a:srgbClr val="585D60"/>
                </a:solidFill>
                <a:latin typeface="Arial"/>
                <a:cs typeface="Arial"/>
              </a:rPr>
              <a:t>Leskovec,</a:t>
            </a:r>
            <a:r>
              <a:rPr dirty="0" sz="1250" spc="-3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250" spc="-15">
                <a:solidFill>
                  <a:srgbClr val="585D60"/>
                </a:solidFill>
                <a:latin typeface="Arial"/>
                <a:cs typeface="Arial"/>
              </a:rPr>
              <a:t>A.</a:t>
            </a:r>
            <a:r>
              <a:rPr dirty="0" sz="1250" spc="-3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250" spc="-20">
                <a:solidFill>
                  <a:srgbClr val="585D60"/>
                </a:solidFill>
                <a:latin typeface="Arial"/>
                <a:cs typeface="Arial"/>
              </a:rPr>
              <a:t>Rajaraman,</a:t>
            </a:r>
            <a:r>
              <a:rPr dirty="0" sz="1250" spc="-3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250" spc="25">
                <a:solidFill>
                  <a:srgbClr val="585D60"/>
                </a:solidFill>
                <a:latin typeface="Arial"/>
                <a:cs typeface="Arial"/>
              </a:rPr>
              <a:t>J.</a:t>
            </a:r>
            <a:r>
              <a:rPr dirty="0" sz="1250" spc="-3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250" spc="-5">
                <a:solidFill>
                  <a:srgbClr val="585D60"/>
                </a:solidFill>
                <a:latin typeface="Arial"/>
                <a:cs typeface="Arial"/>
              </a:rPr>
              <a:t>Ullman:</a:t>
            </a:r>
            <a:r>
              <a:rPr dirty="0" sz="1250" spc="-3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250" spc="20">
                <a:solidFill>
                  <a:srgbClr val="585D60"/>
                </a:solidFill>
                <a:latin typeface="Arial"/>
                <a:cs typeface="Arial"/>
              </a:rPr>
              <a:t>Mining</a:t>
            </a:r>
            <a:r>
              <a:rPr dirty="0" sz="1250" spc="-3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250" spc="55">
                <a:solidFill>
                  <a:srgbClr val="585D60"/>
                </a:solidFill>
                <a:latin typeface="Arial"/>
                <a:cs typeface="Arial"/>
              </a:rPr>
              <a:t>of</a:t>
            </a:r>
            <a:r>
              <a:rPr dirty="0" sz="1250" spc="-3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250" spc="10">
                <a:solidFill>
                  <a:srgbClr val="585D60"/>
                </a:solidFill>
                <a:latin typeface="Arial"/>
                <a:cs typeface="Arial"/>
              </a:rPr>
              <a:t>Massive</a:t>
            </a:r>
            <a:r>
              <a:rPr dirty="0" sz="1250" spc="-3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250" spc="-5">
                <a:solidFill>
                  <a:srgbClr val="585D60"/>
                </a:solidFill>
                <a:latin typeface="Arial"/>
                <a:cs typeface="Arial"/>
              </a:rPr>
              <a:t>Datasets,</a:t>
            </a:r>
            <a:r>
              <a:rPr dirty="0" sz="1250" spc="-3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250" spc="-5">
                <a:solidFill>
                  <a:srgbClr val="83D5D3"/>
                </a:solidFill>
                <a:latin typeface="Cambria"/>
                <a:cs typeface="Cambria"/>
                <a:hlinkClick r:id="rId3"/>
              </a:rPr>
              <a:t>http://www.mmds.org</a:t>
            </a:r>
            <a:endParaRPr sz="12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400" y="2381250"/>
            <a:ext cx="9696450" cy="3981450"/>
          </a:xfrm>
          <a:custGeom>
            <a:avLst/>
            <a:gdLst/>
            <a:ahLst/>
            <a:cxnLst/>
            <a:rect l="l" t="t" r="r" b="b"/>
            <a:pathLst>
              <a:path w="9696450" h="3981450">
                <a:moveTo>
                  <a:pt x="0" y="0"/>
                </a:moveTo>
                <a:lnTo>
                  <a:pt x="9696449" y="0"/>
                </a:lnTo>
                <a:lnTo>
                  <a:pt x="9696449" y="3981449"/>
                </a:lnTo>
                <a:lnTo>
                  <a:pt x="0" y="3981449"/>
                </a:lnTo>
                <a:lnTo>
                  <a:pt x="0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01700" y="520700"/>
            <a:ext cx="7396480" cy="6540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2010410" algn="l"/>
              </a:tabLst>
            </a:pPr>
            <a:r>
              <a:rPr dirty="0" sz="4100" spc="-125">
                <a:latin typeface="Trebuchet MS"/>
                <a:cs typeface="Trebuchet MS"/>
              </a:rPr>
              <a:t>Using	</a:t>
            </a:r>
            <a:r>
              <a:rPr dirty="0" sz="4100" spc="-290">
                <a:latin typeface="Trebuchet MS"/>
                <a:cs typeface="Trebuchet MS"/>
              </a:rPr>
              <a:t>to </a:t>
            </a:r>
            <a:r>
              <a:rPr dirty="0" sz="4100" spc="-140">
                <a:latin typeface="Trebuchet MS"/>
                <a:cs typeface="Trebuchet MS"/>
              </a:rPr>
              <a:t>Mine </a:t>
            </a:r>
            <a:r>
              <a:rPr dirty="0" sz="4100" spc="-114">
                <a:latin typeface="Trebuchet MS"/>
                <a:cs typeface="Trebuchet MS"/>
              </a:rPr>
              <a:t>Association</a:t>
            </a:r>
            <a:r>
              <a:rPr dirty="0" sz="4100" spc="-509">
                <a:latin typeface="Trebuchet MS"/>
                <a:cs typeface="Trebuchet MS"/>
              </a:rPr>
              <a:t> </a:t>
            </a:r>
            <a:r>
              <a:rPr dirty="0" sz="4100" spc="-160">
                <a:latin typeface="Trebuchet MS"/>
                <a:cs typeface="Trebuchet MS"/>
              </a:rPr>
              <a:t>Rules</a:t>
            </a:r>
            <a:endParaRPr sz="410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200275" y="633814"/>
            <a:ext cx="592455" cy="456565"/>
          </a:xfrm>
          <a:custGeom>
            <a:avLst/>
            <a:gdLst/>
            <a:ahLst/>
            <a:cxnLst/>
            <a:rect l="l" t="t" r="r" b="b"/>
            <a:pathLst>
              <a:path w="592455" h="456565">
                <a:moveTo>
                  <a:pt x="344844" y="456396"/>
                </a:moveTo>
                <a:lnTo>
                  <a:pt x="243886" y="456396"/>
                </a:lnTo>
                <a:lnTo>
                  <a:pt x="243886" y="393336"/>
                </a:lnTo>
                <a:lnTo>
                  <a:pt x="186720" y="382487"/>
                </a:lnTo>
                <a:lnTo>
                  <a:pt x="134901" y="364559"/>
                </a:lnTo>
                <a:lnTo>
                  <a:pt x="89687" y="340396"/>
                </a:lnTo>
                <a:lnTo>
                  <a:pt x="52333" y="310840"/>
                </a:lnTo>
                <a:lnTo>
                  <a:pt x="24096" y="276735"/>
                </a:lnTo>
                <a:lnTo>
                  <a:pt x="6233" y="238923"/>
                </a:lnTo>
                <a:lnTo>
                  <a:pt x="0" y="198247"/>
                </a:lnTo>
                <a:lnTo>
                  <a:pt x="4769" y="162605"/>
                </a:lnTo>
                <a:lnTo>
                  <a:pt x="40413" y="98176"/>
                </a:lnTo>
                <a:lnTo>
                  <a:pt x="69615" y="70508"/>
                </a:lnTo>
                <a:lnTo>
                  <a:pt x="105287" y="46616"/>
                </a:lnTo>
                <a:lnTo>
                  <a:pt x="146593" y="27060"/>
                </a:lnTo>
                <a:lnTo>
                  <a:pt x="192695" y="12399"/>
                </a:lnTo>
                <a:lnTo>
                  <a:pt x="242758" y="3193"/>
                </a:lnTo>
                <a:lnTo>
                  <a:pt x="295944" y="0"/>
                </a:lnTo>
                <a:lnTo>
                  <a:pt x="349130" y="3193"/>
                </a:lnTo>
                <a:lnTo>
                  <a:pt x="399193" y="12399"/>
                </a:lnTo>
                <a:lnTo>
                  <a:pt x="445296" y="27060"/>
                </a:lnTo>
                <a:lnTo>
                  <a:pt x="486601" y="46616"/>
                </a:lnTo>
                <a:lnTo>
                  <a:pt x="522273" y="70508"/>
                </a:lnTo>
                <a:lnTo>
                  <a:pt x="529680" y="77526"/>
                </a:lnTo>
                <a:lnTo>
                  <a:pt x="341278" y="77526"/>
                </a:lnTo>
                <a:lnTo>
                  <a:pt x="281496" y="82362"/>
                </a:lnTo>
                <a:lnTo>
                  <a:pt x="227768" y="96014"/>
                </a:lnTo>
                <a:lnTo>
                  <a:pt x="182240" y="117193"/>
                </a:lnTo>
                <a:lnTo>
                  <a:pt x="147061" y="144612"/>
                </a:lnTo>
                <a:lnTo>
                  <a:pt x="124378" y="176983"/>
                </a:lnTo>
                <a:lnTo>
                  <a:pt x="116340" y="213019"/>
                </a:lnTo>
                <a:lnTo>
                  <a:pt x="125653" y="251716"/>
                </a:lnTo>
                <a:lnTo>
                  <a:pt x="151805" y="286050"/>
                </a:lnTo>
                <a:lnTo>
                  <a:pt x="192111" y="314404"/>
                </a:lnTo>
                <a:lnTo>
                  <a:pt x="243887" y="335166"/>
                </a:lnTo>
                <a:lnTo>
                  <a:pt x="344742" y="335166"/>
                </a:lnTo>
                <a:lnTo>
                  <a:pt x="344742" y="348409"/>
                </a:lnTo>
                <a:lnTo>
                  <a:pt x="506482" y="348409"/>
                </a:lnTo>
                <a:lnTo>
                  <a:pt x="524961" y="379583"/>
                </a:lnTo>
                <a:lnTo>
                  <a:pt x="415545" y="379583"/>
                </a:lnTo>
                <a:lnTo>
                  <a:pt x="398610" y="384202"/>
                </a:lnTo>
                <a:lnTo>
                  <a:pt x="381149" y="388115"/>
                </a:lnTo>
                <a:lnTo>
                  <a:pt x="363211" y="391302"/>
                </a:lnTo>
                <a:lnTo>
                  <a:pt x="344844" y="393743"/>
                </a:lnTo>
                <a:lnTo>
                  <a:pt x="344844" y="456396"/>
                </a:lnTo>
                <a:close/>
              </a:path>
              <a:path w="592455" h="456565">
                <a:moveTo>
                  <a:pt x="526092" y="321413"/>
                </a:moveTo>
                <a:lnTo>
                  <a:pt x="485532" y="321413"/>
                </a:lnTo>
                <a:lnTo>
                  <a:pt x="515547" y="302456"/>
                </a:lnTo>
                <a:lnTo>
                  <a:pt x="538074" y="278180"/>
                </a:lnTo>
                <a:lnTo>
                  <a:pt x="552234" y="248421"/>
                </a:lnTo>
                <a:lnTo>
                  <a:pt x="557150" y="213019"/>
                </a:lnTo>
                <a:lnTo>
                  <a:pt x="549783" y="170333"/>
                </a:lnTo>
                <a:lnTo>
                  <a:pt x="528780" y="136100"/>
                </a:lnTo>
                <a:lnTo>
                  <a:pt x="495783" y="110011"/>
                </a:lnTo>
                <a:lnTo>
                  <a:pt x="452438" y="91758"/>
                </a:lnTo>
                <a:lnTo>
                  <a:pt x="400388" y="81032"/>
                </a:lnTo>
                <a:lnTo>
                  <a:pt x="341278" y="77526"/>
                </a:lnTo>
                <a:lnTo>
                  <a:pt x="529680" y="77526"/>
                </a:lnTo>
                <a:lnTo>
                  <a:pt x="551475" y="98176"/>
                </a:lnTo>
                <a:lnTo>
                  <a:pt x="573369" y="129061"/>
                </a:lnTo>
                <a:lnTo>
                  <a:pt x="587120" y="162605"/>
                </a:lnTo>
                <a:lnTo>
                  <a:pt x="591889" y="198247"/>
                </a:lnTo>
                <a:lnTo>
                  <a:pt x="585625" y="238965"/>
                </a:lnTo>
                <a:lnTo>
                  <a:pt x="567681" y="276817"/>
                </a:lnTo>
                <a:lnTo>
                  <a:pt x="539327" y="310964"/>
                </a:lnTo>
                <a:lnTo>
                  <a:pt x="526092" y="321413"/>
                </a:lnTo>
                <a:close/>
              </a:path>
              <a:path w="592455" h="456565">
                <a:moveTo>
                  <a:pt x="344742" y="335166"/>
                </a:moveTo>
                <a:lnTo>
                  <a:pt x="243887" y="335166"/>
                </a:lnTo>
                <a:lnTo>
                  <a:pt x="243887" y="122962"/>
                </a:lnTo>
                <a:lnTo>
                  <a:pt x="446616" y="122962"/>
                </a:lnTo>
                <a:lnTo>
                  <a:pt x="461038" y="124590"/>
                </a:lnTo>
                <a:lnTo>
                  <a:pt x="492765" y="134766"/>
                </a:lnTo>
                <a:lnTo>
                  <a:pt x="524493" y="161427"/>
                </a:lnTo>
                <a:lnTo>
                  <a:pt x="533930" y="194855"/>
                </a:lnTo>
                <a:lnTo>
                  <a:pt x="384476" y="194855"/>
                </a:lnTo>
                <a:lnTo>
                  <a:pt x="345659" y="195394"/>
                </a:lnTo>
                <a:lnTo>
                  <a:pt x="345659" y="252036"/>
                </a:lnTo>
                <a:lnTo>
                  <a:pt x="380952" y="252761"/>
                </a:lnTo>
                <a:lnTo>
                  <a:pt x="528212" y="252761"/>
                </a:lnTo>
                <a:lnTo>
                  <a:pt x="525129" y="264355"/>
                </a:lnTo>
                <a:lnTo>
                  <a:pt x="494803" y="292697"/>
                </a:lnTo>
                <a:lnTo>
                  <a:pt x="464476" y="304554"/>
                </a:lnTo>
                <a:lnTo>
                  <a:pt x="450691" y="306947"/>
                </a:lnTo>
                <a:lnTo>
                  <a:pt x="453655" y="307873"/>
                </a:lnTo>
                <a:lnTo>
                  <a:pt x="485532" y="321413"/>
                </a:lnTo>
                <a:lnTo>
                  <a:pt x="526092" y="321413"/>
                </a:lnTo>
                <a:lnTo>
                  <a:pt x="520414" y="325895"/>
                </a:lnTo>
                <a:lnTo>
                  <a:pt x="344742" y="325895"/>
                </a:lnTo>
                <a:lnTo>
                  <a:pt x="344742" y="335166"/>
                </a:lnTo>
                <a:close/>
              </a:path>
              <a:path w="592455" h="456565">
                <a:moveTo>
                  <a:pt x="528212" y="252761"/>
                </a:moveTo>
                <a:lnTo>
                  <a:pt x="380952" y="252761"/>
                </a:lnTo>
                <a:lnTo>
                  <a:pt x="409330" y="251565"/>
                </a:lnTo>
                <a:lnTo>
                  <a:pt x="428234" y="243398"/>
                </a:lnTo>
                <a:lnTo>
                  <a:pt x="435104" y="223206"/>
                </a:lnTo>
                <a:lnTo>
                  <a:pt x="429409" y="204205"/>
                </a:lnTo>
                <a:lnTo>
                  <a:pt x="412463" y="196273"/>
                </a:lnTo>
                <a:lnTo>
                  <a:pt x="384476" y="194855"/>
                </a:lnTo>
                <a:lnTo>
                  <a:pt x="533930" y="194855"/>
                </a:lnTo>
                <a:lnTo>
                  <a:pt x="538914" y="212509"/>
                </a:lnTo>
                <a:lnTo>
                  <a:pt x="528212" y="252761"/>
                </a:lnTo>
                <a:close/>
              </a:path>
              <a:path w="592455" h="456565">
                <a:moveTo>
                  <a:pt x="506482" y="348409"/>
                </a:moveTo>
                <a:lnTo>
                  <a:pt x="344742" y="348409"/>
                </a:lnTo>
                <a:lnTo>
                  <a:pt x="358054" y="348177"/>
                </a:lnTo>
                <a:lnTo>
                  <a:pt x="371089" y="347620"/>
                </a:lnTo>
                <a:lnTo>
                  <a:pt x="383838" y="346719"/>
                </a:lnTo>
                <a:lnTo>
                  <a:pt x="396290" y="345455"/>
                </a:lnTo>
                <a:lnTo>
                  <a:pt x="391825" y="339176"/>
                </a:lnTo>
                <a:lnTo>
                  <a:pt x="386243" y="332810"/>
                </a:lnTo>
                <a:lnTo>
                  <a:pt x="379572" y="327877"/>
                </a:lnTo>
                <a:lnTo>
                  <a:pt x="371841" y="325895"/>
                </a:lnTo>
                <a:lnTo>
                  <a:pt x="520414" y="325895"/>
                </a:lnTo>
                <a:lnTo>
                  <a:pt x="501832" y="340565"/>
                </a:lnTo>
                <a:lnTo>
                  <a:pt x="506482" y="348409"/>
                </a:lnTo>
                <a:close/>
              </a:path>
              <a:path w="592455" h="456565">
                <a:moveTo>
                  <a:pt x="570495" y="456396"/>
                </a:moveTo>
                <a:lnTo>
                  <a:pt x="456396" y="456396"/>
                </a:lnTo>
                <a:lnTo>
                  <a:pt x="415545" y="379583"/>
                </a:lnTo>
                <a:lnTo>
                  <a:pt x="524961" y="379583"/>
                </a:lnTo>
                <a:lnTo>
                  <a:pt x="570495" y="456396"/>
                </a:lnTo>
                <a:close/>
              </a:path>
            </a:pathLst>
          </a:custGeom>
          <a:solidFill>
            <a:srgbClr val="C21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901700" y="1480819"/>
            <a:ext cx="10483850" cy="49345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809625">
              <a:lnSpc>
                <a:spcPct val="118100"/>
              </a:lnSpc>
              <a:spcBef>
                <a:spcPts val="100"/>
              </a:spcBef>
            </a:pPr>
            <a:r>
              <a:rPr dirty="0" sz="1800" spc="-15" b="1">
                <a:solidFill>
                  <a:srgbClr val="C2132D"/>
                </a:solidFill>
                <a:latin typeface="Trebuchet MS"/>
                <a:cs typeface="Trebuchet MS"/>
              </a:rPr>
              <a:t>In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5" b="1">
                <a:solidFill>
                  <a:srgbClr val="C2132D"/>
                </a:solidFill>
                <a:latin typeface="Trebuchet MS"/>
                <a:cs typeface="Trebuchet MS"/>
              </a:rPr>
              <a:t>class,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80" b="1">
                <a:solidFill>
                  <a:srgbClr val="C2132D"/>
                </a:solidFill>
                <a:latin typeface="Trebuchet MS"/>
                <a:cs typeface="Trebuchet MS"/>
              </a:rPr>
              <a:t>we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65" b="1">
                <a:solidFill>
                  <a:srgbClr val="C2132D"/>
                </a:solidFill>
                <a:latin typeface="Trebuchet MS"/>
                <a:cs typeface="Trebuchet MS"/>
              </a:rPr>
              <a:t>will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60" b="1">
                <a:solidFill>
                  <a:srgbClr val="C2132D"/>
                </a:solidFill>
                <a:latin typeface="Trebuchet MS"/>
                <a:cs typeface="Trebuchet MS"/>
              </a:rPr>
              <a:t>go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45" b="1">
                <a:solidFill>
                  <a:srgbClr val="C2132D"/>
                </a:solidFill>
                <a:latin typeface="Trebuchet MS"/>
                <a:cs typeface="Trebuchet MS"/>
              </a:rPr>
              <a:t>through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20" b="1">
                <a:solidFill>
                  <a:srgbClr val="C2132D"/>
                </a:solidFill>
                <a:latin typeface="Trebuchet MS"/>
                <a:cs typeface="Trebuchet MS"/>
              </a:rPr>
              <a:t>this</a:t>
            </a:r>
            <a:r>
              <a:rPr dirty="0" sz="1800" spc="-8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50" b="1">
                <a:solidFill>
                  <a:srgbClr val="C2132D"/>
                </a:solidFill>
                <a:latin typeface="Trebuchet MS"/>
                <a:cs typeface="Trebuchet MS"/>
              </a:rPr>
              <a:t>R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60" b="1">
                <a:solidFill>
                  <a:srgbClr val="C2132D"/>
                </a:solidFill>
                <a:latin typeface="Trebuchet MS"/>
                <a:cs typeface="Trebuchet MS"/>
              </a:rPr>
              <a:t>code,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45" b="1">
                <a:solidFill>
                  <a:srgbClr val="C2132D"/>
                </a:solidFill>
                <a:latin typeface="Trebuchet MS"/>
                <a:cs typeface="Trebuchet MS"/>
              </a:rPr>
              <a:t>explaining: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20" b="1">
                <a:solidFill>
                  <a:srgbClr val="C2132D"/>
                </a:solidFill>
                <a:latin typeface="Trebuchet MS"/>
                <a:cs typeface="Trebuchet MS"/>
              </a:rPr>
              <a:t>(a)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65" b="1">
                <a:solidFill>
                  <a:srgbClr val="C2132D"/>
                </a:solidFill>
                <a:latin typeface="Trebuchet MS"/>
                <a:cs typeface="Trebuchet MS"/>
              </a:rPr>
              <a:t>what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30" b="1">
                <a:solidFill>
                  <a:srgbClr val="C2132D"/>
                </a:solidFill>
                <a:latin typeface="Trebuchet MS"/>
                <a:cs typeface="Trebuchet MS"/>
              </a:rPr>
              <a:t>each</a:t>
            </a:r>
            <a:r>
              <a:rPr dirty="0" sz="1800" spc="-8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45" b="1">
                <a:solidFill>
                  <a:srgbClr val="C2132D"/>
                </a:solidFill>
                <a:latin typeface="Trebuchet MS"/>
                <a:cs typeface="Trebuchet MS"/>
              </a:rPr>
              <a:t>function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40" b="1">
                <a:solidFill>
                  <a:srgbClr val="C2132D"/>
                </a:solidFill>
                <a:latin typeface="Trebuchet MS"/>
                <a:cs typeface="Trebuchet MS"/>
              </a:rPr>
              <a:t>is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45" b="1">
                <a:solidFill>
                  <a:srgbClr val="C2132D"/>
                </a:solidFill>
                <a:latin typeface="Trebuchet MS"/>
                <a:cs typeface="Trebuchet MS"/>
              </a:rPr>
              <a:t>doing,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30" b="1">
                <a:solidFill>
                  <a:srgbClr val="C2132D"/>
                </a:solidFill>
                <a:latin typeface="Trebuchet MS"/>
                <a:cs typeface="Trebuchet MS"/>
              </a:rPr>
              <a:t>and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35" b="1">
                <a:solidFill>
                  <a:srgbClr val="C2132D"/>
                </a:solidFill>
                <a:latin typeface="Trebuchet MS"/>
                <a:cs typeface="Trebuchet MS"/>
              </a:rPr>
              <a:t>(b)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80" b="1">
                <a:solidFill>
                  <a:srgbClr val="C2132D"/>
                </a:solidFill>
                <a:latin typeface="Trebuchet MS"/>
                <a:cs typeface="Trebuchet MS"/>
              </a:rPr>
              <a:t>the  </a:t>
            </a:r>
            <a:r>
              <a:rPr dirty="0" sz="1800" spc="-30" b="1">
                <a:solidFill>
                  <a:srgbClr val="C2132D"/>
                </a:solidFill>
                <a:latin typeface="Trebuchet MS"/>
                <a:cs typeface="Trebuchet MS"/>
              </a:rPr>
              <a:t>outputs </a:t>
            </a:r>
            <a:r>
              <a:rPr dirty="0" sz="1800" spc="-40" b="1">
                <a:solidFill>
                  <a:srgbClr val="C2132D"/>
                </a:solidFill>
                <a:latin typeface="Trebuchet MS"/>
                <a:cs typeface="Trebuchet MS"/>
              </a:rPr>
              <a:t>from </a:t>
            </a:r>
            <a:r>
              <a:rPr dirty="0" sz="1800" spc="-30" b="1">
                <a:solidFill>
                  <a:srgbClr val="C2132D"/>
                </a:solidFill>
                <a:latin typeface="Trebuchet MS"/>
                <a:cs typeface="Trebuchet MS"/>
              </a:rPr>
              <a:t>each</a:t>
            </a:r>
            <a:r>
              <a:rPr dirty="0" sz="1800" spc="-22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40" b="1">
                <a:solidFill>
                  <a:srgbClr val="C2132D"/>
                </a:solidFill>
                <a:latin typeface="Trebuchet MS"/>
                <a:cs typeface="Trebuchet MS"/>
              </a:rPr>
              <a:t>step.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250">
              <a:latin typeface="Trebuchet MS"/>
              <a:cs typeface="Trebuchet MS"/>
            </a:endParaRPr>
          </a:p>
          <a:p>
            <a:pPr marL="109855" marR="5394325">
              <a:lnSpc>
                <a:spcPts val="1430"/>
              </a:lnSpc>
            </a:pPr>
            <a:r>
              <a:rPr dirty="0" sz="1200" spc="15" b="1">
                <a:solidFill>
                  <a:srgbClr val="000080"/>
                </a:solidFill>
                <a:latin typeface="Courier New"/>
                <a:cs typeface="Courier New"/>
              </a:rPr>
              <a:t>if</a:t>
            </a:r>
            <a:r>
              <a:rPr dirty="0" sz="1200" spc="15">
                <a:latin typeface="Courier New"/>
                <a:cs typeface="Courier New"/>
              </a:rPr>
              <a:t>(</a:t>
            </a:r>
            <a:r>
              <a:rPr dirty="0" sz="1200" spc="15" b="1">
                <a:solidFill>
                  <a:srgbClr val="000080"/>
                </a:solidFill>
                <a:latin typeface="Courier New"/>
                <a:cs typeface="Courier New"/>
              </a:rPr>
              <a:t>require</a:t>
            </a:r>
            <a:r>
              <a:rPr dirty="0" sz="1200" spc="15">
                <a:latin typeface="Courier New"/>
                <a:cs typeface="Courier New"/>
              </a:rPr>
              <a:t>(pacman)==</a:t>
            </a:r>
            <a:r>
              <a:rPr dirty="0" sz="1200" spc="15">
                <a:solidFill>
                  <a:srgbClr val="870000"/>
                </a:solidFill>
                <a:latin typeface="Courier New"/>
                <a:cs typeface="Courier New"/>
              </a:rPr>
              <a:t>FALSE</a:t>
            </a:r>
            <a:r>
              <a:rPr dirty="0" sz="1200" spc="15">
                <a:latin typeface="Courier New"/>
                <a:cs typeface="Courier New"/>
              </a:rPr>
              <a:t>) install.packages(</a:t>
            </a:r>
            <a:r>
              <a:rPr dirty="0" sz="1200" spc="15">
                <a:solidFill>
                  <a:srgbClr val="005400"/>
                </a:solidFill>
                <a:latin typeface="Courier New"/>
                <a:cs typeface="Courier New"/>
              </a:rPr>
              <a:t>'pacman'</a:t>
            </a:r>
            <a:r>
              <a:rPr dirty="0" sz="1200" spc="15">
                <a:latin typeface="Courier New"/>
                <a:cs typeface="Courier New"/>
              </a:rPr>
              <a:t>)  pacman::p_load(arules, tidyverse)</a:t>
            </a:r>
            <a:endParaRPr sz="1200">
              <a:latin typeface="Courier New"/>
              <a:cs typeface="Courier New"/>
            </a:endParaRPr>
          </a:p>
          <a:p>
            <a:pPr marL="109855" marR="7176770">
              <a:lnSpc>
                <a:spcPts val="2620"/>
              </a:lnSpc>
              <a:spcBef>
                <a:spcPts val="240"/>
              </a:spcBef>
            </a:pPr>
            <a:r>
              <a:rPr dirty="0" sz="1200" spc="15">
                <a:latin typeface="Courier New"/>
                <a:cs typeface="Courier New"/>
              </a:rPr>
              <a:t>data(</a:t>
            </a:r>
            <a:r>
              <a:rPr dirty="0" sz="1200" spc="15">
                <a:solidFill>
                  <a:srgbClr val="005400"/>
                </a:solidFill>
                <a:latin typeface="Courier New"/>
                <a:cs typeface="Courier New"/>
              </a:rPr>
              <a:t>'Groceries'</a:t>
            </a:r>
            <a:r>
              <a:rPr dirty="0" sz="1200" spc="15">
                <a:latin typeface="Courier New"/>
                <a:cs typeface="Courier New"/>
              </a:rPr>
              <a:t>) </a:t>
            </a:r>
            <a:r>
              <a:rPr dirty="0" sz="1200" spc="15">
                <a:solidFill>
                  <a:srgbClr val="777777"/>
                </a:solidFill>
                <a:latin typeface="Courier New"/>
                <a:cs typeface="Courier New"/>
              </a:rPr>
              <a:t># note its class  </a:t>
            </a:r>
            <a:r>
              <a:rPr dirty="0" sz="1200" spc="15">
                <a:latin typeface="Courier New"/>
                <a:cs typeface="Courier New"/>
              </a:rPr>
              <a:t>summary(Groceries)</a:t>
            </a:r>
            <a:endParaRPr sz="1200">
              <a:latin typeface="Courier New"/>
              <a:cs typeface="Courier New"/>
            </a:endParaRPr>
          </a:p>
          <a:p>
            <a:pPr marL="109855" marR="4363085">
              <a:lnSpc>
                <a:spcPts val="1430"/>
              </a:lnSpc>
              <a:spcBef>
                <a:spcPts val="1035"/>
              </a:spcBef>
            </a:pPr>
            <a:r>
              <a:rPr dirty="0" sz="1200" spc="15">
                <a:latin typeface="Courier New"/>
                <a:cs typeface="Courier New"/>
              </a:rPr>
              <a:t>itemFrequency(Groceries) </a:t>
            </a:r>
            <a:r>
              <a:rPr dirty="0" sz="1200" spc="15">
                <a:solidFill>
                  <a:srgbClr val="777777"/>
                </a:solidFill>
                <a:latin typeface="Courier New"/>
                <a:cs typeface="Courier New"/>
              </a:rPr>
              <a:t># returns frequency in alphabetic order  </a:t>
            </a:r>
            <a:r>
              <a:rPr dirty="0" sz="1200" spc="15">
                <a:latin typeface="Courier New"/>
                <a:cs typeface="Courier New"/>
              </a:rPr>
              <a:t>itemFrequency(Groceries) %&gt;% sort(decreasing =</a:t>
            </a:r>
            <a:r>
              <a:rPr dirty="0" sz="1200" spc="25">
                <a:latin typeface="Courier New"/>
                <a:cs typeface="Courier New"/>
              </a:rPr>
              <a:t> </a:t>
            </a:r>
            <a:r>
              <a:rPr dirty="0" sz="1200" spc="15">
                <a:solidFill>
                  <a:srgbClr val="870000"/>
                </a:solidFill>
                <a:latin typeface="Courier New"/>
                <a:cs typeface="Courier New"/>
              </a:rPr>
              <a:t>T</a:t>
            </a:r>
            <a:r>
              <a:rPr dirty="0" sz="1200" spc="15">
                <a:latin typeface="Courier New"/>
                <a:cs typeface="Courier New"/>
              </a:rPr>
              <a:t>)</a:t>
            </a:r>
            <a:endParaRPr sz="1200">
              <a:latin typeface="Courier New"/>
              <a:cs typeface="Courier New"/>
            </a:endParaRPr>
          </a:p>
          <a:p>
            <a:pPr marL="109855" marR="6332855">
              <a:lnSpc>
                <a:spcPts val="1430"/>
              </a:lnSpc>
              <a:spcBef>
                <a:spcPts val="1190"/>
              </a:spcBef>
            </a:pPr>
            <a:r>
              <a:rPr dirty="0" sz="1200" spc="15">
                <a:latin typeface="Courier New"/>
                <a:cs typeface="Courier New"/>
              </a:rPr>
              <a:t>itemFrequencyPlot(Groceries, support = </a:t>
            </a:r>
            <a:r>
              <a:rPr dirty="0" sz="1200" spc="15">
                <a:solidFill>
                  <a:srgbClr val="870000"/>
                </a:solidFill>
                <a:latin typeface="Courier New"/>
                <a:cs typeface="Courier New"/>
              </a:rPr>
              <a:t>0.1</a:t>
            </a:r>
            <a:r>
              <a:rPr dirty="0" sz="1200" spc="15">
                <a:latin typeface="Courier New"/>
                <a:cs typeface="Courier New"/>
              </a:rPr>
              <a:t>)  itemFrequencyPlot(Groceries, topN =</a:t>
            </a:r>
            <a:r>
              <a:rPr dirty="0" sz="1200" spc="20">
                <a:latin typeface="Courier New"/>
                <a:cs typeface="Courier New"/>
              </a:rPr>
              <a:t> </a:t>
            </a:r>
            <a:r>
              <a:rPr dirty="0" sz="1200" spc="15">
                <a:solidFill>
                  <a:srgbClr val="870000"/>
                </a:solidFill>
                <a:latin typeface="Courier New"/>
                <a:cs typeface="Courier New"/>
              </a:rPr>
              <a:t>20</a:t>
            </a:r>
            <a:r>
              <a:rPr dirty="0" sz="1200" spc="15">
                <a:latin typeface="Courier New"/>
                <a:cs typeface="Courier New"/>
              </a:rPr>
              <a:t>)</a:t>
            </a:r>
            <a:endParaRPr sz="1200">
              <a:latin typeface="Courier New"/>
              <a:cs typeface="Courier New"/>
            </a:endParaRPr>
          </a:p>
          <a:p>
            <a:pPr marL="109855" marR="4175760">
              <a:lnSpc>
                <a:spcPts val="1430"/>
              </a:lnSpc>
              <a:spcBef>
                <a:spcPts val="1190"/>
              </a:spcBef>
              <a:buChar char="❖"/>
              <a:tabLst>
                <a:tab pos="298450" algn="l"/>
              </a:tabLst>
            </a:pPr>
            <a:r>
              <a:rPr dirty="0" sz="1200" spc="15">
                <a:solidFill>
                  <a:srgbClr val="777777"/>
                </a:solidFill>
                <a:latin typeface="Courier New"/>
                <a:cs typeface="Courier New"/>
              </a:rPr>
              <a:t>mine association rules with a certain min support and </a:t>
            </a:r>
            <a:r>
              <a:rPr dirty="0" sz="1200" spc="-35">
                <a:solidFill>
                  <a:srgbClr val="777777"/>
                </a:solidFill>
                <a:latin typeface="Courier New"/>
                <a:cs typeface="Courier New"/>
              </a:rPr>
              <a:t>confidence </a:t>
            </a:r>
            <a:r>
              <a:rPr dirty="0" sz="1200" spc="-35">
                <a:latin typeface="Courier New"/>
                <a:cs typeface="Courier New"/>
              </a:rPr>
              <a:t> </a:t>
            </a:r>
            <a:r>
              <a:rPr dirty="0" sz="1200" spc="15">
                <a:latin typeface="Courier New"/>
                <a:cs typeface="Courier New"/>
              </a:rPr>
              <a:t>grocery_rules =</a:t>
            </a:r>
            <a:r>
              <a:rPr dirty="0" sz="1200" spc="10">
                <a:latin typeface="Courier New"/>
                <a:cs typeface="Courier New"/>
              </a:rPr>
              <a:t> </a:t>
            </a:r>
            <a:r>
              <a:rPr dirty="0" sz="1200" spc="15">
                <a:latin typeface="Courier New"/>
                <a:cs typeface="Courier New"/>
              </a:rPr>
              <a:t>apriori(</a:t>
            </a:r>
            <a:endParaRPr sz="1200">
              <a:latin typeface="Courier New"/>
              <a:cs typeface="Courier New"/>
            </a:endParaRPr>
          </a:p>
          <a:p>
            <a:pPr marL="297815">
              <a:lnSpc>
                <a:spcPts val="1365"/>
              </a:lnSpc>
            </a:pPr>
            <a:r>
              <a:rPr dirty="0" sz="1200" spc="15">
                <a:latin typeface="Courier New"/>
                <a:cs typeface="Courier New"/>
              </a:rPr>
              <a:t>Groceries, parameter =</a:t>
            </a:r>
            <a:r>
              <a:rPr dirty="0" sz="1200" spc="10">
                <a:latin typeface="Courier New"/>
                <a:cs typeface="Courier New"/>
              </a:rPr>
              <a:t> </a:t>
            </a:r>
            <a:r>
              <a:rPr dirty="0" sz="1200" spc="15">
                <a:latin typeface="Courier New"/>
                <a:cs typeface="Courier New"/>
              </a:rPr>
              <a:t>list(</a:t>
            </a:r>
            <a:endParaRPr sz="1200">
              <a:latin typeface="Courier New"/>
              <a:cs typeface="Courier New"/>
            </a:endParaRPr>
          </a:p>
          <a:p>
            <a:pPr marL="485140">
              <a:lnSpc>
                <a:spcPts val="1435"/>
              </a:lnSpc>
              <a:tabLst>
                <a:tab pos="6019165" algn="l"/>
              </a:tabLst>
            </a:pPr>
            <a:r>
              <a:rPr dirty="0" sz="1200" spc="15">
                <a:latin typeface="Courier New"/>
                <a:cs typeface="Courier New"/>
              </a:rPr>
              <a:t>support = </a:t>
            </a:r>
            <a:r>
              <a:rPr dirty="0" sz="1200" spc="15">
                <a:solidFill>
                  <a:srgbClr val="870000"/>
                </a:solidFill>
                <a:latin typeface="Courier New"/>
                <a:cs typeface="Courier New"/>
              </a:rPr>
              <a:t>0.01</a:t>
            </a:r>
            <a:r>
              <a:rPr dirty="0" sz="1200" spc="15">
                <a:latin typeface="Courier New"/>
                <a:cs typeface="Courier New"/>
              </a:rPr>
              <a:t>, confidence = </a:t>
            </a:r>
            <a:r>
              <a:rPr dirty="0" sz="1200" spc="15">
                <a:solidFill>
                  <a:srgbClr val="870000"/>
                </a:solidFill>
                <a:latin typeface="Courier New"/>
                <a:cs typeface="Courier New"/>
              </a:rPr>
              <a:t>0.5</a:t>
            </a:r>
            <a:r>
              <a:rPr dirty="0" sz="1200" spc="15">
                <a:latin typeface="Courier New"/>
                <a:cs typeface="Courier New"/>
              </a:rPr>
              <a:t>, minlen = </a:t>
            </a:r>
            <a:r>
              <a:rPr dirty="0" sz="1200" spc="15">
                <a:solidFill>
                  <a:srgbClr val="870000"/>
                </a:solidFill>
                <a:latin typeface="Courier New"/>
                <a:cs typeface="Courier New"/>
              </a:rPr>
              <a:t>2</a:t>
            </a:r>
            <a:r>
              <a:rPr dirty="0" sz="1200" spc="15">
                <a:latin typeface="Courier New"/>
                <a:cs typeface="Courier New"/>
              </a:rPr>
              <a:t>, maxlen</a:t>
            </a:r>
            <a:r>
              <a:rPr dirty="0" sz="1200" spc="140">
                <a:latin typeface="Courier New"/>
                <a:cs typeface="Courier New"/>
              </a:rPr>
              <a:t> </a:t>
            </a:r>
            <a:r>
              <a:rPr dirty="0" sz="1200" spc="15">
                <a:latin typeface="Courier New"/>
                <a:cs typeface="Courier New"/>
              </a:rPr>
              <a:t>=</a:t>
            </a:r>
            <a:r>
              <a:rPr dirty="0" sz="1200" spc="30">
                <a:latin typeface="Courier New"/>
                <a:cs typeface="Courier New"/>
              </a:rPr>
              <a:t> </a:t>
            </a:r>
            <a:r>
              <a:rPr dirty="0" sz="1200" spc="15">
                <a:solidFill>
                  <a:srgbClr val="870000"/>
                </a:solidFill>
                <a:latin typeface="Courier New"/>
                <a:cs typeface="Courier New"/>
              </a:rPr>
              <a:t>5</a:t>
            </a:r>
            <a:r>
              <a:rPr dirty="0" sz="1200" spc="15">
                <a:latin typeface="Courier New"/>
                <a:cs typeface="Courier New"/>
              </a:rPr>
              <a:t>)	)</a:t>
            </a:r>
            <a:endParaRPr sz="1200">
              <a:latin typeface="Courier New"/>
              <a:cs typeface="Courier New"/>
            </a:endParaRPr>
          </a:p>
          <a:p>
            <a:pPr marL="109855" marR="8301990">
              <a:lnSpc>
                <a:spcPts val="1430"/>
              </a:lnSpc>
              <a:spcBef>
                <a:spcPts val="1240"/>
              </a:spcBef>
            </a:pPr>
            <a:r>
              <a:rPr dirty="0" sz="1200" spc="15">
                <a:latin typeface="Courier New"/>
                <a:cs typeface="Courier New"/>
              </a:rPr>
              <a:t>summary(grocery_rules)  inspect(grocery_rules)</a:t>
            </a:r>
            <a:endParaRPr sz="1200">
              <a:latin typeface="Courier New"/>
              <a:cs typeface="Courier New"/>
            </a:endParaRPr>
          </a:p>
          <a:p>
            <a:pPr marL="109855">
              <a:lnSpc>
                <a:spcPts val="1285"/>
              </a:lnSpc>
              <a:spcBef>
                <a:spcPts val="1135"/>
              </a:spcBef>
            </a:pPr>
            <a:r>
              <a:rPr dirty="0" sz="1200" spc="15">
                <a:latin typeface="Courier New"/>
                <a:cs typeface="Courier New"/>
              </a:rPr>
              <a:t>sort(grocery_rules, by =</a:t>
            </a:r>
            <a:r>
              <a:rPr dirty="0" sz="1200" spc="15">
                <a:solidFill>
                  <a:srgbClr val="005400"/>
                </a:solidFill>
                <a:latin typeface="Courier New"/>
                <a:cs typeface="Courier New"/>
              </a:rPr>
              <a:t>'lift'</a:t>
            </a:r>
            <a:r>
              <a:rPr dirty="0" sz="1200" spc="15">
                <a:latin typeface="Courier New"/>
                <a:cs typeface="Courier New"/>
              </a:rPr>
              <a:t>, decreasing = </a:t>
            </a:r>
            <a:r>
              <a:rPr dirty="0" sz="1200" spc="15">
                <a:solidFill>
                  <a:srgbClr val="870000"/>
                </a:solidFill>
                <a:latin typeface="Courier New"/>
                <a:cs typeface="Courier New"/>
              </a:rPr>
              <a:t>T</a:t>
            </a:r>
            <a:r>
              <a:rPr dirty="0" sz="1200" spc="15">
                <a:latin typeface="Courier New"/>
                <a:cs typeface="Courier New"/>
              </a:rPr>
              <a:t>)[</a:t>
            </a:r>
            <a:r>
              <a:rPr dirty="0" sz="1200" spc="15">
                <a:solidFill>
                  <a:srgbClr val="870000"/>
                </a:solidFill>
                <a:latin typeface="Courier New"/>
                <a:cs typeface="Courier New"/>
              </a:rPr>
              <a:t>1</a:t>
            </a:r>
            <a:r>
              <a:rPr dirty="0" sz="1200" spc="15">
                <a:latin typeface="Courier New"/>
                <a:cs typeface="Courier New"/>
              </a:rPr>
              <a:t>:</a:t>
            </a:r>
            <a:r>
              <a:rPr dirty="0" sz="1200" spc="15">
                <a:solidFill>
                  <a:srgbClr val="870000"/>
                </a:solidFill>
                <a:latin typeface="Courier New"/>
                <a:cs typeface="Courier New"/>
              </a:rPr>
              <a:t>3</a:t>
            </a:r>
            <a:r>
              <a:rPr dirty="0" sz="1200" spc="15">
                <a:latin typeface="Courier New"/>
                <a:cs typeface="Courier New"/>
              </a:rPr>
              <a:t>] %&gt;%</a:t>
            </a:r>
            <a:r>
              <a:rPr dirty="0" sz="1200" spc="25">
                <a:latin typeface="Courier New"/>
                <a:cs typeface="Courier New"/>
              </a:rPr>
              <a:t> </a:t>
            </a:r>
            <a:r>
              <a:rPr dirty="0" sz="1200" spc="15">
                <a:latin typeface="Courier New"/>
                <a:cs typeface="Courier New"/>
              </a:rPr>
              <a:t>inspect()</a:t>
            </a:r>
            <a:endParaRPr sz="1200">
              <a:latin typeface="Courier New"/>
              <a:cs typeface="Courier New"/>
            </a:endParaRPr>
          </a:p>
          <a:p>
            <a:pPr algn="r" marR="5080">
              <a:lnSpc>
                <a:spcPts val="1285"/>
              </a:lnSpc>
            </a:pPr>
            <a:r>
              <a:rPr dirty="0" sz="1200" spc="5">
                <a:solidFill>
                  <a:srgbClr val="585D60"/>
                </a:solidFill>
                <a:latin typeface="Arial"/>
                <a:cs typeface="Arial"/>
              </a:rPr>
              <a:t>31 </a:t>
            </a:r>
            <a:r>
              <a:rPr dirty="0" sz="1200" spc="160">
                <a:solidFill>
                  <a:srgbClr val="585D60"/>
                </a:solidFill>
                <a:latin typeface="Arial"/>
                <a:cs typeface="Arial"/>
              </a:rPr>
              <a:t>/</a:t>
            </a:r>
            <a:r>
              <a:rPr dirty="0" sz="1200" spc="-18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585D60"/>
                </a:solidFill>
                <a:latin typeface="Arial"/>
                <a:cs typeface="Arial"/>
              </a:rPr>
              <a:t>33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98136" y="2779776"/>
            <a:ext cx="1746885" cy="1015365"/>
          </a:xfrm>
          <a:prstGeom prst="rect"/>
          <a:solidFill>
            <a:srgbClr val="333333"/>
          </a:solidFill>
        </p:spPr>
        <p:txBody>
          <a:bodyPr wrap="square" lIns="0" tIns="118745" rIns="0" bIns="0" rtlCol="0" vert="horz">
            <a:spAutoFit/>
          </a:bodyPr>
          <a:lstStyle/>
          <a:p>
            <a:pPr marL="226695">
              <a:lnSpc>
                <a:spcPct val="100000"/>
              </a:lnSpc>
              <a:spcBef>
                <a:spcPts val="935"/>
              </a:spcBef>
            </a:pPr>
            <a:r>
              <a:rPr dirty="0" sz="4100" spc="-1220">
                <a:solidFill>
                  <a:srgbClr val="000000"/>
                </a:solidFill>
                <a:latin typeface="Trebuchet MS"/>
                <a:cs typeface="Trebuchet MS"/>
              </a:rPr>
              <a:t>R</a:t>
            </a:r>
            <a:r>
              <a:rPr dirty="0" sz="4100" spc="-122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dirty="0" sz="4100" spc="-1220">
                <a:solidFill>
                  <a:srgbClr val="000000"/>
                </a:solidFill>
                <a:latin typeface="Trebuchet MS"/>
                <a:cs typeface="Trebuchet MS"/>
              </a:rPr>
              <a:t>e</a:t>
            </a:r>
            <a:r>
              <a:rPr dirty="0" sz="4100" spc="-122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dirty="0" sz="4100" spc="-1220">
                <a:solidFill>
                  <a:srgbClr val="000000"/>
                </a:solidFill>
                <a:latin typeface="Trebuchet MS"/>
                <a:cs typeface="Trebuchet MS"/>
              </a:rPr>
              <a:t>c</a:t>
            </a:r>
            <a:r>
              <a:rPr dirty="0" sz="4100" spc="-1220">
                <a:solidFill>
                  <a:srgbClr val="FFFFFF"/>
                </a:solidFill>
                <a:latin typeface="Trebuchet MS"/>
                <a:cs typeface="Trebuchet MS"/>
              </a:rPr>
              <a:t>c</a:t>
            </a:r>
            <a:r>
              <a:rPr dirty="0" sz="4100" spc="-1220">
                <a:solidFill>
                  <a:srgbClr val="000000"/>
                </a:solidFill>
                <a:latin typeface="Trebuchet MS"/>
                <a:cs typeface="Trebuchet MS"/>
              </a:rPr>
              <a:t>a</a:t>
            </a:r>
            <a:r>
              <a:rPr dirty="0" sz="4100" spc="-122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4100" spc="-1220">
                <a:solidFill>
                  <a:srgbClr val="000000"/>
                </a:solidFill>
                <a:latin typeface="Trebuchet MS"/>
                <a:cs typeface="Trebuchet MS"/>
              </a:rPr>
              <a:t>p</a:t>
            </a:r>
            <a:r>
              <a:rPr dirty="0" sz="4100" spc="-1220">
                <a:solidFill>
                  <a:srgbClr val="FFFFFF"/>
                </a:solidFill>
                <a:latin typeface="Trebuchet MS"/>
                <a:cs typeface="Trebuchet MS"/>
              </a:rPr>
              <a:t>p</a:t>
            </a:r>
            <a:endParaRPr sz="410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631423" y="5995415"/>
            <a:ext cx="894080" cy="491490"/>
          </a:xfrm>
          <a:custGeom>
            <a:avLst/>
            <a:gdLst/>
            <a:ahLst/>
            <a:cxnLst/>
            <a:rect l="l" t="t" r="r" b="b"/>
            <a:pathLst>
              <a:path w="894079" h="491489">
                <a:moveTo>
                  <a:pt x="0" y="0"/>
                </a:moveTo>
                <a:lnTo>
                  <a:pt x="893825" y="0"/>
                </a:lnTo>
                <a:lnTo>
                  <a:pt x="893825" y="491109"/>
                </a:lnTo>
                <a:lnTo>
                  <a:pt x="0" y="491109"/>
                </a:lnTo>
                <a:lnTo>
                  <a:pt x="0" y="0"/>
                </a:lnTo>
                <a:close/>
              </a:path>
            </a:pathLst>
          </a:custGeom>
          <a:solidFill>
            <a:srgbClr val="333333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0878987" y="6207124"/>
            <a:ext cx="5067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95">
                <a:latin typeface="Trebuchet MS"/>
                <a:cs typeface="Trebuchet MS"/>
              </a:rPr>
              <a:t>3</a:t>
            </a:r>
            <a:r>
              <a:rPr dirty="0" sz="1200" spc="-295">
                <a:solidFill>
                  <a:srgbClr val="FFFFFF"/>
                </a:solidFill>
                <a:latin typeface="Trebuchet MS"/>
                <a:cs typeface="Trebuchet MS"/>
              </a:rPr>
              <a:t>3</a:t>
            </a:r>
            <a:r>
              <a:rPr dirty="0" sz="1200" spc="-295">
                <a:latin typeface="Trebuchet MS"/>
                <a:cs typeface="Trebuchet MS"/>
              </a:rPr>
              <a:t>2</a:t>
            </a:r>
            <a:r>
              <a:rPr dirty="0" sz="1200" spc="-295">
                <a:solidFill>
                  <a:srgbClr val="FFFFFF"/>
                </a:solidFill>
                <a:latin typeface="Trebuchet MS"/>
                <a:cs typeface="Trebuchet MS"/>
              </a:rPr>
              <a:t>2 </a:t>
            </a:r>
            <a:r>
              <a:rPr dirty="0" sz="1200" spc="-385">
                <a:latin typeface="Trebuchet MS"/>
                <a:cs typeface="Trebuchet MS"/>
              </a:rPr>
              <a:t>/</a:t>
            </a:r>
            <a:r>
              <a:rPr dirty="0" sz="1200" spc="-385">
                <a:solidFill>
                  <a:srgbClr val="FFFFFF"/>
                </a:solidFill>
                <a:latin typeface="Trebuchet MS"/>
                <a:cs typeface="Trebuchet MS"/>
              </a:rPr>
              <a:t>/</a:t>
            </a:r>
            <a:r>
              <a:rPr dirty="0" sz="1200" spc="-9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295">
                <a:latin typeface="Trebuchet MS"/>
                <a:cs typeface="Trebuchet MS"/>
              </a:rPr>
              <a:t>3</a:t>
            </a:r>
            <a:r>
              <a:rPr dirty="0" sz="1200" spc="-295">
                <a:solidFill>
                  <a:srgbClr val="FFFFFF"/>
                </a:solidFill>
                <a:latin typeface="Trebuchet MS"/>
                <a:cs typeface="Trebuchet MS"/>
              </a:rPr>
              <a:t>3</a:t>
            </a:r>
            <a:r>
              <a:rPr dirty="0" sz="1200" spc="-295">
                <a:latin typeface="Trebuchet MS"/>
                <a:cs typeface="Trebuchet MS"/>
              </a:rPr>
              <a:t>3</a:t>
            </a:r>
            <a:r>
              <a:rPr dirty="0" sz="1200" spc="-295">
                <a:solidFill>
                  <a:srgbClr val="FFFFFF"/>
                </a:solidFill>
                <a:latin typeface="Trebuchet MS"/>
                <a:cs typeface="Trebuchet MS"/>
              </a:rPr>
              <a:t>3</a:t>
            </a:r>
            <a:endParaRPr sz="1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20700"/>
            <a:ext cx="5100955" cy="6540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4100" spc="-210">
                <a:latin typeface="Trebuchet MS"/>
                <a:cs typeface="Trebuchet MS"/>
              </a:rPr>
              <a:t>Summary </a:t>
            </a:r>
            <a:r>
              <a:rPr dirty="0" sz="4100" spc="-170">
                <a:latin typeface="Trebuchet MS"/>
                <a:cs typeface="Trebuchet MS"/>
              </a:rPr>
              <a:t>of </a:t>
            </a:r>
            <a:r>
              <a:rPr dirty="0" sz="4100" spc="-110">
                <a:latin typeface="Trebuchet MS"/>
                <a:cs typeface="Trebuchet MS"/>
              </a:rPr>
              <a:t>Main</a:t>
            </a:r>
            <a:r>
              <a:rPr dirty="0" sz="4100" spc="-570">
                <a:latin typeface="Trebuchet MS"/>
                <a:cs typeface="Trebuchet MS"/>
              </a:rPr>
              <a:t> </a:t>
            </a:r>
            <a:r>
              <a:rPr dirty="0" sz="4100" spc="-135">
                <a:latin typeface="Trebuchet MS"/>
                <a:cs typeface="Trebuchet MS"/>
              </a:rPr>
              <a:t>Points</a:t>
            </a:r>
            <a:endParaRPr sz="41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8754" y="1530350"/>
            <a:ext cx="6264275" cy="2471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 indent="-133985">
              <a:lnSpc>
                <a:spcPct val="100000"/>
              </a:lnSpc>
              <a:spcBef>
                <a:spcPts val="100"/>
              </a:spcBef>
              <a:buClr>
                <a:srgbClr val="C2132D"/>
              </a:buClr>
              <a:buFont typeface="Trebuchet MS"/>
              <a:buChar char="•"/>
              <a:tabLst>
                <a:tab pos="146685" algn="l"/>
              </a:tabLst>
            </a:pPr>
            <a:r>
              <a:rPr dirty="0" sz="1800" spc="-15">
                <a:solidFill>
                  <a:srgbClr val="585D60"/>
                </a:solidFill>
                <a:latin typeface="Arial"/>
                <a:cs typeface="Arial"/>
              </a:rPr>
              <a:t>Describe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goals </a:t>
            </a:r>
            <a:r>
              <a:rPr dirty="0" sz="1800" spc="-85">
                <a:solidFill>
                  <a:srgbClr val="585D60"/>
                </a:solidFill>
                <a:latin typeface="Arial"/>
                <a:cs typeface="Arial"/>
              </a:rPr>
              <a:t>&amp; </a:t>
            </a:r>
            <a:r>
              <a:rPr dirty="0" sz="1800" spc="35">
                <a:solidFill>
                  <a:srgbClr val="585D60"/>
                </a:solidFill>
                <a:latin typeface="Arial"/>
                <a:cs typeface="Arial"/>
              </a:rPr>
              <a:t>functions </a:t>
            </a:r>
            <a:r>
              <a:rPr dirty="0" sz="1800" spc="75">
                <a:solidFill>
                  <a:srgbClr val="585D60"/>
                </a:solidFill>
                <a:latin typeface="Arial"/>
                <a:cs typeface="Arial"/>
              </a:rPr>
              <a:t>of</a:t>
            </a:r>
            <a:r>
              <a:rPr dirty="0" sz="1800" spc="-36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data </a:t>
            </a:r>
            <a:r>
              <a:rPr dirty="0" sz="1800" spc="25">
                <a:solidFill>
                  <a:srgbClr val="585D60"/>
                </a:solidFill>
                <a:latin typeface="Arial"/>
                <a:cs typeface="Arial"/>
              </a:rPr>
              <a:t>mining</a:t>
            </a:r>
            <a:endParaRPr sz="1800">
              <a:latin typeface="Arial"/>
              <a:cs typeface="Arial"/>
            </a:endParaRPr>
          </a:p>
          <a:p>
            <a:pPr marL="14605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Font typeface="Trebuchet MS"/>
              <a:buChar char="•"/>
              <a:tabLst>
                <a:tab pos="146685" algn="l"/>
              </a:tabLst>
            </a:pP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Understand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5">
                <a:solidFill>
                  <a:srgbClr val="585D60"/>
                </a:solidFill>
                <a:latin typeface="Arial"/>
                <a:cs typeface="Arial"/>
              </a:rPr>
              <a:t>statistical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585D60"/>
                </a:solidFill>
                <a:latin typeface="Arial"/>
                <a:cs typeface="Arial"/>
              </a:rPr>
              <a:t>limits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on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data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5">
                <a:solidFill>
                  <a:srgbClr val="585D60"/>
                </a:solidFill>
                <a:latin typeface="Arial"/>
                <a:cs typeface="Arial"/>
              </a:rPr>
              <a:t>mining</a:t>
            </a:r>
            <a:endParaRPr sz="1800">
              <a:latin typeface="Arial"/>
              <a:cs typeface="Arial"/>
            </a:endParaRPr>
          </a:p>
          <a:p>
            <a:pPr marL="146050" indent="-133985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Font typeface="Trebuchet MS"/>
              <a:buChar char="•"/>
              <a:tabLst>
                <a:tab pos="146685" algn="l"/>
              </a:tabLst>
            </a:pPr>
            <a:r>
              <a:rPr dirty="0" sz="1800" spc="-15">
                <a:solidFill>
                  <a:srgbClr val="585D60"/>
                </a:solidFill>
                <a:latin typeface="Arial"/>
                <a:cs typeface="Arial"/>
              </a:rPr>
              <a:t>Describe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 data </a:t>
            </a:r>
            <a:r>
              <a:rPr dirty="0" sz="1800" spc="25">
                <a:solidFill>
                  <a:srgbClr val="585D60"/>
                </a:solidFill>
                <a:latin typeface="Arial"/>
                <a:cs typeface="Arial"/>
              </a:rPr>
              <a:t>mining</a:t>
            </a:r>
            <a:r>
              <a:rPr dirty="0" sz="1800" spc="-229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process</a:t>
            </a:r>
            <a:endParaRPr sz="1800">
              <a:latin typeface="Arial"/>
              <a:cs typeface="Arial"/>
            </a:endParaRPr>
          </a:p>
          <a:p>
            <a:pPr marL="14605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Font typeface="Trebuchet MS"/>
              <a:buChar char="•"/>
              <a:tabLst>
                <a:tab pos="146685" algn="l"/>
              </a:tabLst>
            </a:pPr>
            <a:r>
              <a:rPr dirty="0" sz="1800" spc="-15">
                <a:solidFill>
                  <a:srgbClr val="585D60"/>
                </a:solidFill>
                <a:latin typeface="Arial"/>
                <a:cs typeface="Arial"/>
              </a:rPr>
              <a:t>What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Arial"/>
                <a:cs typeface="Arial"/>
              </a:rPr>
              <a:t>is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“frequent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Arial"/>
                <a:cs typeface="Arial"/>
              </a:rPr>
              <a:t>itemsets”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85">
                <a:solidFill>
                  <a:srgbClr val="585D60"/>
                </a:solidFill>
                <a:latin typeface="Arial"/>
                <a:cs typeface="Arial"/>
              </a:rPr>
              <a:t>&amp;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application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Arial"/>
                <a:cs typeface="Arial"/>
              </a:rPr>
              <a:t>of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5">
                <a:solidFill>
                  <a:srgbClr val="585D60"/>
                </a:solidFill>
                <a:latin typeface="Arial"/>
                <a:cs typeface="Arial"/>
              </a:rPr>
              <a:t>this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concept</a:t>
            </a:r>
            <a:endParaRPr sz="1800">
              <a:latin typeface="Arial"/>
              <a:cs typeface="Arial"/>
            </a:endParaRPr>
          </a:p>
          <a:p>
            <a:pPr marL="146050" indent="-133985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Font typeface="Trebuchet MS"/>
              <a:buChar char="•"/>
              <a:tabLst>
                <a:tab pos="146685" algn="l"/>
              </a:tabLst>
            </a:pPr>
            <a:r>
              <a:rPr dirty="0" sz="1800" spc="-20">
                <a:solidFill>
                  <a:srgbClr val="585D60"/>
                </a:solidFill>
                <a:latin typeface="Arial"/>
                <a:cs typeface="Arial"/>
              </a:rPr>
              <a:t>Explain</a:t>
            </a:r>
            <a:r>
              <a:rPr dirty="0" sz="1800" spc="-6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how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and</a:t>
            </a:r>
            <a:r>
              <a:rPr dirty="0" sz="1800" spc="-6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why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“association</a:t>
            </a:r>
            <a:r>
              <a:rPr dirty="0" sz="1800" spc="-6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rules”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30">
                <a:solidFill>
                  <a:srgbClr val="585D60"/>
                </a:solidFill>
                <a:latin typeface="Arial"/>
                <a:cs typeface="Arial"/>
              </a:rPr>
              <a:t>are</a:t>
            </a:r>
            <a:r>
              <a:rPr dirty="0" sz="1800" spc="-6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5">
                <a:solidFill>
                  <a:srgbClr val="585D60"/>
                </a:solidFill>
                <a:latin typeface="Arial"/>
                <a:cs typeface="Arial"/>
              </a:rPr>
              <a:t>constructed</a:t>
            </a:r>
            <a:endParaRPr sz="1800">
              <a:latin typeface="Arial"/>
              <a:cs typeface="Arial"/>
            </a:endParaRPr>
          </a:p>
          <a:p>
            <a:pPr marL="14605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Font typeface="Trebuchet MS"/>
              <a:buChar char="•"/>
              <a:tabLst>
                <a:tab pos="146685" algn="l"/>
                <a:tab pos="905510" algn="l"/>
              </a:tabLst>
            </a:pP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Use	</a:t>
            </a:r>
            <a:r>
              <a:rPr dirty="0" sz="1800" spc="45">
                <a:solidFill>
                  <a:srgbClr val="585D60"/>
                </a:solidFill>
                <a:latin typeface="Arial"/>
                <a:cs typeface="Arial"/>
              </a:rPr>
              <a:t>to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populate </a:t>
            </a:r>
            <a:r>
              <a:rPr dirty="0" sz="1800" spc="25">
                <a:solidFill>
                  <a:srgbClr val="585D60"/>
                </a:solidFill>
                <a:latin typeface="Arial"/>
                <a:cs typeface="Arial"/>
              </a:rPr>
              <a:t>both</a:t>
            </a:r>
            <a:r>
              <a:rPr dirty="0" sz="1800" spc="-22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concepts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743075" y="3758071"/>
            <a:ext cx="258445" cy="199390"/>
          </a:xfrm>
          <a:custGeom>
            <a:avLst/>
            <a:gdLst/>
            <a:ahLst/>
            <a:cxnLst/>
            <a:rect l="l" t="t" r="r" b="b"/>
            <a:pathLst>
              <a:path w="258444" h="199389">
                <a:moveTo>
                  <a:pt x="150441" y="199106"/>
                </a:moveTo>
                <a:lnTo>
                  <a:pt x="106397" y="199106"/>
                </a:lnTo>
                <a:lnTo>
                  <a:pt x="106397" y="171596"/>
                </a:lnTo>
                <a:lnTo>
                  <a:pt x="64254" y="161266"/>
                </a:lnTo>
                <a:lnTo>
                  <a:pt x="30516" y="142324"/>
                </a:lnTo>
                <a:lnTo>
                  <a:pt x="8118" y="116741"/>
                </a:lnTo>
                <a:lnTo>
                  <a:pt x="0" y="86487"/>
                </a:lnTo>
                <a:lnTo>
                  <a:pt x="10148" y="52817"/>
                </a:lnTo>
                <a:lnTo>
                  <a:pt x="37821" y="25327"/>
                </a:lnTo>
                <a:lnTo>
                  <a:pt x="78860" y="6794"/>
                </a:lnTo>
                <a:lnTo>
                  <a:pt x="129108" y="0"/>
                </a:lnTo>
                <a:lnTo>
                  <a:pt x="179355" y="6794"/>
                </a:lnTo>
                <a:lnTo>
                  <a:pt x="220395" y="25327"/>
                </a:lnTo>
                <a:lnTo>
                  <a:pt x="228946" y="33821"/>
                </a:lnTo>
                <a:lnTo>
                  <a:pt x="148885" y="33821"/>
                </a:lnTo>
                <a:lnTo>
                  <a:pt x="110696" y="38463"/>
                </a:lnTo>
                <a:lnTo>
                  <a:pt x="79503" y="51126"/>
                </a:lnTo>
                <a:lnTo>
                  <a:pt x="58468" y="69914"/>
                </a:lnTo>
                <a:lnTo>
                  <a:pt x="50754" y="92931"/>
                </a:lnTo>
                <a:lnTo>
                  <a:pt x="54801" y="109747"/>
                </a:lnTo>
                <a:lnTo>
                  <a:pt x="54923" y="109953"/>
                </a:lnTo>
                <a:lnTo>
                  <a:pt x="66226" y="124791"/>
                </a:lnTo>
                <a:lnTo>
                  <a:pt x="83810" y="137161"/>
                </a:lnTo>
                <a:lnTo>
                  <a:pt x="106397" y="146219"/>
                </a:lnTo>
                <a:lnTo>
                  <a:pt x="150396" y="146219"/>
                </a:lnTo>
                <a:lnTo>
                  <a:pt x="150396" y="151996"/>
                </a:lnTo>
                <a:lnTo>
                  <a:pt x="220957" y="151996"/>
                </a:lnTo>
                <a:lnTo>
                  <a:pt x="229019" y="165596"/>
                </a:lnTo>
                <a:lnTo>
                  <a:pt x="181285" y="165596"/>
                </a:lnTo>
                <a:lnTo>
                  <a:pt x="173897" y="167611"/>
                </a:lnTo>
                <a:lnTo>
                  <a:pt x="166279" y="169318"/>
                </a:lnTo>
                <a:lnTo>
                  <a:pt x="158454" y="170708"/>
                </a:lnTo>
                <a:lnTo>
                  <a:pt x="150441" y="171774"/>
                </a:lnTo>
                <a:lnTo>
                  <a:pt x="150441" y="199106"/>
                </a:lnTo>
                <a:close/>
              </a:path>
              <a:path w="258444" h="199389">
                <a:moveTo>
                  <a:pt x="229512" y="140219"/>
                </a:moveTo>
                <a:lnTo>
                  <a:pt x="211817" y="140219"/>
                </a:lnTo>
                <a:lnTo>
                  <a:pt x="224911" y="131949"/>
                </a:lnTo>
                <a:lnTo>
                  <a:pt x="234739" y="121358"/>
                </a:lnTo>
                <a:lnTo>
                  <a:pt x="240917" y="108376"/>
                </a:lnTo>
                <a:lnTo>
                  <a:pt x="243061" y="92931"/>
                </a:lnTo>
                <a:lnTo>
                  <a:pt x="235965" y="66389"/>
                </a:lnTo>
                <a:lnTo>
                  <a:pt x="216289" y="47993"/>
                </a:lnTo>
                <a:lnTo>
                  <a:pt x="186456" y="37288"/>
                </a:lnTo>
                <a:lnTo>
                  <a:pt x="148885" y="33821"/>
                </a:lnTo>
                <a:lnTo>
                  <a:pt x="228946" y="33821"/>
                </a:lnTo>
                <a:lnTo>
                  <a:pt x="248068" y="52817"/>
                </a:lnTo>
                <a:lnTo>
                  <a:pt x="258216" y="86487"/>
                </a:lnTo>
                <a:lnTo>
                  <a:pt x="255484" y="104250"/>
                </a:lnTo>
                <a:lnTo>
                  <a:pt x="247655" y="120764"/>
                </a:lnTo>
                <a:lnTo>
                  <a:pt x="235285" y="135661"/>
                </a:lnTo>
                <a:lnTo>
                  <a:pt x="229512" y="140219"/>
                </a:lnTo>
                <a:close/>
              </a:path>
              <a:path w="258444" h="199389">
                <a:moveTo>
                  <a:pt x="150396" y="146219"/>
                </a:moveTo>
                <a:lnTo>
                  <a:pt x="106397" y="146219"/>
                </a:lnTo>
                <a:lnTo>
                  <a:pt x="106397" y="53643"/>
                </a:lnTo>
                <a:lnTo>
                  <a:pt x="194840" y="53643"/>
                </a:lnTo>
                <a:lnTo>
                  <a:pt x="201131" y="54353"/>
                </a:lnTo>
                <a:lnTo>
                  <a:pt x="214973" y="58793"/>
                </a:lnTo>
                <a:lnTo>
                  <a:pt x="228814" y="70424"/>
                </a:lnTo>
                <a:lnTo>
                  <a:pt x="232931" y="85007"/>
                </a:lnTo>
                <a:lnTo>
                  <a:pt x="167731" y="85007"/>
                </a:lnTo>
                <a:lnTo>
                  <a:pt x="150796" y="85242"/>
                </a:lnTo>
                <a:lnTo>
                  <a:pt x="150796" y="109953"/>
                </a:lnTo>
                <a:lnTo>
                  <a:pt x="166193" y="110269"/>
                </a:lnTo>
                <a:lnTo>
                  <a:pt x="230437" y="110269"/>
                </a:lnTo>
                <a:lnTo>
                  <a:pt x="229092" y="115327"/>
                </a:lnTo>
                <a:lnTo>
                  <a:pt x="215862" y="127691"/>
                </a:lnTo>
                <a:lnTo>
                  <a:pt x="202631" y="132864"/>
                </a:lnTo>
                <a:lnTo>
                  <a:pt x="196618" y="133908"/>
                </a:lnTo>
                <a:lnTo>
                  <a:pt x="204440" y="136263"/>
                </a:lnTo>
                <a:lnTo>
                  <a:pt x="208973" y="138574"/>
                </a:lnTo>
                <a:lnTo>
                  <a:pt x="209728" y="138930"/>
                </a:lnTo>
                <a:lnTo>
                  <a:pt x="210751" y="139508"/>
                </a:lnTo>
                <a:lnTo>
                  <a:pt x="211817" y="140219"/>
                </a:lnTo>
                <a:lnTo>
                  <a:pt x="229512" y="140219"/>
                </a:lnTo>
                <a:lnTo>
                  <a:pt x="227035" y="142174"/>
                </a:lnTo>
                <a:lnTo>
                  <a:pt x="150396" y="142174"/>
                </a:lnTo>
                <a:lnTo>
                  <a:pt x="150396" y="146219"/>
                </a:lnTo>
                <a:close/>
              </a:path>
              <a:path w="258444" h="199389">
                <a:moveTo>
                  <a:pt x="230437" y="110269"/>
                </a:moveTo>
                <a:lnTo>
                  <a:pt x="166193" y="110269"/>
                </a:lnTo>
                <a:lnTo>
                  <a:pt x="178574" y="109747"/>
                </a:lnTo>
                <a:lnTo>
                  <a:pt x="186821" y="106184"/>
                </a:lnTo>
                <a:lnTo>
                  <a:pt x="189818" y="97375"/>
                </a:lnTo>
                <a:lnTo>
                  <a:pt x="187333" y="89086"/>
                </a:lnTo>
                <a:lnTo>
                  <a:pt x="179940" y="85625"/>
                </a:lnTo>
                <a:lnTo>
                  <a:pt x="167731" y="85007"/>
                </a:lnTo>
                <a:lnTo>
                  <a:pt x="232931" y="85007"/>
                </a:lnTo>
                <a:lnTo>
                  <a:pt x="235106" y="92709"/>
                </a:lnTo>
                <a:lnTo>
                  <a:pt x="230437" y="110269"/>
                </a:lnTo>
                <a:close/>
              </a:path>
              <a:path w="258444" h="199389">
                <a:moveTo>
                  <a:pt x="220957" y="151996"/>
                </a:moveTo>
                <a:lnTo>
                  <a:pt x="150396" y="151996"/>
                </a:lnTo>
                <a:lnTo>
                  <a:pt x="158218" y="151952"/>
                </a:lnTo>
                <a:lnTo>
                  <a:pt x="165729" y="151552"/>
                </a:lnTo>
                <a:lnTo>
                  <a:pt x="172885" y="150707"/>
                </a:lnTo>
                <a:lnTo>
                  <a:pt x="170618" y="147374"/>
                </a:lnTo>
                <a:lnTo>
                  <a:pt x="167018" y="142174"/>
                </a:lnTo>
                <a:lnTo>
                  <a:pt x="227035" y="142174"/>
                </a:lnTo>
                <a:lnTo>
                  <a:pt x="218928" y="148574"/>
                </a:lnTo>
                <a:lnTo>
                  <a:pt x="220957" y="151996"/>
                </a:lnTo>
                <a:close/>
              </a:path>
              <a:path w="258444" h="199389">
                <a:moveTo>
                  <a:pt x="248883" y="199106"/>
                </a:moveTo>
                <a:lnTo>
                  <a:pt x="199106" y="199106"/>
                </a:lnTo>
                <a:lnTo>
                  <a:pt x="181285" y="165596"/>
                </a:lnTo>
                <a:lnTo>
                  <a:pt x="229019" y="165596"/>
                </a:lnTo>
                <a:lnTo>
                  <a:pt x="248883" y="199106"/>
                </a:lnTo>
                <a:close/>
              </a:path>
            </a:pathLst>
          </a:custGeom>
          <a:solidFill>
            <a:srgbClr val="585D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878987" y="6207124"/>
            <a:ext cx="5067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5">
                <a:solidFill>
                  <a:srgbClr val="585D60"/>
                </a:solidFill>
                <a:latin typeface="Arial"/>
                <a:cs typeface="Arial"/>
              </a:rPr>
              <a:t>33 </a:t>
            </a:r>
            <a:r>
              <a:rPr dirty="0" sz="1200" spc="160">
                <a:solidFill>
                  <a:srgbClr val="585D60"/>
                </a:solidFill>
                <a:latin typeface="Arial"/>
                <a:cs typeface="Arial"/>
              </a:rPr>
              <a:t>/</a:t>
            </a:r>
            <a:r>
              <a:rPr dirty="0" sz="1200" spc="-16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585D60"/>
                </a:solidFill>
                <a:latin typeface="Arial"/>
                <a:cs typeface="Arial"/>
              </a:rPr>
              <a:t>33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83D5D3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ISA 401: Business Intelligence &amp; Data Visualization</dc:title>
  <dcterms:created xsi:type="dcterms:W3CDTF">2025-11-18T17:22:50Z</dcterms:created>
  <dcterms:modified xsi:type="dcterms:W3CDTF">2025-11-18T17:22:50Z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2025-11-18T00:00:00Z</vt:filetime>
  </property>
  <property fmtid="{D5CDD505-2E9C-101B-9397-08002B2CF9AE}" pid="3" name="Creator">
    <vt:lpwstr>Mozilla/5.0 (Windows NT 10.0; Win64; x64) AppleWebKit/537.36 (KHTML, like Gecko) Chrome/142.0.0.0 Safari/537.36</vt:lpwstr>
  </property>
  <property fmtid="{D5CDD505-2E9C-101B-9397-08002B2CF9AE}" pid="4" name="LastSaved">
    <vt:filetime>2025-11-18T00:00:00Z</vt:filetime>
  </property>
</Properties>
</file>