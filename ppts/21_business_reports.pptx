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1445" y="2625725"/>
            <a:ext cx="8088709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754" y="1530350"/>
            <a:ext cx="9234090" cy="160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02752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isense.com/blog/scorecard-vs-dashboard-adds-business-intelligence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megahefm/Dropbox/Miami/Code/GitHub/fmegahed.github.io/isa401/fall2025/class21/21_business_reports.html?panelset_001=activity-description&amp;panelset_001_activity-description" TargetMode="External"/><Relationship Id="rId3" Type="http://schemas.openxmlformats.org/officeDocument/2006/relationships/hyperlink" Target="file://localhost/C:/Users/megahefm/Dropbox/Miami/Code/GitHub/fmegahed.github.io/isa401/fall2025/class21/21_business_reports.html?panelset_001=identify-kpis-for-this-activity&amp;panelset_001_identify-kpis-for-this-activity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www.rstudio.com/resources/webinars/rethink-reporting-with-automation/?wvideo=e1sg52li8m" TargetMode="External"/><Relationship Id="rId4" Type="http://schemas.openxmlformats.org/officeDocument/2006/relationships/hyperlink" Target="http://www.fsb.miamioh.edu/fsb/directory/vita/megahefm.pdf" TargetMode="External"/><Relationship Id="rId5" Type="http://schemas.openxmlformats.org/officeDocument/2006/relationships/hyperlink" Target="https://github.com/fmegahed/vitae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61822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/>
              <a:t>ISA </a:t>
            </a:r>
            <a:r>
              <a:rPr dirty="0" sz="3350" spc="-180"/>
              <a:t>401: </a:t>
            </a:r>
            <a:r>
              <a:rPr dirty="0" sz="3350" spc="-45"/>
              <a:t>Business </a:t>
            </a:r>
            <a:r>
              <a:rPr dirty="0" sz="3350" spc="-190"/>
              <a:t>Intelligence </a:t>
            </a:r>
            <a:r>
              <a:rPr dirty="0" sz="3350" spc="-530"/>
              <a:t>&amp; </a:t>
            </a:r>
            <a:r>
              <a:rPr dirty="0" sz="3350" spc="-190"/>
              <a:t>Data</a:t>
            </a:r>
            <a:r>
              <a:rPr dirty="0" sz="3350" spc="-484"/>
              <a:t> </a:t>
            </a:r>
            <a:r>
              <a:rPr dirty="0" sz="3350" spc="-145"/>
              <a:t>Visualization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latin typeface="Times New Roman"/>
                <a:cs typeface="Times New Roman"/>
              </a:rPr>
              <a:t>21: Business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Reporting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>
                <a:solidFill>
                  <a:srgbClr val="C2132D"/>
                </a:solidFill>
              </a:rPr>
              <a:t>Learning </a:t>
            </a:r>
            <a:r>
              <a:rPr dirty="0" spc="-254">
                <a:solidFill>
                  <a:srgbClr val="C2132D"/>
                </a:solidFill>
              </a:rPr>
              <a:t>Objectives </a:t>
            </a:r>
            <a:r>
              <a:rPr dirty="0" spc="-229">
                <a:solidFill>
                  <a:srgbClr val="C2132D"/>
                </a:solidFill>
              </a:rPr>
              <a:t>for </a:t>
            </a:r>
            <a:r>
              <a:rPr dirty="0" spc="-170">
                <a:solidFill>
                  <a:srgbClr val="C2132D"/>
                </a:solidFill>
              </a:rPr>
              <a:t>Today's</a:t>
            </a:r>
            <a:r>
              <a:rPr dirty="0" spc="-550">
                <a:solidFill>
                  <a:srgbClr val="C2132D"/>
                </a:solidFill>
              </a:rPr>
              <a:t> </a:t>
            </a:r>
            <a:r>
              <a:rPr dirty="0" spc="-25">
                <a:solidFill>
                  <a:srgbClr val="C2132D"/>
                </a:solidFill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14223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Define a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“business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report”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</a:t>
            </a:r>
            <a:r>
              <a:rPr dirty="0" sz="1800" spc="-3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importance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right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KPIs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Automate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Dashboards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real-time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reporting</a:t>
            </a:r>
            <a:r>
              <a:rPr dirty="0" sz="1800" spc="-25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4376" y="2502408"/>
            <a:ext cx="8540750" cy="1033780"/>
          </a:xfrm>
          <a:custGeom>
            <a:avLst/>
            <a:gdLst/>
            <a:ahLst/>
            <a:cxnLst/>
            <a:rect l="l" t="t" r="r" b="b"/>
            <a:pathLst>
              <a:path w="8540750" h="1033779">
                <a:moveTo>
                  <a:pt x="0" y="0"/>
                </a:moveTo>
                <a:lnTo>
                  <a:pt x="8540496" y="0"/>
                </a:lnTo>
                <a:lnTo>
                  <a:pt x="8540496" y="1033272"/>
                </a:lnTo>
                <a:lnTo>
                  <a:pt x="0" y="103327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20184" y="3041904"/>
            <a:ext cx="2499360" cy="917575"/>
          </a:xfrm>
          <a:custGeom>
            <a:avLst/>
            <a:gdLst/>
            <a:ahLst/>
            <a:cxnLst/>
            <a:rect l="l" t="t" r="r" b="b"/>
            <a:pathLst>
              <a:path w="2499359" h="917575">
                <a:moveTo>
                  <a:pt x="0" y="0"/>
                </a:moveTo>
                <a:lnTo>
                  <a:pt x="2499360" y="0"/>
                </a:lnTo>
                <a:lnTo>
                  <a:pt x="2499360" y="917448"/>
                </a:lnTo>
                <a:lnTo>
                  <a:pt x="0" y="9174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3027680" marR="5080" indent="-3015615">
              <a:lnSpc>
                <a:spcPts val="4120"/>
              </a:lnSpc>
              <a:spcBef>
                <a:spcPts val="925"/>
              </a:spcBef>
            </a:pPr>
            <a:r>
              <a:rPr dirty="0" spc="-1340">
                <a:solidFill>
                  <a:srgbClr val="000000"/>
                </a:solidFill>
              </a:rPr>
              <a:t>W</a:t>
            </a:r>
            <a:r>
              <a:rPr dirty="0" spc="-1340"/>
              <a:t>W</a:t>
            </a:r>
            <a:r>
              <a:rPr dirty="0" spc="-1340">
                <a:solidFill>
                  <a:srgbClr val="000000"/>
                </a:solidFill>
              </a:rPr>
              <a:t>h</a:t>
            </a:r>
            <a:r>
              <a:rPr dirty="0" spc="-1340"/>
              <a:t>h</a:t>
            </a:r>
            <a:r>
              <a:rPr dirty="0" spc="-1340">
                <a:solidFill>
                  <a:srgbClr val="000000"/>
                </a:solidFill>
              </a:rPr>
              <a:t>a</a:t>
            </a:r>
            <a:r>
              <a:rPr dirty="0" spc="-1340"/>
              <a:t>a</a:t>
            </a:r>
            <a:r>
              <a:rPr dirty="0" spc="-1340">
                <a:solidFill>
                  <a:srgbClr val="000000"/>
                </a:solidFill>
              </a:rPr>
              <a:t>t</a:t>
            </a:r>
            <a:r>
              <a:rPr dirty="0" spc="-1340"/>
              <a:t>t</a:t>
            </a:r>
            <a:r>
              <a:rPr dirty="0" spc="-265"/>
              <a:t> </a:t>
            </a:r>
            <a:r>
              <a:rPr dirty="0" spc="-710">
                <a:solidFill>
                  <a:srgbClr val="000000"/>
                </a:solidFill>
              </a:rPr>
              <a:t>i</a:t>
            </a:r>
            <a:r>
              <a:rPr dirty="0" spc="-710"/>
              <a:t>i</a:t>
            </a:r>
            <a:r>
              <a:rPr dirty="0" spc="-710">
                <a:solidFill>
                  <a:srgbClr val="000000"/>
                </a:solidFill>
              </a:rPr>
              <a:t>s</a:t>
            </a:r>
            <a:r>
              <a:rPr dirty="0" spc="-710"/>
              <a:t>s </a:t>
            </a:r>
            <a:r>
              <a:rPr dirty="0" spc="-1170">
                <a:solidFill>
                  <a:srgbClr val="000000"/>
                </a:solidFill>
              </a:rPr>
              <a:t>a</a:t>
            </a:r>
            <a:r>
              <a:rPr dirty="0" spc="-1170"/>
              <a:t>a </a:t>
            </a:r>
            <a:r>
              <a:rPr dirty="0" spc="-980">
                <a:solidFill>
                  <a:srgbClr val="000000"/>
                </a:solidFill>
              </a:rPr>
              <a:t>B</a:t>
            </a:r>
            <a:r>
              <a:rPr dirty="0" spc="-980"/>
              <a:t>B</a:t>
            </a:r>
            <a:r>
              <a:rPr dirty="0" spc="-980">
                <a:solidFill>
                  <a:srgbClr val="000000"/>
                </a:solidFill>
              </a:rPr>
              <a:t>u</a:t>
            </a:r>
            <a:r>
              <a:rPr dirty="0" spc="-980"/>
              <a:t>u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</a:t>
            </a:r>
            <a:r>
              <a:rPr dirty="0" spc="-980">
                <a:solidFill>
                  <a:srgbClr val="000000"/>
                </a:solidFill>
              </a:rPr>
              <a:t>i</a:t>
            </a:r>
            <a:r>
              <a:rPr dirty="0" spc="-980"/>
              <a:t>i</a:t>
            </a:r>
            <a:r>
              <a:rPr dirty="0" spc="-980">
                <a:solidFill>
                  <a:srgbClr val="000000"/>
                </a:solidFill>
              </a:rPr>
              <a:t>n</a:t>
            </a:r>
            <a:r>
              <a:rPr dirty="0" spc="-980"/>
              <a:t>n</a:t>
            </a:r>
            <a:r>
              <a:rPr dirty="0" spc="-980">
                <a:solidFill>
                  <a:srgbClr val="000000"/>
                </a:solidFill>
              </a:rPr>
              <a:t>e</a:t>
            </a:r>
            <a:r>
              <a:rPr dirty="0" spc="-980"/>
              <a:t>e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 </a:t>
            </a:r>
            <a:r>
              <a:rPr dirty="0" spc="-1160">
                <a:solidFill>
                  <a:srgbClr val="000000"/>
                </a:solidFill>
              </a:rPr>
              <a:t>R</a:t>
            </a:r>
            <a:r>
              <a:rPr dirty="0" spc="-1160"/>
              <a:t>R</a:t>
            </a:r>
            <a:r>
              <a:rPr dirty="0" spc="-1160">
                <a:solidFill>
                  <a:srgbClr val="000000"/>
                </a:solidFill>
              </a:rPr>
              <a:t>e</a:t>
            </a:r>
            <a:r>
              <a:rPr dirty="0" spc="-1160"/>
              <a:t>e</a:t>
            </a:r>
            <a:r>
              <a:rPr dirty="0" spc="-1160">
                <a:solidFill>
                  <a:srgbClr val="000000"/>
                </a:solidFill>
              </a:rPr>
              <a:t>p</a:t>
            </a:r>
            <a:r>
              <a:rPr dirty="0" spc="-1160"/>
              <a:t>po</a:t>
            </a:r>
            <a:r>
              <a:rPr dirty="0" spc="-1160">
                <a:solidFill>
                  <a:srgbClr val="000000"/>
                </a:solidFill>
              </a:rPr>
              <a:t>o</a:t>
            </a:r>
            <a:r>
              <a:rPr dirty="0" spc="-1160"/>
              <a:t>r</a:t>
            </a:r>
            <a:r>
              <a:rPr dirty="0" spc="-1160">
                <a:solidFill>
                  <a:srgbClr val="000000"/>
                </a:solidFill>
              </a:rPr>
              <a:t>r</a:t>
            </a:r>
            <a:r>
              <a:rPr dirty="0" spc="-1160"/>
              <a:t>t</a:t>
            </a:r>
            <a:r>
              <a:rPr dirty="0" spc="-1160">
                <a:solidFill>
                  <a:srgbClr val="000000"/>
                </a:solidFill>
              </a:rPr>
              <a:t>t </a:t>
            </a:r>
            <a:r>
              <a:rPr dirty="0" spc="-1225">
                <a:solidFill>
                  <a:srgbClr val="000000"/>
                </a:solidFill>
              </a:rPr>
              <a:t>a</a:t>
            </a:r>
            <a:r>
              <a:rPr dirty="0" spc="-1225"/>
              <a:t>a</a:t>
            </a:r>
            <a:r>
              <a:rPr dirty="0" spc="-1225">
                <a:solidFill>
                  <a:srgbClr val="000000"/>
                </a:solidFill>
              </a:rPr>
              <a:t>n</a:t>
            </a:r>
            <a:r>
              <a:rPr dirty="0" spc="-1225"/>
              <a:t>n</a:t>
            </a:r>
            <a:r>
              <a:rPr dirty="0" spc="-1225">
                <a:solidFill>
                  <a:srgbClr val="000000"/>
                </a:solidFill>
              </a:rPr>
              <a:t>d</a:t>
            </a:r>
            <a:r>
              <a:rPr dirty="0" spc="-1225"/>
              <a:t>d </a:t>
            </a:r>
            <a:r>
              <a:rPr dirty="0" spc="-815">
                <a:solidFill>
                  <a:srgbClr val="000000"/>
                </a:solidFill>
              </a:rPr>
              <a:t>i</a:t>
            </a:r>
            <a:r>
              <a:rPr dirty="0" spc="-815"/>
              <a:t>i</a:t>
            </a:r>
            <a:r>
              <a:rPr dirty="0" spc="-815">
                <a:solidFill>
                  <a:srgbClr val="000000"/>
                </a:solidFill>
              </a:rPr>
              <a:t>t</a:t>
            </a:r>
            <a:r>
              <a:rPr dirty="0" spc="-815"/>
              <a:t>t</a:t>
            </a:r>
            <a:r>
              <a:rPr dirty="0" spc="-815">
                <a:solidFill>
                  <a:srgbClr val="000000"/>
                </a:solidFill>
              </a:rPr>
              <a:t>s</a:t>
            </a:r>
            <a:r>
              <a:rPr dirty="0" spc="-815"/>
              <a:t>s </a:t>
            </a:r>
            <a:r>
              <a:rPr dirty="0" spc="-1120">
                <a:solidFill>
                  <a:srgbClr val="000000"/>
                </a:solidFill>
              </a:rPr>
              <a:t>M</a:t>
            </a:r>
            <a:r>
              <a:rPr dirty="0" spc="-1120"/>
              <a:t>M</a:t>
            </a:r>
            <a:r>
              <a:rPr dirty="0" spc="-1120">
                <a:solidFill>
                  <a:srgbClr val="000000"/>
                </a:solidFill>
              </a:rPr>
              <a:t>a</a:t>
            </a:r>
            <a:r>
              <a:rPr dirty="0" spc="-1120"/>
              <a:t>a</a:t>
            </a:r>
            <a:r>
              <a:rPr dirty="0" spc="-1120">
                <a:solidFill>
                  <a:srgbClr val="000000"/>
                </a:solidFill>
              </a:rPr>
              <a:t>i</a:t>
            </a:r>
            <a:r>
              <a:rPr dirty="0" spc="-1120"/>
              <a:t>i</a:t>
            </a:r>
            <a:r>
              <a:rPr dirty="0" spc="-1120">
                <a:solidFill>
                  <a:srgbClr val="000000"/>
                </a:solidFill>
              </a:rPr>
              <a:t>n</a:t>
            </a:r>
            <a:r>
              <a:rPr dirty="0" spc="-1120"/>
              <a:t>n  </a:t>
            </a:r>
            <a:r>
              <a:rPr dirty="0" spc="-1175"/>
              <a:t>F</a:t>
            </a:r>
            <a:r>
              <a:rPr dirty="0" spc="-1175">
                <a:solidFill>
                  <a:srgbClr val="000000"/>
                </a:solidFill>
              </a:rPr>
              <a:t>Fu</a:t>
            </a:r>
            <a:r>
              <a:rPr dirty="0" spc="-1175"/>
              <a:t>u</a:t>
            </a:r>
            <a:r>
              <a:rPr dirty="0" spc="-1175">
                <a:solidFill>
                  <a:srgbClr val="000000"/>
                </a:solidFill>
              </a:rPr>
              <a:t>n</a:t>
            </a:r>
            <a:r>
              <a:rPr dirty="0" spc="-1175"/>
              <a:t>nc</a:t>
            </a:r>
            <a:r>
              <a:rPr dirty="0" spc="-1175">
                <a:solidFill>
                  <a:srgbClr val="000000"/>
                </a:solidFill>
              </a:rPr>
              <a:t>ct</a:t>
            </a:r>
            <a:r>
              <a:rPr dirty="0" spc="-1175"/>
              <a:t>t</a:t>
            </a:r>
            <a:r>
              <a:rPr dirty="0" spc="-1175">
                <a:solidFill>
                  <a:srgbClr val="000000"/>
                </a:solidFill>
              </a:rPr>
              <a:t>i</a:t>
            </a:r>
            <a:r>
              <a:rPr dirty="0" spc="-1175"/>
              <a:t>i</a:t>
            </a:r>
            <a:r>
              <a:rPr dirty="0" spc="-1175">
                <a:solidFill>
                  <a:srgbClr val="000000"/>
                </a:solidFill>
              </a:rPr>
              <a:t>o</a:t>
            </a:r>
            <a:r>
              <a:rPr dirty="0" spc="-1175"/>
              <a:t>o</a:t>
            </a:r>
            <a:r>
              <a:rPr dirty="0" spc="-1175">
                <a:solidFill>
                  <a:srgbClr val="000000"/>
                </a:solidFill>
              </a:rPr>
              <a:t>n</a:t>
            </a:r>
            <a:r>
              <a:rPr dirty="0" spc="-1175"/>
              <a:t>ns</a:t>
            </a:r>
            <a:r>
              <a:rPr dirty="0" spc="-1175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533525"/>
            <a:ext cx="9696450" cy="4695825"/>
          </a:xfrm>
          <a:custGeom>
            <a:avLst/>
            <a:gdLst/>
            <a:ahLst/>
            <a:cxnLst/>
            <a:rect l="l" t="t" r="r" b="b"/>
            <a:pathLst>
              <a:path w="9696450" h="4695825">
                <a:moveTo>
                  <a:pt x="9553574" y="4695824"/>
                </a:moveTo>
                <a:lnTo>
                  <a:pt x="142874" y="4695824"/>
                </a:lnTo>
                <a:lnTo>
                  <a:pt x="135855" y="4695653"/>
                </a:lnTo>
                <a:lnTo>
                  <a:pt x="94749" y="4687475"/>
                </a:lnTo>
                <a:lnTo>
                  <a:pt x="57756" y="4667702"/>
                </a:lnTo>
                <a:lnTo>
                  <a:pt x="28120" y="4638066"/>
                </a:lnTo>
                <a:lnTo>
                  <a:pt x="8348" y="4601074"/>
                </a:lnTo>
                <a:lnTo>
                  <a:pt x="171" y="4559968"/>
                </a:lnTo>
                <a:lnTo>
                  <a:pt x="0" y="455294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9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4552949"/>
                </a:lnTo>
                <a:lnTo>
                  <a:pt x="9690298" y="4594423"/>
                </a:lnTo>
                <a:lnTo>
                  <a:pt x="9672370" y="4632325"/>
                </a:lnTo>
                <a:lnTo>
                  <a:pt x="9644214" y="4663394"/>
                </a:lnTo>
                <a:lnTo>
                  <a:pt x="9608250" y="4684948"/>
                </a:lnTo>
                <a:lnTo>
                  <a:pt x="9567577" y="4695138"/>
                </a:lnTo>
                <a:lnTo>
                  <a:pt x="9553574" y="469582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9517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60">
                <a:solidFill>
                  <a:srgbClr val="C2132D"/>
                </a:solidFill>
              </a:rPr>
              <a:t>Definition </a:t>
            </a:r>
            <a:r>
              <a:rPr dirty="0" spc="-220">
                <a:solidFill>
                  <a:srgbClr val="C2132D"/>
                </a:solidFill>
              </a:rPr>
              <a:t>and</a:t>
            </a:r>
            <a:r>
              <a:rPr dirty="0" spc="-390">
                <a:solidFill>
                  <a:srgbClr val="C2132D"/>
                </a:solidFill>
              </a:rPr>
              <a:t> </a:t>
            </a:r>
            <a:r>
              <a:rPr dirty="0" spc="-170">
                <a:solidFill>
                  <a:srgbClr val="C2132D"/>
                </a:solidFill>
              </a:rPr>
              <a:t>Concepts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1837055"/>
            <a:ext cx="8504555" cy="39458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0" b="1">
                <a:solidFill>
                  <a:srgbClr val="C2132D"/>
                </a:solidFill>
                <a:latin typeface="Trebuchet MS"/>
                <a:cs typeface="Trebuchet MS"/>
              </a:rPr>
              <a:t>What </a:t>
            </a:r>
            <a:r>
              <a:rPr dirty="0" sz="2150" spc="55" b="1">
                <a:solidFill>
                  <a:srgbClr val="C2132D"/>
                </a:solidFill>
                <a:latin typeface="Trebuchet MS"/>
                <a:cs typeface="Trebuchet MS"/>
              </a:rPr>
              <a:t>is </a:t>
            </a:r>
            <a:r>
              <a:rPr dirty="0" sz="2150" spc="1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2150" spc="-35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2150" spc="-50" b="1">
                <a:solidFill>
                  <a:srgbClr val="C2132D"/>
                </a:solidFill>
                <a:latin typeface="Trebuchet MS"/>
                <a:cs typeface="Trebuchet MS"/>
              </a:rPr>
              <a:t>report?</a:t>
            </a:r>
            <a:endParaRPr sz="21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219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 b="1">
                <a:latin typeface="Trebuchet MS"/>
                <a:cs typeface="Trebuchet MS"/>
              </a:rPr>
              <a:t>A</a:t>
            </a:r>
            <a:r>
              <a:rPr dirty="0" sz="1800" spc="-85" b="1"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report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latin typeface="Trebuchet MS"/>
                <a:cs typeface="Trebuchet MS"/>
              </a:rPr>
              <a:t>is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any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communication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artifact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65" b="1">
                <a:latin typeface="Trebuchet MS"/>
                <a:cs typeface="Trebuchet MS"/>
              </a:rPr>
              <a:t>prepared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to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convey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15" b="1">
                <a:latin typeface="Trebuchet MS"/>
                <a:cs typeface="Trebuchet MS"/>
              </a:rPr>
              <a:t>specific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0000FF"/>
                </a:solidFill>
                <a:latin typeface="Trebuchet MS"/>
                <a:cs typeface="Trebuchet MS"/>
              </a:rPr>
              <a:t>information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 b="1">
                <a:latin typeface="Trebuchet MS"/>
                <a:cs typeface="Trebuchet MS"/>
              </a:rPr>
              <a:t>A</a:t>
            </a:r>
            <a:r>
              <a:rPr dirty="0" sz="1800" spc="-340" b="1"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report </a:t>
            </a:r>
            <a:r>
              <a:rPr dirty="0" sz="1800" spc="-25" b="1">
                <a:latin typeface="Trebuchet MS"/>
                <a:cs typeface="Trebuchet MS"/>
              </a:rPr>
              <a:t>= </a:t>
            </a:r>
            <a:r>
              <a:rPr dirty="0" sz="1800" spc="-45" b="1">
                <a:latin typeface="Trebuchet MS"/>
                <a:cs typeface="Trebuchet MS"/>
              </a:rPr>
              <a:t>information </a:t>
            </a:r>
            <a:r>
              <a:rPr dirty="0" sz="1800" b="1">
                <a:latin typeface="Arial"/>
                <a:cs typeface="Arial"/>
              </a:rPr>
              <a:t>→ </a:t>
            </a:r>
            <a:r>
              <a:rPr dirty="0" sz="1800" spc="-45" b="1">
                <a:latin typeface="Trebuchet MS"/>
                <a:cs typeface="Trebuchet MS"/>
              </a:rPr>
              <a:t>data-driven </a:t>
            </a:r>
            <a:r>
              <a:rPr dirty="0" sz="1800" b="1">
                <a:latin typeface="Trebuchet MS"/>
                <a:cs typeface="Trebuchet MS"/>
              </a:rPr>
              <a:t>decisions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 b="1">
                <a:latin typeface="Trebuchet MS"/>
                <a:cs typeface="Trebuchet MS"/>
              </a:rPr>
              <a:t>A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report </a:t>
            </a:r>
            <a:r>
              <a:rPr dirty="0" sz="1800" spc="-15" b="1">
                <a:latin typeface="Trebuchet MS"/>
                <a:cs typeface="Trebuchet MS"/>
              </a:rPr>
              <a:t>can </a:t>
            </a:r>
            <a:r>
              <a:rPr dirty="0" sz="1800" spc="-50" b="1">
                <a:latin typeface="Trebuchet MS"/>
                <a:cs typeface="Trebuchet MS"/>
              </a:rPr>
              <a:t>fulfill </a:t>
            </a:r>
            <a:r>
              <a:rPr dirty="0" sz="1800" spc="-25" b="1">
                <a:latin typeface="Trebuchet MS"/>
                <a:cs typeface="Trebuchet MS"/>
              </a:rPr>
              <a:t>many</a:t>
            </a:r>
            <a:r>
              <a:rPr dirty="0" sz="1800" spc="-409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functions:</a:t>
            </a:r>
            <a:endParaRPr sz="1800">
              <a:latin typeface="Trebuchet MS"/>
              <a:cs typeface="Trebuchet MS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ensure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proper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departmental</a:t>
            </a:r>
            <a:r>
              <a:rPr dirty="0" sz="1800" spc="-1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functioning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provide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provide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results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2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persuade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others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1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act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create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organizational</a:t>
            </a:r>
            <a:r>
              <a:rPr dirty="0" sz="18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176962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533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266655"/>
            <a:ext cx="7074534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Sharda,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R.,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Delen,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D.,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Turban,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585D60"/>
                </a:solidFill>
                <a:latin typeface="Arial"/>
                <a:cs typeface="Arial"/>
              </a:rPr>
              <a:t>E.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(2013).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Intelligence: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managerial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perspective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analytics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(Chapter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3).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Prentice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Hall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Press.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6438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00">
                <a:solidFill>
                  <a:srgbClr val="C2132D"/>
                </a:solidFill>
              </a:rPr>
              <a:t>What </a:t>
            </a:r>
            <a:r>
              <a:rPr dirty="0" spc="-5">
                <a:solidFill>
                  <a:srgbClr val="C2132D"/>
                </a:solidFill>
              </a:rPr>
              <a:t>is </a:t>
            </a:r>
            <a:r>
              <a:rPr dirty="0" spc="-180">
                <a:solidFill>
                  <a:srgbClr val="C2132D"/>
                </a:solidFill>
              </a:rPr>
              <a:t>a </a:t>
            </a:r>
            <a:r>
              <a:rPr dirty="0" spc="-55">
                <a:solidFill>
                  <a:srgbClr val="C2132D"/>
                </a:solidFill>
              </a:rPr>
              <a:t>Business</a:t>
            </a:r>
            <a:r>
              <a:rPr dirty="0" spc="-715">
                <a:solidFill>
                  <a:srgbClr val="C2132D"/>
                </a:solidFill>
              </a:rPr>
              <a:t> </a:t>
            </a:r>
            <a:r>
              <a:rPr dirty="0" spc="-185">
                <a:solidFill>
                  <a:srgbClr val="C2132D"/>
                </a:solidFill>
              </a:rPr>
              <a:t>Report?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373235" cy="3452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 b="1">
                <a:latin typeface="Trebuchet MS"/>
                <a:cs typeface="Trebuchet MS"/>
              </a:rPr>
              <a:t>A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85" b="1">
                <a:latin typeface="Trebuchet MS"/>
                <a:cs typeface="Trebuchet MS"/>
              </a:rPr>
              <a:t>written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document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that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15" b="1">
                <a:latin typeface="Trebuchet MS"/>
                <a:cs typeface="Trebuchet MS"/>
              </a:rPr>
              <a:t>contains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information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regarding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20" b="1">
                <a:latin typeface="Trebuchet MS"/>
                <a:cs typeface="Trebuchet MS"/>
              </a:rPr>
              <a:t>business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matters.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Purpose: </a:t>
            </a:r>
            <a:r>
              <a:rPr dirty="0" sz="1800" spc="-70" b="1">
                <a:latin typeface="Trebuchet MS"/>
                <a:cs typeface="Trebuchet MS"/>
              </a:rPr>
              <a:t>to </a:t>
            </a:r>
            <a:r>
              <a:rPr dirty="0" sz="1800" spc="-55" b="1">
                <a:latin typeface="Trebuchet MS"/>
                <a:cs typeface="Trebuchet MS"/>
              </a:rPr>
              <a:t>improve </a:t>
            </a:r>
            <a:r>
              <a:rPr dirty="0" sz="1800" spc="-20" b="1">
                <a:latin typeface="Trebuchet MS"/>
                <a:cs typeface="Trebuchet MS"/>
              </a:rPr>
              <a:t>managerial</a:t>
            </a:r>
            <a:r>
              <a:rPr dirty="0" sz="1800" spc="-23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decisions.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data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from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inside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and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outside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80" b="1">
                <a:latin typeface="Trebuchet MS"/>
                <a:cs typeface="Trebuchet MS"/>
              </a:rPr>
              <a:t>the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organization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(via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80" b="1">
                <a:latin typeface="Trebuchet MS"/>
                <a:cs typeface="Trebuchet MS"/>
              </a:rPr>
              <a:t>the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10" b="1">
                <a:latin typeface="Trebuchet MS"/>
                <a:cs typeface="Trebuchet MS"/>
              </a:rPr>
              <a:t>use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15" b="1">
                <a:latin typeface="Trebuchet MS"/>
                <a:cs typeface="Trebuchet MS"/>
              </a:rPr>
              <a:t>of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ETL)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Format: </a:t>
            </a:r>
            <a:r>
              <a:rPr dirty="0" sz="1800" spc="-90" b="1">
                <a:latin typeface="Trebuchet MS"/>
                <a:cs typeface="Trebuchet MS"/>
              </a:rPr>
              <a:t>text </a:t>
            </a:r>
            <a:r>
              <a:rPr dirty="0" sz="1800" spc="-75" b="1">
                <a:latin typeface="Trebuchet MS"/>
                <a:cs typeface="Trebuchet MS"/>
              </a:rPr>
              <a:t>+ </a:t>
            </a:r>
            <a:r>
              <a:rPr dirty="0" sz="1800" spc="-20" b="1">
                <a:latin typeface="Trebuchet MS"/>
                <a:cs typeface="Trebuchet MS"/>
              </a:rPr>
              <a:t>tables </a:t>
            </a:r>
            <a:r>
              <a:rPr dirty="0" sz="1800" spc="-75" b="1">
                <a:latin typeface="Trebuchet MS"/>
                <a:cs typeface="Trebuchet MS"/>
              </a:rPr>
              <a:t>+</a:t>
            </a:r>
            <a:r>
              <a:rPr dirty="0" sz="1800" spc="-229" b="1">
                <a:latin typeface="Trebuchet MS"/>
                <a:cs typeface="Trebuchet MS"/>
              </a:rPr>
              <a:t> </a:t>
            </a:r>
            <a:r>
              <a:rPr dirty="0" sz="1800" spc="-5" b="1">
                <a:latin typeface="Trebuchet MS"/>
                <a:cs typeface="Trebuchet MS"/>
              </a:rPr>
              <a:t>graphs/charts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Distribution: </a:t>
            </a:r>
            <a:r>
              <a:rPr dirty="0" sz="1800" spc="-75" b="1">
                <a:latin typeface="Trebuchet MS"/>
                <a:cs typeface="Trebuchet MS"/>
              </a:rPr>
              <a:t>in-print, </a:t>
            </a:r>
            <a:r>
              <a:rPr dirty="0" sz="1800" spc="-65" b="1">
                <a:latin typeface="Trebuchet MS"/>
                <a:cs typeface="Trebuchet MS"/>
              </a:rPr>
              <a:t>email,</a:t>
            </a:r>
            <a:r>
              <a:rPr dirty="0" sz="1800" spc="-165" b="1">
                <a:latin typeface="Trebuchet MS"/>
                <a:cs typeface="Trebuchet MS"/>
              </a:rPr>
              <a:t> </a:t>
            </a:r>
            <a:r>
              <a:rPr dirty="0" sz="1800" spc="-60" b="1">
                <a:latin typeface="Trebuchet MS"/>
                <a:cs typeface="Trebuchet MS"/>
              </a:rPr>
              <a:t>portal/intranet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40" b="1">
                <a:latin typeface="Trebuchet MS"/>
                <a:cs typeface="Trebuchet MS"/>
              </a:rPr>
              <a:t>The </a:t>
            </a:r>
            <a:r>
              <a:rPr dirty="0" sz="1800" spc="10" b="1">
                <a:latin typeface="Trebuchet MS"/>
                <a:cs typeface="Trebuchet MS"/>
              </a:rPr>
              <a:t>process </a:t>
            </a:r>
            <a:r>
              <a:rPr dirty="0" sz="1800" spc="-15" b="1">
                <a:latin typeface="Trebuchet MS"/>
                <a:cs typeface="Trebuchet MS"/>
              </a:rPr>
              <a:t>of </a:t>
            </a:r>
            <a:r>
              <a:rPr dirty="0" sz="1800" spc="20" b="1">
                <a:latin typeface="Trebuchet MS"/>
                <a:cs typeface="Trebuchet MS"/>
              </a:rPr>
              <a:t>business</a:t>
            </a:r>
            <a:r>
              <a:rPr dirty="0" sz="1800" spc="-340" b="1"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reporting:</a:t>
            </a:r>
            <a:endParaRPr sz="1800">
              <a:latin typeface="Trebuchet MS"/>
              <a:cs typeface="Trebuchet MS"/>
            </a:endParaRPr>
          </a:p>
          <a:p>
            <a:pPr marL="361315">
              <a:lnSpc>
                <a:spcPct val="100000"/>
              </a:lnSpc>
              <a:spcBef>
                <a:spcPts val="1215"/>
              </a:spcBef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acquisition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Arial"/>
                <a:cs typeface="Arial"/>
              </a:rPr>
              <a:t>→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Information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generation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Arial"/>
                <a:cs typeface="Arial"/>
              </a:rPr>
              <a:t>→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Decision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making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Arial"/>
                <a:cs typeface="Arial"/>
              </a:rPr>
              <a:t>→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30" b="1">
                <a:solidFill>
                  <a:srgbClr val="C2132D"/>
                </a:solidFill>
                <a:latin typeface="Trebuchet MS"/>
                <a:cs typeface="Trebuchet MS"/>
              </a:rPr>
              <a:t>Process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management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33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7074534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Sharda,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R.,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Delen,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D.,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Turban,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585D60"/>
                </a:solidFill>
                <a:latin typeface="Arial"/>
                <a:cs typeface="Arial"/>
              </a:rPr>
              <a:t>E.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(2013).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Intelligence: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managerial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perspective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analytics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(Chapter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3).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Prentice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Hall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Press.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5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71131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65">
                <a:solidFill>
                  <a:srgbClr val="C2132D"/>
                </a:solidFill>
              </a:rPr>
              <a:t>The </a:t>
            </a:r>
            <a:r>
              <a:rPr dirty="0" spc="-55">
                <a:solidFill>
                  <a:srgbClr val="C2132D"/>
                </a:solidFill>
              </a:rPr>
              <a:t>Business </a:t>
            </a:r>
            <a:r>
              <a:rPr dirty="0" spc="-225">
                <a:solidFill>
                  <a:srgbClr val="C2132D"/>
                </a:solidFill>
              </a:rPr>
              <a:t>Reporting</a:t>
            </a:r>
            <a:r>
              <a:rPr dirty="0" spc="-570">
                <a:solidFill>
                  <a:srgbClr val="C2132D"/>
                </a:solidFill>
              </a:rPr>
              <a:t> </a:t>
            </a:r>
            <a:r>
              <a:rPr dirty="0" spc="-75">
                <a:solidFill>
                  <a:srgbClr val="C2132D"/>
                </a:solidFill>
              </a:rPr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2124075" y="1533525"/>
            <a:ext cx="7277099" cy="4648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33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7074534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Sharda,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R.,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Delen,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D.,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Turban,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585D60"/>
                </a:solidFill>
                <a:latin typeface="Arial"/>
                <a:cs typeface="Arial"/>
              </a:rPr>
              <a:t>E.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(2013).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Intelligence: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managerial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perspective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analytics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(Chapter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3).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Prentice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Hall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Press.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6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6603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>
                <a:solidFill>
                  <a:srgbClr val="C2132D"/>
                </a:solidFill>
              </a:rPr>
              <a:t>Keys </a:t>
            </a:r>
            <a:r>
              <a:rPr dirty="0" spc="-290">
                <a:solidFill>
                  <a:srgbClr val="C2132D"/>
                </a:solidFill>
              </a:rPr>
              <a:t>to </a:t>
            </a:r>
            <a:r>
              <a:rPr dirty="0" spc="-95">
                <a:solidFill>
                  <a:srgbClr val="C2132D"/>
                </a:solidFill>
              </a:rPr>
              <a:t>Successful</a:t>
            </a:r>
            <a:r>
              <a:rPr dirty="0" spc="-440">
                <a:solidFill>
                  <a:srgbClr val="C2132D"/>
                </a:solidFill>
              </a:rPr>
              <a:t> </a:t>
            </a:r>
            <a:r>
              <a:rPr dirty="0" spc="-190">
                <a:solidFill>
                  <a:srgbClr val="C2132D"/>
                </a:solidFill>
              </a:rPr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266690" cy="333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Clarity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Brevity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Completeness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Correctness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Report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types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terms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content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format)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Informal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single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letter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3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memo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Formal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10-100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pages;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cover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summary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3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Short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report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periodic,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informative,</a:t>
            </a:r>
            <a:r>
              <a:rPr dirty="0" sz="1800" spc="-1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investigative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7048500" cy="0"/>
          </a:xfrm>
          <a:custGeom>
            <a:avLst/>
            <a:gdLst/>
            <a:ahLst/>
            <a:cxnLst/>
            <a:rect l="l" t="t" r="r" b="b"/>
            <a:pathLst>
              <a:path w="7048500" h="0">
                <a:moveTo>
                  <a:pt x="0" y="0"/>
                </a:moveTo>
                <a:lnTo>
                  <a:pt x="7048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33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7074534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Sharda,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R.,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Delen,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D.,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Turban,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585D60"/>
                </a:solidFill>
                <a:latin typeface="Arial"/>
                <a:cs typeface="Arial"/>
              </a:rPr>
              <a:t>E.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(2013).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Intelligence: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managerial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perspective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analytics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(Chapter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3).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Prentice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Hall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Press.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533525"/>
            <a:ext cx="4362450" cy="3686175"/>
          </a:xfrm>
          <a:custGeom>
            <a:avLst/>
            <a:gdLst/>
            <a:ahLst/>
            <a:cxnLst/>
            <a:rect l="l" t="t" r="r" b="b"/>
            <a:pathLst>
              <a:path w="4362450" h="3686175">
                <a:moveTo>
                  <a:pt x="4219574" y="3686174"/>
                </a:moveTo>
                <a:lnTo>
                  <a:pt x="142874" y="3686174"/>
                </a:lnTo>
                <a:lnTo>
                  <a:pt x="135855" y="3686002"/>
                </a:lnTo>
                <a:lnTo>
                  <a:pt x="128870" y="3685487"/>
                </a:lnTo>
                <a:lnTo>
                  <a:pt x="88198" y="3675298"/>
                </a:lnTo>
                <a:lnTo>
                  <a:pt x="52234" y="3653744"/>
                </a:lnTo>
                <a:lnTo>
                  <a:pt x="24078" y="3622677"/>
                </a:lnTo>
                <a:lnTo>
                  <a:pt x="6150" y="3584773"/>
                </a:lnTo>
                <a:lnTo>
                  <a:pt x="0" y="354329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4219574" y="0"/>
                </a:lnTo>
                <a:lnTo>
                  <a:pt x="4261049" y="6150"/>
                </a:lnTo>
                <a:lnTo>
                  <a:pt x="4298951" y="24078"/>
                </a:lnTo>
                <a:lnTo>
                  <a:pt x="4330019" y="52234"/>
                </a:lnTo>
                <a:lnTo>
                  <a:pt x="4351573" y="88199"/>
                </a:lnTo>
                <a:lnTo>
                  <a:pt x="4361763" y="128870"/>
                </a:lnTo>
                <a:lnTo>
                  <a:pt x="4362449" y="142874"/>
                </a:lnTo>
                <a:lnTo>
                  <a:pt x="4362449" y="3543299"/>
                </a:lnTo>
                <a:lnTo>
                  <a:pt x="4356298" y="3584774"/>
                </a:lnTo>
                <a:lnTo>
                  <a:pt x="4338370" y="3622677"/>
                </a:lnTo>
                <a:lnTo>
                  <a:pt x="4310214" y="3653744"/>
                </a:lnTo>
                <a:lnTo>
                  <a:pt x="4274250" y="3675298"/>
                </a:lnTo>
                <a:lnTo>
                  <a:pt x="4233579" y="3685487"/>
                </a:lnTo>
                <a:lnTo>
                  <a:pt x="4226593" y="3686002"/>
                </a:lnTo>
                <a:lnTo>
                  <a:pt x="4219574" y="368617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48904" y="1837055"/>
            <a:ext cx="149479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10" b="1">
                <a:solidFill>
                  <a:srgbClr val="C2132D"/>
                </a:solidFill>
                <a:latin typeface="Trebuchet MS"/>
                <a:cs typeface="Trebuchet MS"/>
              </a:rPr>
              <a:t>Dashboards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9254" y="2395220"/>
            <a:ext cx="3719829" cy="2387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050" marR="104775" indent="-133985">
              <a:lnSpc>
                <a:spcPct val="116300"/>
              </a:lnSpc>
              <a:spcBef>
                <a:spcPts val="13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Dashboards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provide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monitoring 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tools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for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operational</a:t>
            </a:r>
            <a:r>
              <a:rPr dirty="0" sz="1800" spc="-25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performance 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(often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1800" spc="-14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real-time)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46050" marR="5080" indent="-133985">
              <a:lnSpc>
                <a:spcPct val="116900"/>
              </a:lnSpc>
              <a:spcBef>
                <a:spcPts val="92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Dashboards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monitor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performance 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tracking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metrics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(typically</a:t>
            </a:r>
            <a:r>
              <a:rPr dirty="0" sz="1800" spc="-31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over- 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often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without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comparing 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them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target</a:t>
            </a:r>
            <a:r>
              <a:rPr dirty="0" sz="1800" spc="-1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values).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48399" y="1533525"/>
            <a:ext cx="4362450" cy="4448175"/>
          </a:xfrm>
          <a:custGeom>
            <a:avLst/>
            <a:gdLst/>
            <a:ahLst/>
            <a:cxnLst/>
            <a:rect l="l" t="t" r="r" b="b"/>
            <a:pathLst>
              <a:path w="4362450" h="4448175">
                <a:moveTo>
                  <a:pt x="4219574" y="4448174"/>
                </a:moveTo>
                <a:lnTo>
                  <a:pt x="142874" y="4448174"/>
                </a:lnTo>
                <a:lnTo>
                  <a:pt x="135855" y="4448002"/>
                </a:lnTo>
                <a:lnTo>
                  <a:pt x="94748" y="4439825"/>
                </a:lnTo>
                <a:lnTo>
                  <a:pt x="57756" y="4420052"/>
                </a:lnTo>
                <a:lnTo>
                  <a:pt x="28120" y="4390416"/>
                </a:lnTo>
                <a:lnTo>
                  <a:pt x="8347" y="4353424"/>
                </a:lnTo>
                <a:lnTo>
                  <a:pt x="171" y="4312318"/>
                </a:lnTo>
                <a:lnTo>
                  <a:pt x="0" y="4305299"/>
                </a:lnTo>
                <a:lnTo>
                  <a:pt x="0" y="142874"/>
                </a:lnTo>
                <a:lnTo>
                  <a:pt x="6149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69" y="686"/>
                </a:lnTo>
                <a:lnTo>
                  <a:pt x="142874" y="0"/>
                </a:lnTo>
                <a:lnTo>
                  <a:pt x="4219574" y="0"/>
                </a:lnTo>
                <a:lnTo>
                  <a:pt x="4261047" y="6150"/>
                </a:lnTo>
                <a:lnTo>
                  <a:pt x="4298951" y="24078"/>
                </a:lnTo>
                <a:lnTo>
                  <a:pt x="4330019" y="52234"/>
                </a:lnTo>
                <a:lnTo>
                  <a:pt x="4351573" y="88199"/>
                </a:lnTo>
                <a:lnTo>
                  <a:pt x="4361763" y="128870"/>
                </a:lnTo>
                <a:lnTo>
                  <a:pt x="4362449" y="142874"/>
                </a:lnTo>
                <a:lnTo>
                  <a:pt x="4362449" y="4305299"/>
                </a:lnTo>
                <a:lnTo>
                  <a:pt x="4356298" y="4346773"/>
                </a:lnTo>
                <a:lnTo>
                  <a:pt x="4338371" y="4384675"/>
                </a:lnTo>
                <a:lnTo>
                  <a:pt x="4310214" y="4415743"/>
                </a:lnTo>
                <a:lnTo>
                  <a:pt x="4274250" y="4437298"/>
                </a:lnTo>
                <a:lnTo>
                  <a:pt x="4233577" y="4447488"/>
                </a:lnTo>
                <a:lnTo>
                  <a:pt x="4219574" y="444817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18623" y="1837055"/>
            <a:ext cx="142113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229" b="1">
                <a:solidFill>
                  <a:srgbClr val="C2132D"/>
                </a:solidFill>
                <a:latin typeface="Trebuchet MS"/>
                <a:cs typeface="Trebuchet MS"/>
              </a:rPr>
              <a:t>S</a:t>
            </a:r>
            <a:r>
              <a:rPr dirty="0" sz="2150" spc="25" b="1">
                <a:solidFill>
                  <a:srgbClr val="C2132D"/>
                </a:solidFill>
                <a:latin typeface="Trebuchet MS"/>
                <a:cs typeface="Trebuchet MS"/>
              </a:rPr>
              <a:t>c</a:t>
            </a:r>
            <a:r>
              <a:rPr dirty="0" sz="2150" b="1">
                <a:solidFill>
                  <a:srgbClr val="C2132D"/>
                </a:solidFill>
                <a:latin typeface="Trebuchet MS"/>
                <a:cs typeface="Trebuchet MS"/>
              </a:rPr>
              <a:t>o</a:t>
            </a:r>
            <a:r>
              <a:rPr dirty="0" sz="2150" spc="-150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2150" spc="-70" b="1">
                <a:solidFill>
                  <a:srgbClr val="C2132D"/>
                </a:solidFill>
                <a:latin typeface="Trebuchet MS"/>
                <a:cs typeface="Trebuchet MS"/>
              </a:rPr>
              <a:t>e</a:t>
            </a:r>
            <a:r>
              <a:rPr dirty="0" sz="2150" spc="25" b="1">
                <a:solidFill>
                  <a:srgbClr val="C2132D"/>
                </a:solidFill>
                <a:latin typeface="Trebuchet MS"/>
                <a:cs typeface="Trebuchet MS"/>
              </a:rPr>
              <a:t>c</a:t>
            </a:r>
            <a:r>
              <a:rPr dirty="0" sz="2150" spc="1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2150" spc="-150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2150" spc="-35" b="1">
                <a:solidFill>
                  <a:srgbClr val="C2132D"/>
                </a:solidFill>
                <a:latin typeface="Trebuchet MS"/>
                <a:cs typeface="Trebuchet MS"/>
              </a:rPr>
              <a:t>d</a:t>
            </a:r>
            <a:r>
              <a:rPr dirty="0" sz="2150" spc="180" b="1">
                <a:solidFill>
                  <a:srgbClr val="C2132D"/>
                </a:solidFill>
                <a:latin typeface="Trebuchet MS"/>
                <a:cs typeface="Trebuchet MS"/>
              </a:rPr>
              <a:t>s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5200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>
                <a:solidFill>
                  <a:srgbClr val="C2132D"/>
                </a:solidFill>
              </a:rPr>
              <a:t>Dashboards </a:t>
            </a:r>
            <a:r>
              <a:rPr dirty="0" spc="-15">
                <a:solidFill>
                  <a:srgbClr val="C2132D"/>
                </a:solidFill>
              </a:rPr>
              <a:t>vs</a:t>
            </a:r>
            <a:r>
              <a:rPr dirty="0" spc="-465">
                <a:solidFill>
                  <a:srgbClr val="C2132D"/>
                </a:solidFill>
              </a:rPr>
              <a:t> </a:t>
            </a:r>
            <a:r>
              <a:rPr dirty="0" spc="-150">
                <a:solidFill>
                  <a:srgbClr val="C2132D"/>
                </a:solidFill>
              </a:rPr>
              <a:t>Scorecards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72361" y="2395220"/>
            <a:ext cx="3737610" cy="3136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050" marR="5080" indent="-133985">
              <a:lnSpc>
                <a:spcPct val="116300"/>
              </a:lnSpc>
              <a:spcBef>
                <a:spcPts val="13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Scorecards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provide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snapshot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 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current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performance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(as</a:t>
            </a:r>
            <a:r>
              <a:rPr dirty="0" sz="1800" spc="-1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measured  </a:t>
            </a: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using </a:t>
            </a:r>
            <a:r>
              <a:rPr dirty="0" sz="1800" spc="55" b="1">
                <a:solidFill>
                  <a:srgbClr val="C2132D"/>
                </a:solidFill>
                <a:latin typeface="Trebuchet MS"/>
                <a:cs typeface="Trebuchet MS"/>
              </a:rPr>
              <a:t>KPIs)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vs.</a:t>
            </a:r>
            <a:r>
              <a:rPr dirty="0" sz="1800" spc="-3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their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targets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algn="just" marL="146050" marR="910590" indent="-133985">
              <a:lnSpc>
                <a:spcPct val="116300"/>
              </a:lnSpc>
              <a:spcBef>
                <a:spcPts val="94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Current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performance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2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an 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aggregated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measure</a:t>
            </a:r>
            <a:r>
              <a:rPr dirty="0" sz="1800" spc="-1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(e.g., 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day/month),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i.e., </a:t>
            </a:r>
            <a:r>
              <a:rPr dirty="0" sz="1800" spc="170">
                <a:solidFill>
                  <a:srgbClr val="585D60"/>
                </a:solidFill>
                <a:latin typeface="Arial"/>
                <a:cs typeface="Arial"/>
              </a:rPr>
              <a:t>~</a:t>
            </a:r>
            <a:r>
              <a:rPr dirty="0" sz="1800" spc="-1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static</a:t>
            </a:r>
            <a:endParaRPr sz="1800">
              <a:latin typeface="Arial"/>
              <a:cs typeface="Arial"/>
            </a:endParaRPr>
          </a:p>
          <a:p>
            <a:pPr algn="just" marL="146050" marR="833119" indent="-133985">
              <a:lnSpc>
                <a:spcPct val="114599"/>
              </a:lnSpc>
              <a:spcBef>
                <a:spcPts val="97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Goal: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better</a:t>
            </a:r>
            <a:r>
              <a:rPr dirty="0" sz="1800" spc="-2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strategic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decisions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based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1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590"/>
              </a:spcBef>
            </a:pPr>
            <a:r>
              <a:rPr dirty="0" sz="1600" spc="85" i="1">
                <a:solidFill>
                  <a:srgbClr val="585D60"/>
                </a:solidFill>
                <a:latin typeface="Trebuchet MS"/>
                <a:cs typeface="Trebuchet MS"/>
              </a:rPr>
              <a:t>distance</a:t>
            </a:r>
            <a:r>
              <a:rPr dirty="0" sz="1600" spc="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950" spc="6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950" spc="1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40" i="1">
                <a:solidFill>
                  <a:srgbClr val="585D60"/>
                </a:solidFill>
                <a:latin typeface="Trebuchet MS"/>
                <a:cs typeface="Trebuchet MS"/>
              </a:rPr>
              <a:t>target</a:t>
            </a:r>
            <a:r>
              <a:rPr dirty="0" sz="1600" spc="-9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950" spc="6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950" spc="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10" i="1">
                <a:solidFill>
                  <a:srgbClr val="585D60"/>
                </a:solidFill>
                <a:latin typeface="Trebuchet MS"/>
                <a:cs typeface="Trebuchet MS"/>
              </a:rPr>
              <a:t>performance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6176962"/>
            <a:ext cx="7981950" cy="0"/>
          </a:xfrm>
          <a:custGeom>
            <a:avLst/>
            <a:gdLst/>
            <a:ahLst/>
            <a:cxnLst/>
            <a:rect l="l" t="t" r="r" b="b"/>
            <a:pathLst>
              <a:path w="7981950" h="0">
                <a:moveTo>
                  <a:pt x="0" y="0"/>
                </a:moveTo>
                <a:lnTo>
                  <a:pt x="79819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86487"/>
            <a:ext cx="7981950" cy="0"/>
          </a:xfrm>
          <a:custGeom>
            <a:avLst/>
            <a:gdLst/>
            <a:ahLst/>
            <a:cxnLst/>
            <a:rect l="l" t="t" r="r" b="b"/>
            <a:pathLst>
              <a:path w="7981950" h="0">
                <a:moveTo>
                  <a:pt x="0" y="0"/>
                </a:moveTo>
                <a:lnTo>
                  <a:pt x="79819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8682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01700" y="6266655"/>
            <a:ext cx="800925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Scorecard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vs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Dashboard </a:t>
            </a:r>
            <a:r>
              <a:rPr dirty="0" sz="850" spc="105">
                <a:solidFill>
                  <a:srgbClr val="585D60"/>
                </a:solidFill>
                <a:latin typeface="Arial"/>
                <a:cs typeface="Arial"/>
              </a:rPr>
              <a:t>–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What 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Each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Adds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Business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Intelligence</a:t>
            </a:r>
            <a:r>
              <a:rPr dirty="0" sz="850" spc="-1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https://www.sisense.com/blog/scorecard-vs-dashboard-adds-business-intelligence/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8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2735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5">
                <a:solidFill>
                  <a:srgbClr val="C2132D"/>
                </a:solidFill>
              </a:rPr>
              <a:t>Out-of-Class: </a:t>
            </a:r>
            <a:r>
              <a:rPr dirty="0" spc="-135">
                <a:solidFill>
                  <a:srgbClr val="C2132D"/>
                </a:solidFill>
              </a:rPr>
              <a:t>Make </a:t>
            </a:r>
            <a:r>
              <a:rPr dirty="0" spc="-165">
                <a:solidFill>
                  <a:srgbClr val="C2132D"/>
                </a:solidFill>
              </a:rPr>
              <a:t>this </a:t>
            </a:r>
            <a:r>
              <a:rPr dirty="0" spc="-235">
                <a:solidFill>
                  <a:srgbClr val="C2132D"/>
                </a:solidFill>
              </a:rPr>
              <a:t>Power </a:t>
            </a:r>
            <a:r>
              <a:rPr dirty="0" spc="-90">
                <a:solidFill>
                  <a:srgbClr val="C2132D"/>
                </a:solidFill>
              </a:rPr>
              <a:t>BI</a:t>
            </a:r>
            <a:r>
              <a:rPr dirty="0" spc="-720">
                <a:solidFill>
                  <a:srgbClr val="C2132D"/>
                </a:solidFill>
              </a:rPr>
              <a:t> </a:t>
            </a:r>
            <a:r>
              <a:rPr dirty="0" spc="-195">
                <a:solidFill>
                  <a:srgbClr val="C2132D"/>
                </a:solidFill>
              </a:rPr>
              <a:t>Scoreboard</a:t>
            </a:r>
          </a:p>
        </p:txBody>
      </p:sp>
      <p:sp>
        <p:nvSpPr>
          <p:cNvPr id="3" name="object 3"/>
          <p:cNvSpPr/>
          <p:nvPr/>
        </p:nvSpPr>
        <p:spPr>
          <a:xfrm>
            <a:off x="5050535" y="3409950"/>
            <a:ext cx="338327" cy="244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61632" y="3412602"/>
            <a:ext cx="296423" cy="3952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4662" y="3454400"/>
            <a:ext cx="9874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0">
                <a:solidFill>
                  <a:srgbClr val="666666"/>
                </a:solidFill>
                <a:latin typeface="Segoe UI Light"/>
                <a:cs typeface="Segoe UI Light"/>
              </a:rPr>
              <a:t>Power</a:t>
            </a:r>
            <a:r>
              <a:rPr dirty="0" sz="2100" spc="-85" b="0">
                <a:solidFill>
                  <a:srgbClr val="666666"/>
                </a:solidFill>
                <a:latin typeface="Segoe UI Light"/>
                <a:cs typeface="Segoe UI Light"/>
              </a:rPr>
              <a:t> </a:t>
            </a:r>
            <a:r>
              <a:rPr dirty="0" sz="2100" b="0">
                <a:solidFill>
                  <a:srgbClr val="666666"/>
                </a:solidFill>
                <a:latin typeface="Segoe UI Light"/>
                <a:cs typeface="Segoe UI Light"/>
              </a:rPr>
              <a:t>BI</a:t>
            </a:r>
            <a:endParaRPr sz="2100">
              <a:latin typeface="Segoe UI Light"/>
              <a:cs typeface="Segoe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95911" y="4510087"/>
            <a:ext cx="733425" cy="295275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0" y="280987"/>
                </a:moveTo>
                <a:lnTo>
                  <a:pt x="0" y="14287"/>
                </a:lnTo>
                <a:lnTo>
                  <a:pt x="0" y="12392"/>
                </a:lnTo>
                <a:lnTo>
                  <a:pt x="362" y="10570"/>
                </a:lnTo>
                <a:lnTo>
                  <a:pt x="1087" y="8819"/>
                </a:lnTo>
                <a:lnTo>
                  <a:pt x="1812" y="7069"/>
                </a:lnTo>
                <a:lnTo>
                  <a:pt x="2844" y="5524"/>
                </a:lnTo>
                <a:lnTo>
                  <a:pt x="4184" y="4184"/>
                </a:lnTo>
                <a:lnTo>
                  <a:pt x="5524" y="2844"/>
                </a:lnTo>
                <a:lnTo>
                  <a:pt x="7069" y="1812"/>
                </a:lnTo>
                <a:lnTo>
                  <a:pt x="8819" y="1087"/>
                </a:lnTo>
                <a:lnTo>
                  <a:pt x="10569" y="362"/>
                </a:lnTo>
                <a:lnTo>
                  <a:pt x="12392" y="0"/>
                </a:lnTo>
                <a:lnTo>
                  <a:pt x="14287" y="0"/>
                </a:lnTo>
                <a:lnTo>
                  <a:pt x="719137" y="0"/>
                </a:lnTo>
                <a:lnTo>
                  <a:pt x="721031" y="0"/>
                </a:lnTo>
                <a:lnTo>
                  <a:pt x="722853" y="362"/>
                </a:lnTo>
                <a:lnTo>
                  <a:pt x="732336" y="8819"/>
                </a:lnTo>
                <a:lnTo>
                  <a:pt x="733062" y="10570"/>
                </a:lnTo>
                <a:lnTo>
                  <a:pt x="733425" y="12392"/>
                </a:lnTo>
                <a:lnTo>
                  <a:pt x="733425" y="14287"/>
                </a:lnTo>
                <a:lnTo>
                  <a:pt x="733425" y="280987"/>
                </a:lnTo>
                <a:lnTo>
                  <a:pt x="733425" y="282881"/>
                </a:lnTo>
                <a:lnTo>
                  <a:pt x="733062" y="284704"/>
                </a:lnTo>
                <a:lnTo>
                  <a:pt x="724604" y="294186"/>
                </a:lnTo>
                <a:lnTo>
                  <a:pt x="722854" y="294912"/>
                </a:lnTo>
                <a:lnTo>
                  <a:pt x="721031" y="295274"/>
                </a:lnTo>
                <a:lnTo>
                  <a:pt x="719137" y="295274"/>
                </a:lnTo>
                <a:lnTo>
                  <a:pt x="14287" y="295274"/>
                </a:lnTo>
                <a:lnTo>
                  <a:pt x="1087" y="286454"/>
                </a:lnTo>
                <a:lnTo>
                  <a:pt x="362" y="284704"/>
                </a:lnTo>
                <a:lnTo>
                  <a:pt x="0" y="282881"/>
                </a:lnTo>
                <a:lnTo>
                  <a:pt x="0" y="280987"/>
                </a:lnTo>
                <a:close/>
              </a:path>
            </a:pathLst>
          </a:custGeom>
          <a:ln w="9524">
            <a:solidFill>
              <a:srgbClr val="F1C7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39258" y="4025900"/>
            <a:ext cx="1646555" cy="728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0">
                <a:solidFill>
                  <a:srgbClr val="666666"/>
                </a:solidFill>
                <a:latin typeface="Segoe UI Light"/>
                <a:cs typeface="Segoe UI Light"/>
              </a:rPr>
              <a:t>Sign in to view this</a:t>
            </a:r>
            <a:r>
              <a:rPr dirty="0" sz="1200" spc="-75" b="0">
                <a:solidFill>
                  <a:srgbClr val="666666"/>
                </a:solidFill>
                <a:latin typeface="Segoe UI Light"/>
                <a:cs typeface="Segoe UI Light"/>
              </a:rPr>
              <a:t> </a:t>
            </a:r>
            <a:r>
              <a:rPr dirty="0" sz="1200" b="0">
                <a:solidFill>
                  <a:srgbClr val="666666"/>
                </a:solidFill>
                <a:latin typeface="Segoe UI Light"/>
                <a:cs typeface="Segoe UI Light"/>
              </a:rPr>
              <a:t>report</a:t>
            </a:r>
            <a:endParaRPr sz="1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</a:pPr>
            <a:r>
              <a:rPr dirty="0" sz="1050" b="1">
                <a:solidFill>
                  <a:srgbClr val="252423"/>
                </a:solidFill>
                <a:latin typeface="Segoe UI Semibold"/>
                <a:cs typeface="Segoe UI Semibold"/>
              </a:rPr>
              <a:t>Sign</a:t>
            </a:r>
            <a:r>
              <a:rPr dirty="0" sz="1050" spc="-10" b="1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dirty="0" sz="1050" b="1">
                <a:solidFill>
                  <a:srgbClr val="252423"/>
                </a:solidFill>
                <a:latin typeface="Segoe UI Semibold"/>
                <a:cs typeface="Segoe UI Semibold"/>
              </a:rPr>
              <a:t>in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9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3976" y="2752344"/>
            <a:ext cx="7327900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150"/>
              </a:spcBef>
            </a:pPr>
            <a:r>
              <a:rPr dirty="0" spc="-1275">
                <a:solidFill>
                  <a:srgbClr val="000000"/>
                </a:solidFill>
              </a:rPr>
              <a:t>T</a:t>
            </a:r>
            <a:r>
              <a:rPr dirty="0" spc="-1275"/>
              <a:t>T</a:t>
            </a:r>
            <a:r>
              <a:rPr dirty="0" spc="-1275">
                <a:solidFill>
                  <a:srgbClr val="000000"/>
                </a:solidFill>
              </a:rPr>
              <a:t>h</a:t>
            </a:r>
            <a:r>
              <a:rPr dirty="0" spc="-1275"/>
              <a:t>h</a:t>
            </a:r>
            <a:r>
              <a:rPr dirty="0" spc="-1275">
                <a:solidFill>
                  <a:srgbClr val="000000"/>
                </a:solidFill>
              </a:rPr>
              <a:t>e</a:t>
            </a:r>
            <a:r>
              <a:rPr dirty="0" spc="-1275"/>
              <a:t>e</a:t>
            </a:r>
            <a:r>
              <a:rPr dirty="0" spc="-275"/>
              <a:t> </a:t>
            </a:r>
            <a:r>
              <a:rPr dirty="0" spc="-1165">
                <a:solidFill>
                  <a:srgbClr val="000000"/>
                </a:solidFill>
              </a:rPr>
              <a:t>I</a:t>
            </a:r>
            <a:r>
              <a:rPr dirty="0" spc="-1165"/>
              <a:t>I</a:t>
            </a:r>
            <a:r>
              <a:rPr dirty="0" spc="-1165">
                <a:solidFill>
                  <a:srgbClr val="000000"/>
                </a:solidFill>
              </a:rPr>
              <a:t>m</a:t>
            </a:r>
            <a:r>
              <a:rPr dirty="0" spc="-1165"/>
              <a:t>m</a:t>
            </a:r>
            <a:r>
              <a:rPr dirty="0" spc="-1165">
                <a:solidFill>
                  <a:srgbClr val="000000"/>
                </a:solidFill>
              </a:rPr>
              <a:t>p</a:t>
            </a:r>
            <a:r>
              <a:rPr dirty="0" spc="-1165"/>
              <a:t>p</a:t>
            </a:r>
            <a:r>
              <a:rPr dirty="0" spc="-1165">
                <a:solidFill>
                  <a:srgbClr val="000000"/>
                </a:solidFill>
              </a:rPr>
              <a:t>o</a:t>
            </a:r>
            <a:r>
              <a:rPr dirty="0" spc="-1165"/>
              <a:t>o</a:t>
            </a:r>
            <a:r>
              <a:rPr dirty="0" spc="-1165">
                <a:solidFill>
                  <a:srgbClr val="000000"/>
                </a:solidFill>
              </a:rPr>
              <a:t>r</a:t>
            </a:r>
            <a:r>
              <a:rPr dirty="0" spc="-1165"/>
              <a:t>r</a:t>
            </a:r>
            <a:r>
              <a:rPr dirty="0" spc="-1165">
                <a:solidFill>
                  <a:srgbClr val="000000"/>
                </a:solidFill>
              </a:rPr>
              <a:t>t</a:t>
            </a:r>
            <a:r>
              <a:rPr dirty="0" spc="-1165"/>
              <a:t>t</a:t>
            </a:r>
            <a:r>
              <a:rPr dirty="0" spc="-1165">
                <a:solidFill>
                  <a:srgbClr val="000000"/>
                </a:solidFill>
              </a:rPr>
              <a:t>a</a:t>
            </a:r>
            <a:r>
              <a:rPr dirty="0" spc="-1165"/>
              <a:t>a</a:t>
            </a:r>
            <a:r>
              <a:rPr dirty="0" spc="-1165">
                <a:solidFill>
                  <a:srgbClr val="000000"/>
                </a:solidFill>
              </a:rPr>
              <a:t>n</a:t>
            </a:r>
            <a:r>
              <a:rPr dirty="0" spc="-1165"/>
              <a:t>n</a:t>
            </a:r>
            <a:r>
              <a:rPr dirty="0" spc="-1165">
                <a:solidFill>
                  <a:srgbClr val="000000"/>
                </a:solidFill>
              </a:rPr>
              <a:t>c</a:t>
            </a:r>
            <a:r>
              <a:rPr dirty="0" spc="-1165"/>
              <a:t>c</a:t>
            </a:r>
            <a:r>
              <a:rPr dirty="0" spc="-1165">
                <a:solidFill>
                  <a:srgbClr val="000000"/>
                </a:solidFill>
              </a:rPr>
              <a:t>e</a:t>
            </a:r>
            <a:r>
              <a:rPr dirty="0" spc="-1165"/>
              <a:t>e </a:t>
            </a:r>
            <a:r>
              <a:rPr dirty="0" spc="-1019">
                <a:solidFill>
                  <a:srgbClr val="000000"/>
                </a:solidFill>
              </a:rPr>
              <a:t>o</a:t>
            </a:r>
            <a:r>
              <a:rPr dirty="0" spc="-1019"/>
              <a:t>o</a:t>
            </a:r>
            <a:r>
              <a:rPr dirty="0" spc="-1019">
                <a:solidFill>
                  <a:srgbClr val="000000"/>
                </a:solidFill>
              </a:rPr>
              <a:t>f</a:t>
            </a:r>
            <a:r>
              <a:rPr dirty="0" spc="-1019"/>
              <a:t>f </a:t>
            </a:r>
            <a:r>
              <a:rPr dirty="0" spc="-1180">
                <a:solidFill>
                  <a:srgbClr val="000000"/>
                </a:solidFill>
              </a:rPr>
              <a:t>t</a:t>
            </a:r>
            <a:r>
              <a:rPr dirty="0" spc="-1180"/>
              <a:t>t</a:t>
            </a:r>
            <a:r>
              <a:rPr dirty="0" spc="-1180">
                <a:solidFill>
                  <a:srgbClr val="000000"/>
                </a:solidFill>
              </a:rPr>
              <a:t>h</a:t>
            </a:r>
            <a:r>
              <a:rPr dirty="0" spc="-1180"/>
              <a:t>h</a:t>
            </a:r>
            <a:r>
              <a:rPr dirty="0" spc="-1180">
                <a:solidFill>
                  <a:srgbClr val="000000"/>
                </a:solidFill>
              </a:rPr>
              <a:t>e</a:t>
            </a:r>
            <a:r>
              <a:rPr dirty="0" spc="-1180"/>
              <a:t>e </a:t>
            </a:r>
            <a:r>
              <a:rPr dirty="0" spc="-1060">
                <a:solidFill>
                  <a:srgbClr val="000000"/>
                </a:solidFill>
              </a:rPr>
              <a:t>R</a:t>
            </a:r>
            <a:r>
              <a:rPr dirty="0" spc="-1060"/>
              <a:t>R</a:t>
            </a:r>
            <a:r>
              <a:rPr dirty="0" spc="-1060">
                <a:solidFill>
                  <a:srgbClr val="000000"/>
                </a:solidFill>
              </a:rPr>
              <a:t>i</a:t>
            </a:r>
            <a:r>
              <a:rPr dirty="0" spc="-1060"/>
              <a:t>i</a:t>
            </a:r>
            <a:r>
              <a:rPr dirty="0" spc="-1060">
                <a:solidFill>
                  <a:srgbClr val="000000"/>
                </a:solidFill>
              </a:rPr>
              <a:t>g</a:t>
            </a:r>
            <a:r>
              <a:rPr dirty="0" spc="-1060"/>
              <a:t>g</a:t>
            </a:r>
            <a:r>
              <a:rPr dirty="0" spc="-1060">
                <a:solidFill>
                  <a:srgbClr val="000000"/>
                </a:solidFill>
              </a:rPr>
              <a:t>h</a:t>
            </a:r>
            <a:r>
              <a:rPr dirty="0" spc="-1060"/>
              <a:t>h</a:t>
            </a:r>
            <a:r>
              <a:rPr dirty="0" spc="-1060">
                <a:solidFill>
                  <a:srgbClr val="000000"/>
                </a:solidFill>
              </a:rPr>
              <a:t>t</a:t>
            </a:r>
            <a:r>
              <a:rPr dirty="0" spc="-1060"/>
              <a:t>t</a:t>
            </a:r>
            <a:r>
              <a:rPr dirty="0" spc="-960"/>
              <a:t> </a:t>
            </a:r>
            <a:r>
              <a:rPr dirty="0" spc="-935">
                <a:solidFill>
                  <a:srgbClr val="000000"/>
                </a:solidFill>
              </a:rPr>
              <a:t>K</a:t>
            </a:r>
            <a:r>
              <a:rPr dirty="0" spc="-935"/>
              <a:t>K</a:t>
            </a:r>
            <a:r>
              <a:rPr dirty="0" spc="-935">
                <a:solidFill>
                  <a:srgbClr val="000000"/>
                </a:solidFill>
              </a:rPr>
              <a:t>P</a:t>
            </a:r>
            <a:r>
              <a:rPr dirty="0" spc="-935"/>
              <a:t>P</a:t>
            </a:r>
            <a:r>
              <a:rPr dirty="0" spc="-935">
                <a:solidFill>
                  <a:srgbClr val="000000"/>
                </a:solidFill>
              </a:rPr>
              <a:t>I</a:t>
            </a:r>
            <a:r>
              <a:rPr dirty="0" spc="-935"/>
              <a:t>I</a:t>
            </a:r>
            <a:r>
              <a:rPr dirty="0" spc="-935">
                <a:solidFill>
                  <a:srgbClr val="000000"/>
                </a:solidFill>
              </a:rPr>
              <a:t>s</a:t>
            </a:r>
            <a:r>
              <a:rPr dirty="0" spc="-935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793940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40">
                <a:solidFill>
                  <a:srgbClr val="C2132D"/>
                </a:solidFill>
                <a:latin typeface="Trebuchet MS"/>
                <a:cs typeface="Trebuchet MS"/>
              </a:rPr>
              <a:t>0.15pt </a:t>
            </a:r>
            <a:r>
              <a:rPr dirty="0" sz="4100" spc="-95">
                <a:solidFill>
                  <a:srgbClr val="C2132D"/>
                </a:solidFill>
                <a:latin typeface="Trebuchet MS"/>
                <a:cs typeface="Trebuchet MS"/>
              </a:rPr>
              <a:t>Bonus </a:t>
            </a:r>
            <a:r>
              <a:rPr dirty="0" sz="4100" spc="-280">
                <a:solidFill>
                  <a:srgbClr val="C2132D"/>
                </a:solidFill>
                <a:latin typeface="Trebuchet MS"/>
                <a:cs typeface="Trebuchet MS"/>
              </a:rPr>
              <a:t>Activity: </a:t>
            </a:r>
            <a:r>
              <a:rPr dirty="0" sz="4100" spc="-220">
                <a:solidFill>
                  <a:srgbClr val="C2132D"/>
                </a:solidFill>
                <a:latin typeface="Trebuchet MS"/>
                <a:cs typeface="Trebuchet MS"/>
              </a:rPr>
              <a:t>Paper</a:t>
            </a:r>
            <a:r>
              <a:rPr dirty="0" sz="4100" spc="-58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80">
                <a:solidFill>
                  <a:srgbClr val="C2132D"/>
                </a:solidFill>
                <a:latin typeface="Trebuchet MS"/>
                <a:cs typeface="Trebuchet MS"/>
              </a:rPr>
              <a:t>Airplanes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19212" y="2466975"/>
            <a:ext cx="0" cy="638175"/>
          </a:xfrm>
          <a:custGeom>
            <a:avLst/>
            <a:gdLst/>
            <a:ahLst/>
            <a:cxnLst/>
            <a:rect l="l" t="t" r="r" b="b"/>
            <a:pathLst>
              <a:path w="0" h="638175">
                <a:moveTo>
                  <a:pt x="0" y="0"/>
                </a:moveTo>
                <a:lnTo>
                  <a:pt x="0" y="638174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43024" y="2466975"/>
            <a:ext cx="8886825" cy="638175"/>
          </a:xfrm>
          <a:prstGeom prst="rect">
            <a:avLst/>
          </a:prstGeom>
          <a:solidFill>
            <a:srgbClr val="F9F9F9"/>
          </a:solidFill>
        </p:spPr>
        <p:txBody>
          <a:bodyPr wrap="square" lIns="0" tIns="952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75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Over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next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15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minutes,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please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design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best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paper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plane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that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can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consistently</a:t>
            </a:r>
            <a:endParaRPr sz="1800">
              <a:latin typeface="Trebuchet MS"/>
              <a:cs typeface="Trebuchet MS"/>
            </a:endParaRPr>
          </a:p>
          <a:p>
            <a:pPr marL="227965">
              <a:lnSpc>
                <a:spcPct val="100000"/>
              </a:lnSpc>
              <a:spcBef>
                <a:spcPts val="315"/>
              </a:spcBef>
            </a:pP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hit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target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whiteboard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(from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distance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6ft)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330575"/>
            <a:ext cx="966851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Games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Rules: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allowed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any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material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was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brought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class.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Work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group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best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design.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look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designs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online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design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own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--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design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restrictions.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testing,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sure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there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people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launching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point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target.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demo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proceed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teams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want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“show-off”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their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talents.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8754" y="6045199"/>
            <a:ext cx="7339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Winning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team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5" b="1">
                <a:solidFill>
                  <a:srgbClr val="C2132D"/>
                </a:solidFill>
                <a:latin typeface="Trebuchet MS"/>
                <a:cs typeface="Trebuchet MS"/>
              </a:rPr>
              <a:t>gets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0.15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point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(out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25)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added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their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Exam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5" b="1">
                <a:solidFill>
                  <a:srgbClr val="C2132D"/>
                </a:solidFill>
                <a:latin typeface="Trebuchet MS"/>
                <a:cs typeface="Trebuchet MS"/>
              </a:rPr>
              <a:t>II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Grade.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11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1657350"/>
            <a:ext cx="2419350" cy="0"/>
          </a:xfrm>
          <a:custGeom>
            <a:avLst/>
            <a:gdLst/>
            <a:ahLst/>
            <a:cxnLst/>
            <a:rect l="l" t="t" r="r" b="b"/>
            <a:pathLst>
              <a:path w="2419350" h="0">
                <a:moveTo>
                  <a:pt x="0" y="0"/>
                </a:moveTo>
                <a:lnTo>
                  <a:pt x="24193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2228850"/>
            <a:ext cx="2419350" cy="0"/>
          </a:xfrm>
          <a:custGeom>
            <a:avLst/>
            <a:gdLst/>
            <a:ahLst/>
            <a:cxnLst/>
            <a:rect l="l" t="t" r="r" b="b"/>
            <a:pathLst>
              <a:path w="2419350" h="0">
                <a:moveTo>
                  <a:pt x="0" y="0"/>
                </a:moveTo>
                <a:lnTo>
                  <a:pt x="24193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0300" y="1778000"/>
            <a:ext cx="5306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205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  <a:hlinkClick r:id="rId2"/>
              </a:rPr>
              <a:t>Activity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  <a:hlinkClick r:id="rId2"/>
              </a:rPr>
              <a:t>Description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  <a:hlinkClick r:id="rId3"/>
              </a:rPr>
              <a:t>Identify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  <a:hlinkClick r:id="rId3"/>
              </a:rPr>
              <a:t>KPIs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  <a:hlinkClick r:id="rId3"/>
              </a:rPr>
              <a:t>for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  <a:hlinkClick r:id="rId3"/>
              </a:rPr>
              <a:t>this</a:t>
            </a:r>
            <a:r>
              <a:rPr dirty="0" sz="1800" spc="-270">
                <a:solidFill>
                  <a:srgbClr val="585D60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  <a:hlinkClick r:id="rId3"/>
              </a:rPr>
              <a:t>Activity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694912" y="320675"/>
            <a:ext cx="1397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C2132D"/>
                </a:solidFill>
                <a:latin typeface="Courier New"/>
                <a:cs typeface="Courier New"/>
              </a:rPr>
              <a:t>15:00</a:t>
            </a:r>
            <a:endParaRPr sz="3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1448" y="2773680"/>
            <a:ext cx="6626859" cy="1024255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985"/>
              </a:spcBef>
            </a:pPr>
            <a:r>
              <a:rPr dirty="0" spc="-1175">
                <a:solidFill>
                  <a:srgbClr val="000000"/>
                </a:solidFill>
              </a:rPr>
              <a:t>A</a:t>
            </a:r>
            <a:r>
              <a:rPr dirty="0" spc="-1175"/>
              <a:t>A</a:t>
            </a:r>
            <a:r>
              <a:rPr dirty="0" spc="-1175">
                <a:solidFill>
                  <a:srgbClr val="000000"/>
                </a:solidFill>
              </a:rPr>
              <a:t>u</a:t>
            </a:r>
            <a:r>
              <a:rPr dirty="0" spc="-1175"/>
              <a:t>u</a:t>
            </a:r>
            <a:r>
              <a:rPr dirty="0" spc="-1175">
                <a:solidFill>
                  <a:srgbClr val="000000"/>
                </a:solidFill>
              </a:rPr>
              <a:t>t</a:t>
            </a:r>
            <a:r>
              <a:rPr dirty="0" spc="-1175"/>
              <a:t>t</a:t>
            </a:r>
            <a:r>
              <a:rPr dirty="0" spc="-1175">
                <a:solidFill>
                  <a:srgbClr val="000000"/>
                </a:solidFill>
              </a:rPr>
              <a:t>o</a:t>
            </a:r>
            <a:r>
              <a:rPr dirty="0" spc="-1175"/>
              <a:t>o</a:t>
            </a:r>
            <a:r>
              <a:rPr dirty="0" spc="-1175">
                <a:solidFill>
                  <a:srgbClr val="000000"/>
                </a:solidFill>
              </a:rPr>
              <a:t>m</a:t>
            </a:r>
            <a:r>
              <a:rPr dirty="0" spc="-1175"/>
              <a:t>m</a:t>
            </a:r>
            <a:r>
              <a:rPr dirty="0" spc="-1175">
                <a:solidFill>
                  <a:srgbClr val="000000"/>
                </a:solidFill>
              </a:rPr>
              <a:t>a</a:t>
            </a:r>
            <a:r>
              <a:rPr dirty="0" spc="-1175"/>
              <a:t>a</a:t>
            </a:r>
            <a:r>
              <a:rPr dirty="0" spc="-1175">
                <a:solidFill>
                  <a:srgbClr val="000000"/>
                </a:solidFill>
              </a:rPr>
              <a:t>t</a:t>
            </a:r>
            <a:r>
              <a:rPr dirty="0" spc="-1175"/>
              <a:t>t</a:t>
            </a:r>
            <a:r>
              <a:rPr dirty="0" spc="-1175">
                <a:solidFill>
                  <a:srgbClr val="000000"/>
                </a:solidFill>
              </a:rPr>
              <a:t>i</a:t>
            </a:r>
            <a:r>
              <a:rPr dirty="0" spc="-1175"/>
              <a:t>i</a:t>
            </a:r>
            <a:r>
              <a:rPr dirty="0" spc="-1175">
                <a:solidFill>
                  <a:srgbClr val="000000"/>
                </a:solidFill>
              </a:rPr>
              <a:t>n</a:t>
            </a:r>
            <a:r>
              <a:rPr dirty="0" spc="-1175"/>
              <a:t>n</a:t>
            </a:r>
            <a:r>
              <a:rPr dirty="0" spc="-1175">
                <a:solidFill>
                  <a:srgbClr val="000000"/>
                </a:solidFill>
              </a:rPr>
              <a:t>g</a:t>
            </a:r>
            <a:r>
              <a:rPr dirty="0" spc="-1175"/>
              <a:t>g </a:t>
            </a:r>
            <a:r>
              <a:rPr dirty="0" spc="-980">
                <a:solidFill>
                  <a:srgbClr val="000000"/>
                </a:solidFill>
              </a:rPr>
              <a:t>B</a:t>
            </a:r>
            <a:r>
              <a:rPr dirty="0" spc="-980"/>
              <a:t>B</a:t>
            </a:r>
            <a:r>
              <a:rPr dirty="0" spc="-980">
                <a:solidFill>
                  <a:srgbClr val="000000"/>
                </a:solidFill>
              </a:rPr>
              <a:t>u</a:t>
            </a:r>
            <a:r>
              <a:rPr dirty="0" spc="-980"/>
              <a:t>u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</a:t>
            </a:r>
            <a:r>
              <a:rPr dirty="0" spc="-980">
                <a:solidFill>
                  <a:srgbClr val="000000"/>
                </a:solidFill>
              </a:rPr>
              <a:t>i</a:t>
            </a:r>
            <a:r>
              <a:rPr dirty="0" spc="-980"/>
              <a:t>i</a:t>
            </a:r>
            <a:r>
              <a:rPr dirty="0" spc="-980">
                <a:solidFill>
                  <a:srgbClr val="000000"/>
                </a:solidFill>
              </a:rPr>
              <a:t>n</a:t>
            </a:r>
            <a:r>
              <a:rPr dirty="0" spc="-980"/>
              <a:t>n</a:t>
            </a:r>
            <a:r>
              <a:rPr dirty="0" spc="-980">
                <a:solidFill>
                  <a:srgbClr val="000000"/>
                </a:solidFill>
              </a:rPr>
              <a:t>e</a:t>
            </a:r>
            <a:r>
              <a:rPr dirty="0" spc="-980"/>
              <a:t>e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</a:t>
            </a:r>
            <a:r>
              <a:rPr dirty="0" spc="-980">
                <a:solidFill>
                  <a:srgbClr val="000000"/>
                </a:solidFill>
              </a:rPr>
              <a:t>s</a:t>
            </a:r>
            <a:r>
              <a:rPr dirty="0" spc="-980"/>
              <a:t>s</a:t>
            </a:r>
            <a:r>
              <a:rPr dirty="0" spc="-755"/>
              <a:t> 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p</a:t>
            </a:r>
            <a:r>
              <a:rPr dirty="0" spc="-1095"/>
              <a:t>p</a:t>
            </a:r>
            <a:r>
              <a:rPr dirty="0" spc="-1095">
                <a:solidFill>
                  <a:srgbClr val="000000"/>
                </a:solidFill>
              </a:rPr>
              <a:t>o</a:t>
            </a:r>
            <a:r>
              <a:rPr dirty="0" spc="-1095"/>
              <a:t>o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t</a:t>
            </a:r>
            <a:r>
              <a:rPr dirty="0" spc="-1095"/>
              <a:t>t</a:t>
            </a:r>
            <a:r>
              <a:rPr dirty="0" spc="-1095">
                <a:solidFill>
                  <a:srgbClr val="000000"/>
                </a:solidFill>
              </a:rPr>
              <a:t>s</a:t>
            </a:r>
            <a:r>
              <a:rPr dirty="0" spc="-1095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5482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9">
                <a:solidFill>
                  <a:srgbClr val="C2132D"/>
                </a:solidFill>
              </a:rPr>
              <a:t>Automating </a:t>
            </a:r>
            <a:r>
              <a:rPr dirty="0" spc="-135">
                <a:solidFill>
                  <a:srgbClr val="C2132D"/>
                </a:solidFill>
              </a:rPr>
              <a:t>Visual </a:t>
            </a:r>
            <a:r>
              <a:rPr dirty="0" spc="-55">
                <a:solidFill>
                  <a:srgbClr val="C2132D"/>
                </a:solidFill>
              </a:rPr>
              <a:t>Business</a:t>
            </a:r>
            <a:r>
              <a:rPr dirty="0" spc="-490">
                <a:solidFill>
                  <a:srgbClr val="C2132D"/>
                </a:solidFill>
              </a:rPr>
              <a:t> </a:t>
            </a:r>
            <a:r>
              <a:rPr dirty="0" spc="-190">
                <a:solidFill>
                  <a:srgbClr val="C2132D"/>
                </a:solidFill>
              </a:rPr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8841105" cy="183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many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visualization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software,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accomplished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easily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by: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Live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connections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files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databases;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Auto-refreshing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some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similar</a:t>
            </a:r>
            <a:r>
              <a:rPr dirty="0" sz="1800" spc="-2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concept.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Hence,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think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 b="1">
                <a:solidFill>
                  <a:srgbClr val="C2132D"/>
                </a:solidFill>
                <a:latin typeface="Trebuchet MS"/>
                <a:cs typeface="Trebuchet MS"/>
              </a:rPr>
              <a:t>BI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dashboards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 b="1">
                <a:solidFill>
                  <a:srgbClr val="C2132D"/>
                </a:solidFill>
                <a:latin typeface="Trebuchet MS"/>
                <a:cs typeface="Trebuchet MS"/>
              </a:rPr>
              <a:t>as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tools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real-time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performance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monitoring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53579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9">
                <a:solidFill>
                  <a:srgbClr val="C2132D"/>
                </a:solidFill>
              </a:rPr>
              <a:t>Automating </a:t>
            </a:r>
            <a:r>
              <a:rPr dirty="0" spc="-265">
                <a:solidFill>
                  <a:srgbClr val="C2132D"/>
                </a:solidFill>
              </a:rPr>
              <a:t>Traditional </a:t>
            </a:r>
            <a:r>
              <a:rPr dirty="0" spc="-55">
                <a:solidFill>
                  <a:srgbClr val="C2132D"/>
                </a:solidFill>
              </a:rPr>
              <a:t>Business </a:t>
            </a:r>
            <a:r>
              <a:rPr dirty="0" spc="-235">
                <a:solidFill>
                  <a:srgbClr val="C2132D"/>
                </a:solidFill>
              </a:rPr>
              <a:t>Reports:</a:t>
            </a:r>
            <a:r>
              <a:rPr dirty="0" spc="-655">
                <a:solidFill>
                  <a:srgbClr val="C2132D"/>
                </a:solidFill>
              </a:rPr>
              <a:t> </a:t>
            </a:r>
            <a:r>
              <a:rPr dirty="0" spc="-175">
                <a:solidFill>
                  <a:srgbClr val="C2132D"/>
                </a:solidFill>
              </a:rPr>
              <a:t>RPA</a:t>
            </a:r>
          </a:p>
        </p:txBody>
      </p:sp>
      <p:sp>
        <p:nvSpPr>
          <p:cNvPr id="3" name="object 3"/>
          <p:cNvSpPr/>
          <p:nvPr/>
        </p:nvSpPr>
        <p:spPr>
          <a:xfrm>
            <a:off x="1885950" y="1533525"/>
            <a:ext cx="7753349" cy="4848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14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58012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9">
                <a:solidFill>
                  <a:srgbClr val="C2132D"/>
                </a:solidFill>
              </a:rPr>
              <a:t>Automating </a:t>
            </a:r>
            <a:r>
              <a:rPr dirty="0" spc="-265">
                <a:solidFill>
                  <a:srgbClr val="C2132D"/>
                </a:solidFill>
              </a:rPr>
              <a:t>Traditional </a:t>
            </a:r>
            <a:r>
              <a:rPr dirty="0" spc="-55">
                <a:solidFill>
                  <a:srgbClr val="C2132D"/>
                </a:solidFill>
              </a:rPr>
              <a:t>Business</a:t>
            </a:r>
            <a:r>
              <a:rPr dirty="0" spc="-430">
                <a:solidFill>
                  <a:srgbClr val="C2132D"/>
                </a:solidFill>
              </a:rPr>
              <a:t> </a:t>
            </a:r>
            <a:r>
              <a:rPr dirty="0" spc="-235">
                <a:solidFill>
                  <a:srgbClr val="C2132D"/>
                </a:solidFill>
              </a:rPr>
              <a:t>Reports:</a:t>
            </a:r>
          </a:p>
        </p:txBody>
      </p:sp>
      <p:sp>
        <p:nvSpPr>
          <p:cNvPr id="3" name="object 3"/>
          <p:cNvSpPr/>
          <p:nvPr/>
        </p:nvSpPr>
        <p:spPr>
          <a:xfrm>
            <a:off x="1952625" y="1533525"/>
            <a:ext cx="7619999" cy="4000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97411" y="5730874"/>
            <a:ext cx="4530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Rethink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Reporting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with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Automation</a:t>
            </a:r>
            <a:r>
              <a:rPr dirty="0" sz="1800" spc="-29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800" spc="-16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-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RStudio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91674" y="633814"/>
            <a:ext cx="592455" cy="456565"/>
          </a:xfrm>
          <a:custGeom>
            <a:avLst/>
            <a:gdLst/>
            <a:ahLst/>
            <a:cxnLst/>
            <a:rect l="l" t="t" r="r" b="b"/>
            <a:pathLst>
              <a:path w="592454" h="456565">
                <a:moveTo>
                  <a:pt x="344844" y="456396"/>
                </a:moveTo>
                <a:lnTo>
                  <a:pt x="243886" y="456396"/>
                </a:lnTo>
                <a:lnTo>
                  <a:pt x="243886" y="393336"/>
                </a:lnTo>
                <a:lnTo>
                  <a:pt x="186720" y="382487"/>
                </a:lnTo>
                <a:lnTo>
                  <a:pt x="134901" y="364559"/>
                </a:lnTo>
                <a:lnTo>
                  <a:pt x="89687" y="340396"/>
                </a:lnTo>
                <a:lnTo>
                  <a:pt x="52333" y="310840"/>
                </a:lnTo>
                <a:lnTo>
                  <a:pt x="24096" y="276735"/>
                </a:lnTo>
                <a:lnTo>
                  <a:pt x="6233" y="238923"/>
                </a:lnTo>
                <a:lnTo>
                  <a:pt x="0" y="198247"/>
                </a:lnTo>
                <a:lnTo>
                  <a:pt x="4769" y="162605"/>
                </a:lnTo>
                <a:lnTo>
                  <a:pt x="40413" y="98176"/>
                </a:lnTo>
                <a:lnTo>
                  <a:pt x="69615" y="70508"/>
                </a:lnTo>
                <a:lnTo>
                  <a:pt x="105287" y="46616"/>
                </a:lnTo>
                <a:lnTo>
                  <a:pt x="146593" y="27060"/>
                </a:lnTo>
                <a:lnTo>
                  <a:pt x="192695" y="12399"/>
                </a:lnTo>
                <a:lnTo>
                  <a:pt x="242758" y="3193"/>
                </a:lnTo>
                <a:lnTo>
                  <a:pt x="295944" y="0"/>
                </a:lnTo>
                <a:lnTo>
                  <a:pt x="349130" y="3193"/>
                </a:lnTo>
                <a:lnTo>
                  <a:pt x="399193" y="12399"/>
                </a:lnTo>
                <a:lnTo>
                  <a:pt x="445296" y="27060"/>
                </a:lnTo>
                <a:lnTo>
                  <a:pt x="486601" y="46616"/>
                </a:lnTo>
                <a:lnTo>
                  <a:pt x="522273" y="70508"/>
                </a:lnTo>
                <a:lnTo>
                  <a:pt x="529680" y="77526"/>
                </a:lnTo>
                <a:lnTo>
                  <a:pt x="341278" y="77526"/>
                </a:lnTo>
                <a:lnTo>
                  <a:pt x="281496" y="82362"/>
                </a:lnTo>
                <a:lnTo>
                  <a:pt x="227768" y="96014"/>
                </a:lnTo>
                <a:lnTo>
                  <a:pt x="182240" y="117193"/>
                </a:lnTo>
                <a:lnTo>
                  <a:pt x="147061" y="144612"/>
                </a:lnTo>
                <a:lnTo>
                  <a:pt x="124378" y="176983"/>
                </a:lnTo>
                <a:lnTo>
                  <a:pt x="116340" y="213019"/>
                </a:lnTo>
                <a:lnTo>
                  <a:pt x="125653" y="251716"/>
                </a:lnTo>
                <a:lnTo>
                  <a:pt x="151805" y="286050"/>
                </a:lnTo>
                <a:lnTo>
                  <a:pt x="192111" y="314404"/>
                </a:lnTo>
                <a:lnTo>
                  <a:pt x="243887" y="335166"/>
                </a:lnTo>
                <a:lnTo>
                  <a:pt x="344742" y="335166"/>
                </a:lnTo>
                <a:lnTo>
                  <a:pt x="344742" y="348409"/>
                </a:lnTo>
                <a:lnTo>
                  <a:pt x="506482" y="348409"/>
                </a:lnTo>
                <a:lnTo>
                  <a:pt x="524961" y="379583"/>
                </a:lnTo>
                <a:lnTo>
                  <a:pt x="415545" y="379583"/>
                </a:lnTo>
                <a:lnTo>
                  <a:pt x="398610" y="384202"/>
                </a:lnTo>
                <a:lnTo>
                  <a:pt x="381149" y="388115"/>
                </a:lnTo>
                <a:lnTo>
                  <a:pt x="363211" y="391302"/>
                </a:lnTo>
                <a:lnTo>
                  <a:pt x="344844" y="393743"/>
                </a:lnTo>
                <a:lnTo>
                  <a:pt x="344844" y="456396"/>
                </a:lnTo>
                <a:close/>
              </a:path>
              <a:path w="592454" h="456565">
                <a:moveTo>
                  <a:pt x="526092" y="321413"/>
                </a:moveTo>
                <a:lnTo>
                  <a:pt x="485532" y="321413"/>
                </a:lnTo>
                <a:lnTo>
                  <a:pt x="515547" y="302456"/>
                </a:lnTo>
                <a:lnTo>
                  <a:pt x="538074" y="278180"/>
                </a:lnTo>
                <a:lnTo>
                  <a:pt x="552234" y="248421"/>
                </a:lnTo>
                <a:lnTo>
                  <a:pt x="557150" y="213019"/>
                </a:lnTo>
                <a:lnTo>
                  <a:pt x="549783" y="170333"/>
                </a:lnTo>
                <a:lnTo>
                  <a:pt x="528780" y="136100"/>
                </a:lnTo>
                <a:lnTo>
                  <a:pt x="495783" y="110011"/>
                </a:lnTo>
                <a:lnTo>
                  <a:pt x="452438" y="91758"/>
                </a:lnTo>
                <a:lnTo>
                  <a:pt x="400388" y="81032"/>
                </a:lnTo>
                <a:lnTo>
                  <a:pt x="341278" y="77526"/>
                </a:lnTo>
                <a:lnTo>
                  <a:pt x="529680" y="77526"/>
                </a:lnTo>
                <a:lnTo>
                  <a:pt x="551475" y="98176"/>
                </a:lnTo>
                <a:lnTo>
                  <a:pt x="573369" y="129061"/>
                </a:lnTo>
                <a:lnTo>
                  <a:pt x="587120" y="162605"/>
                </a:lnTo>
                <a:lnTo>
                  <a:pt x="591889" y="198247"/>
                </a:lnTo>
                <a:lnTo>
                  <a:pt x="585625" y="238965"/>
                </a:lnTo>
                <a:lnTo>
                  <a:pt x="567681" y="276817"/>
                </a:lnTo>
                <a:lnTo>
                  <a:pt x="539327" y="310964"/>
                </a:lnTo>
                <a:lnTo>
                  <a:pt x="526092" y="321413"/>
                </a:lnTo>
                <a:close/>
              </a:path>
              <a:path w="592454" h="456565">
                <a:moveTo>
                  <a:pt x="344742" y="335166"/>
                </a:moveTo>
                <a:lnTo>
                  <a:pt x="243887" y="335166"/>
                </a:lnTo>
                <a:lnTo>
                  <a:pt x="243887" y="122962"/>
                </a:lnTo>
                <a:lnTo>
                  <a:pt x="446616" y="122962"/>
                </a:lnTo>
                <a:lnTo>
                  <a:pt x="461038" y="124590"/>
                </a:lnTo>
                <a:lnTo>
                  <a:pt x="492765" y="134766"/>
                </a:lnTo>
                <a:lnTo>
                  <a:pt x="524493" y="161427"/>
                </a:lnTo>
                <a:lnTo>
                  <a:pt x="533930" y="194855"/>
                </a:lnTo>
                <a:lnTo>
                  <a:pt x="384476" y="194855"/>
                </a:lnTo>
                <a:lnTo>
                  <a:pt x="345659" y="195394"/>
                </a:lnTo>
                <a:lnTo>
                  <a:pt x="345659" y="252036"/>
                </a:lnTo>
                <a:lnTo>
                  <a:pt x="380952" y="252761"/>
                </a:lnTo>
                <a:lnTo>
                  <a:pt x="528212" y="252761"/>
                </a:lnTo>
                <a:lnTo>
                  <a:pt x="525129" y="264355"/>
                </a:lnTo>
                <a:lnTo>
                  <a:pt x="494803" y="292697"/>
                </a:lnTo>
                <a:lnTo>
                  <a:pt x="464476" y="304554"/>
                </a:lnTo>
                <a:lnTo>
                  <a:pt x="450691" y="306947"/>
                </a:lnTo>
                <a:lnTo>
                  <a:pt x="453655" y="307873"/>
                </a:lnTo>
                <a:lnTo>
                  <a:pt x="485532" y="321413"/>
                </a:lnTo>
                <a:lnTo>
                  <a:pt x="526092" y="321413"/>
                </a:lnTo>
                <a:lnTo>
                  <a:pt x="520414" y="325895"/>
                </a:lnTo>
                <a:lnTo>
                  <a:pt x="344742" y="325895"/>
                </a:lnTo>
                <a:lnTo>
                  <a:pt x="344742" y="335166"/>
                </a:lnTo>
                <a:close/>
              </a:path>
              <a:path w="592454" h="456565">
                <a:moveTo>
                  <a:pt x="528212" y="252761"/>
                </a:moveTo>
                <a:lnTo>
                  <a:pt x="380952" y="252761"/>
                </a:lnTo>
                <a:lnTo>
                  <a:pt x="409330" y="251565"/>
                </a:lnTo>
                <a:lnTo>
                  <a:pt x="428234" y="243398"/>
                </a:lnTo>
                <a:lnTo>
                  <a:pt x="435104" y="223206"/>
                </a:lnTo>
                <a:lnTo>
                  <a:pt x="429409" y="204205"/>
                </a:lnTo>
                <a:lnTo>
                  <a:pt x="412463" y="196273"/>
                </a:lnTo>
                <a:lnTo>
                  <a:pt x="384476" y="194855"/>
                </a:lnTo>
                <a:lnTo>
                  <a:pt x="533930" y="194855"/>
                </a:lnTo>
                <a:lnTo>
                  <a:pt x="538914" y="212509"/>
                </a:lnTo>
                <a:lnTo>
                  <a:pt x="528212" y="252761"/>
                </a:lnTo>
                <a:close/>
              </a:path>
              <a:path w="592454" h="456565">
                <a:moveTo>
                  <a:pt x="506482" y="348409"/>
                </a:moveTo>
                <a:lnTo>
                  <a:pt x="344742" y="348409"/>
                </a:lnTo>
                <a:lnTo>
                  <a:pt x="358054" y="348177"/>
                </a:lnTo>
                <a:lnTo>
                  <a:pt x="371089" y="347620"/>
                </a:lnTo>
                <a:lnTo>
                  <a:pt x="383838" y="346719"/>
                </a:lnTo>
                <a:lnTo>
                  <a:pt x="396290" y="345455"/>
                </a:lnTo>
                <a:lnTo>
                  <a:pt x="391825" y="339176"/>
                </a:lnTo>
                <a:lnTo>
                  <a:pt x="386243" y="332810"/>
                </a:lnTo>
                <a:lnTo>
                  <a:pt x="379572" y="327877"/>
                </a:lnTo>
                <a:lnTo>
                  <a:pt x="371841" y="325895"/>
                </a:lnTo>
                <a:lnTo>
                  <a:pt x="520414" y="325895"/>
                </a:lnTo>
                <a:lnTo>
                  <a:pt x="501832" y="340565"/>
                </a:lnTo>
                <a:lnTo>
                  <a:pt x="506482" y="348409"/>
                </a:lnTo>
                <a:close/>
              </a:path>
              <a:path w="592454" h="456565">
                <a:moveTo>
                  <a:pt x="570495" y="456396"/>
                </a:moveTo>
                <a:lnTo>
                  <a:pt x="456396" y="456396"/>
                </a:lnTo>
                <a:lnTo>
                  <a:pt x="415545" y="379583"/>
                </a:lnTo>
                <a:lnTo>
                  <a:pt x="524961" y="379583"/>
                </a:lnTo>
                <a:lnTo>
                  <a:pt x="570495" y="45639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76962"/>
            <a:ext cx="6762750" cy="0"/>
          </a:xfrm>
          <a:custGeom>
            <a:avLst/>
            <a:gdLst/>
            <a:ahLst/>
            <a:cxnLst/>
            <a:rect l="l" t="t" r="r" b="b"/>
            <a:pathLst>
              <a:path w="6762750" h="0">
                <a:moveTo>
                  <a:pt x="0" y="0"/>
                </a:moveTo>
                <a:lnTo>
                  <a:pt x="67627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86487"/>
            <a:ext cx="6762750" cy="0"/>
          </a:xfrm>
          <a:custGeom>
            <a:avLst/>
            <a:gdLst/>
            <a:ahLst/>
            <a:cxnLst/>
            <a:rect l="l" t="t" r="r" b="b"/>
            <a:pathLst>
              <a:path w="6762750" h="0">
                <a:moveTo>
                  <a:pt x="0" y="0"/>
                </a:moveTo>
                <a:lnTo>
                  <a:pt x="67627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6762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01700" y="6266655"/>
            <a:ext cx="678688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Additional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Example: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automate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my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academic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CV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published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my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7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FSB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Website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based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code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fmegahed/vitae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15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1220">
                <a:solidFill>
                  <a:srgbClr val="000000"/>
                </a:solidFill>
              </a:rPr>
              <a:t>R</a:t>
            </a:r>
            <a:r>
              <a:rPr dirty="0" spc="-1220"/>
              <a:t>R</a:t>
            </a:r>
            <a:r>
              <a:rPr dirty="0" spc="-1220">
                <a:solidFill>
                  <a:srgbClr val="000000"/>
                </a:solidFill>
              </a:rPr>
              <a:t>e</a:t>
            </a:r>
            <a:r>
              <a:rPr dirty="0" spc="-1220"/>
              <a:t>e</a:t>
            </a:r>
            <a:r>
              <a:rPr dirty="0" spc="-1220">
                <a:solidFill>
                  <a:srgbClr val="000000"/>
                </a:solidFill>
              </a:rPr>
              <a:t>c</a:t>
            </a:r>
            <a:r>
              <a:rPr dirty="0" spc="-1220"/>
              <a:t>c</a:t>
            </a:r>
            <a:r>
              <a:rPr dirty="0" spc="-1220">
                <a:solidFill>
                  <a:srgbClr val="000000"/>
                </a:solidFill>
              </a:rPr>
              <a:t>a</a:t>
            </a:r>
            <a:r>
              <a:rPr dirty="0" spc="-1220"/>
              <a:t>a</a:t>
            </a:r>
            <a:r>
              <a:rPr dirty="0" spc="-1220">
                <a:solidFill>
                  <a:srgbClr val="000000"/>
                </a:solidFill>
              </a:rPr>
              <a:t>p</a:t>
            </a:r>
            <a:r>
              <a:rPr dirty="0" spc="-1220"/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6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6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>
                <a:solidFill>
                  <a:srgbClr val="C2132D"/>
                </a:solidFill>
              </a:rPr>
              <a:t>Summary </a:t>
            </a:r>
            <a:r>
              <a:rPr dirty="0" spc="-170">
                <a:solidFill>
                  <a:srgbClr val="C2132D"/>
                </a:solidFill>
              </a:rPr>
              <a:t>of </a:t>
            </a:r>
            <a:r>
              <a:rPr dirty="0" spc="-110">
                <a:solidFill>
                  <a:srgbClr val="C2132D"/>
                </a:solidFill>
              </a:rPr>
              <a:t>Main</a:t>
            </a:r>
            <a:r>
              <a:rPr dirty="0" spc="-570">
                <a:solidFill>
                  <a:srgbClr val="C2132D"/>
                </a:solidFill>
              </a:rPr>
              <a:t> </a:t>
            </a:r>
            <a:r>
              <a:rPr dirty="0" spc="-135">
                <a:solidFill>
                  <a:srgbClr val="C2132D"/>
                </a:solidFill>
              </a:rPr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14223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Define a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“business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report”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</a:t>
            </a:r>
            <a:r>
              <a:rPr dirty="0" sz="1800" spc="-3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importance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right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KPIs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Automate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Dashboards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real-time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reporting</a:t>
            </a:r>
            <a:r>
              <a:rPr dirty="0" sz="1800" spc="-25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401: Business Intelligence &amp; Data Visualization</dc:title>
  <dcterms:created xsi:type="dcterms:W3CDTF">2025-11-04T17:25:00Z</dcterms:created>
  <dcterms:modified xsi:type="dcterms:W3CDTF">2025-11-04T17:25:00Z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Mozilla/5.0 (Windows NT 10.0; Win64; x64) AppleWebKit/537.36 (KHTML, like Gecko) Chrome/142.0.0.0 Safari/537.36</vt:lpwstr>
  </property>
  <property fmtid="{D5CDD505-2E9C-101B-9397-08002B2CF9AE}" pid="4" name="LastSaved">
    <vt:filetime>2025-11-04T00:00:00Z</vt:filetime>
  </property>
</Properties>
</file>