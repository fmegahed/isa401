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1700" y="520700"/>
            <a:ext cx="9728200" cy="65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C2132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520700"/>
            <a:ext cx="9728200" cy="65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8675" y="1480819"/>
            <a:ext cx="9234249" cy="1968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C2132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mds.org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hyperlink" Target="https://creativecommons.org/share-your-work/public-domain/cc0/" TargetMode="External"/><Relationship Id="rId6" Type="http://schemas.openxmlformats.org/officeDocument/2006/relationships/hyperlink" Target="http://pal.lternet.edu/data/policies" TargetMode="External"/><Relationship Id="rId7" Type="http://schemas.openxmlformats.org/officeDocument/2006/relationships/hyperlink" Target="https://allisonhorst.github.io/palmerpenguins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hyperlink" Target="https://creativecommons.org/share-your-work/public-domain/cc0/" TargetMode="External"/><Relationship Id="rId4" Type="http://schemas.openxmlformats.org/officeDocument/2006/relationships/hyperlink" Target="http://pal.lternet.edu/data/policies" TargetMode="External"/><Relationship Id="rId5" Type="http://schemas.openxmlformats.org/officeDocument/2006/relationships/hyperlink" Target="https://allisonhorst.github.io/palmerpenguins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hyperlink" Target="https://creativecommons.org/share-your-work/public-domain/cc0/" TargetMode="External"/><Relationship Id="rId5" Type="http://schemas.openxmlformats.org/officeDocument/2006/relationships/hyperlink" Target="http://pal.lternet.edu/data/policies" TargetMode="External"/><Relationship Id="rId6" Type="http://schemas.openxmlformats.org/officeDocument/2006/relationships/hyperlink" Target="https://allisonhorst.github.io/palmerpenguins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image" Target="../media/image7.png"/><Relationship Id="rId4" Type="http://schemas.openxmlformats.org/officeDocument/2006/relationships/hyperlink" Target="https://creativecommons.org/share-your-work/public-domain/cc0/" TargetMode="External"/><Relationship Id="rId5" Type="http://schemas.openxmlformats.org/officeDocument/2006/relationships/hyperlink" Target="http://pal.lternet.edu/data/policies" TargetMode="External"/><Relationship Id="rId6" Type="http://schemas.openxmlformats.org/officeDocument/2006/relationships/hyperlink" Target="https://allisonhorst.github.io/palmerpenguins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image" Target="../media/image7.png"/><Relationship Id="rId4" Type="http://schemas.openxmlformats.org/officeDocument/2006/relationships/hyperlink" Target="https://creativecommons.org/share-your-work/public-domain/cc0/" TargetMode="External"/><Relationship Id="rId5" Type="http://schemas.openxmlformats.org/officeDocument/2006/relationships/hyperlink" Target="http://pal.lternet.edu/data/policies" TargetMode="External"/><Relationship Id="rId6" Type="http://schemas.openxmlformats.org/officeDocument/2006/relationships/hyperlink" Target="https://allisonhorst.github.io/palmerpenguins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hyperlink" Target="https://doi.org/10.1109/TETC.2014.2330519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ikit-learn.org/stable/modules/clustering.html#%24k%24-means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ikit-learn.org/stable/modules/clustering.html#%24k%24-means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iamioh.instructure.com/courses/240893/files/37533887?module_item_id=6279582" TargetMode="External"/><Relationship Id="rId3" Type="http://schemas.openxmlformats.org/officeDocument/2006/relationships/hyperlink" Target="https://miamioh.instructure.com/courses/240893/modules/items/6279583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localhost/C:/Users/megahefm/Dropbox/Miami/Code/GitHub/fmegahed.github.io/isa401/fall2025/class26/26_clustering_intro.html?panelset_001=data&amp;panelset_001_data" TargetMode="External"/><Relationship Id="rId3" Type="http://schemas.openxmlformats.org/officeDocument/2006/relationships/hyperlink" Target="file://localhost/C:/Users/megahefm/Dropbox/Miami/Code/GitHub/fmegahed.github.io/isa401/fall2025/class26/26_clustering_intro.html?panelset_001=prep&amp;panelset_001_prep" TargetMode="External"/><Relationship Id="rId4" Type="http://schemas.openxmlformats.org/officeDocument/2006/relationships/hyperlink" Target="file://localhost/C:/Users/megahefm/Dropbox/Miami/Code/GitHub/fmegahed.github.io/isa401/fall2025/class26/26_clustering_intro.html?panelset_001=optimal-k&amp;panelset_001_optimal-k" TargetMode="External"/><Relationship Id="rId5" Type="http://schemas.openxmlformats.org/officeDocument/2006/relationships/hyperlink" Target="file://localhost/C:/Users/megahefm/Dropbox/Miami/Code/GitHub/fmegahed.github.io/isa401/fall2025/class26/26_clustering_intro.html?panelset_001=viz-clusters&amp;panelset_001_viz-clusters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megahed.github.io/covid_analysis_final.html#33_Visualizing_the_Clustering_Results" TargetMode="External"/><Relationship Id="rId3" Type="http://schemas.openxmlformats.org/officeDocument/2006/relationships/hyperlink" Target="https://fmegahed.github.io/isa401/class23/23_data_mining_overview.html?panelset1=calendar-plot-of-clustered-data&amp;panelset4=data3&amp;panelset5=data4&amp;panelset6=activity3&amp;panelset7=activity4&amp;10" TargetMode="External"/><Relationship Id="rId4" Type="http://schemas.openxmlformats.org/officeDocument/2006/relationships/hyperlink" Target="https://fmegahed.github.io/covid_analysis_final.html#4_Explanatory_Modeling_of_Cluster_Assignments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8618220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5">
                <a:solidFill>
                  <a:srgbClr val="FFFFFF"/>
                </a:solidFill>
              </a:rPr>
              <a:t>ISA </a:t>
            </a:r>
            <a:r>
              <a:rPr dirty="0" sz="3350" spc="-180">
                <a:solidFill>
                  <a:srgbClr val="FFFFFF"/>
                </a:solidFill>
              </a:rPr>
              <a:t>401: </a:t>
            </a:r>
            <a:r>
              <a:rPr dirty="0" sz="3350" spc="-45">
                <a:solidFill>
                  <a:srgbClr val="FFFFFF"/>
                </a:solidFill>
              </a:rPr>
              <a:t>Business </a:t>
            </a:r>
            <a:r>
              <a:rPr dirty="0" sz="3350" spc="-190">
                <a:solidFill>
                  <a:srgbClr val="FFFFFF"/>
                </a:solidFill>
              </a:rPr>
              <a:t>Intelligence </a:t>
            </a:r>
            <a:r>
              <a:rPr dirty="0" sz="3350" spc="-530">
                <a:solidFill>
                  <a:srgbClr val="FFFFFF"/>
                </a:solidFill>
              </a:rPr>
              <a:t>&amp; </a:t>
            </a:r>
            <a:r>
              <a:rPr dirty="0" sz="3350" spc="-190">
                <a:solidFill>
                  <a:srgbClr val="FFFFFF"/>
                </a:solidFill>
              </a:rPr>
              <a:t>Data</a:t>
            </a:r>
            <a:r>
              <a:rPr dirty="0" sz="3350" spc="-484">
                <a:solidFill>
                  <a:srgbClr val="FFFFFF"/>
                </a:solidFill>
              </a:rPr>
              <a:t> </a:t>
            </a:r>
            <a:r>
              <a:rPr dirty="0" sz="3350" spc="-145">
                <a:solidFill>
                  <a:srgbClr val="FFFFFF"/>
                </a:solidFill>
              </a:rPr>
              <a:t>Visualization</a:t>
            </a:r>
            <a:endParaRPr sz="3350"/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26: A Short Introduction to</a:t>
            </a:r>
            <a:r>
              <a:rPr dirty="0" sz="3000" spc="-3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Clustering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"/>
              <a:cs typeface="Arial"/>
            </a:endParaRPr>
          </a:p>
          <a:p>
            <a:pPr marL="12700" marR="20320">
              <a:lnSpc>
                <a:spcPts val="2100"/>
              </a:lnSpc>
            </a:pP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Raymond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E. Glos Professor </a:t>
            </a:r>
            <a:r>
              <a:rPr dirty="0" sz="1850" spc="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Farmer School of</a:t>
            </a:r>
            <a:r>
              <a:rPr dirty="0" sz="1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1975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22134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40"/>
              <a:t>A </a:t>
            </a:r>
            <a:r>
              <a:rPr dirty="0" spc="-215"/>
              <a:t>Recap </a:t>
            </a:r>
            <a:r>
              <a:rPr dirty="0" spc="-170"/>
              <a:t>of </a:t>
            </a:r>
            <a:r>
              <a:rPr dirty="0" spc="-300"/>
              <a:t>What </a:t>
            </a:r>
            <a:r>
              <a:rPr dirty="0" spc="-340"/>
              <a:t>we </a:t>
            </a:r>
            <a:r>
              <a:rPr dirty="0" spc="-245"/>
              <a:t>Learned </a:t>
            </a:r>
            <a:r>
              <a:rPr dirty="0" spc="-120"/>
              <a:t>Last</a:t>
            </a:r>
            <a:r>
              <a:rPr dirty="0" spc="-755"/>
              <a:t> </a:t>
            </a:r>
            <a:r>
              <a:rPr dirty="0" spc="-25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6264275" cy="2471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goals 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&amp;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functions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3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statistical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limits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data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800" spc="-229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process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What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“frequent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itemsets”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&amp;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application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concept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Explain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why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“association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rules”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constructed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  <a:tab pos="905510" algn="l"/>
              </a:tabLst>
            </a:pP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Use	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populate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both</a:t>
            </a:r>
            <a:r>
              <a:rPr dirty="0" sz="1800" spc="-2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concepts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3075" y="3758071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4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4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4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4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4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4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20700"/>
            <a:ext cx="9006840" cy="654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50">
                <a:solidFill>
                  <a:srgbClr val="C2132D"/>
                </a:solidFill>
                <a:latin typeface="Trebuchet MS"/>
                <a:cs typeface="Trebuchet MS"/>
              </a:rPr>
              <a:t>Kahoot:</a:t>
            </a:r>
            <a:r>
              <a:rPr dirty="0" sz="4100" spc="-295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-40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4100" spc="-290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-215">
                <a:solidFill>
                  <a:srgbClr val="C2132D"/>
                </a:solidFill>
                <a:latin typeface="Trebuchet MS"/>
                <a:cs typeface="Trebuchet MS"/>
              </a:rPr>
              <a:t>Recap</a:t>
            </a:r>
            <a:r>
              <a:rPr dirty="0" sz="4100" spc="-295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-170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4100" spc="-290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-105">
                <a:solidFill>
                  <a:srgbClr val="C2132D"/>
                </a:solidFill>
                <a:latin typeface="Trebuchet MS"/>
                <a:cs typeface="Trebuchet MS"/>
              </a:rPr>
              <a:t>Phase</a:t>
            </a:r>
            <a:r>
              <a:rPr dirty="0" sz="4100" spc="-295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-114">
                <a:solidFill>
                  <a:srgbClr val="C2132D"/>
                </a:solidFill>
                <a:latin typeface="Trebuchet MS"/>
                <a:cs typeface="Trebuchet MS"/>
              </a:rPr>
              <a:t>3</a:t>
            </a:r>
            <a:r>
              <a:rPr dirty="0" sz="4100" spc="-290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-170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4100" spc="-290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-25">
                <a:solidFill>
                  <a:srgbClr val="C2132D"/>
                </a:solidFill>
                <a:latin typeface="Trebuchet MS"/>
                <a:cs typeface="Trebuchet MS"/>
              </a:rPr>
              <a:t>Class</a:t>
            </a:r>
            <a:r>
              <a:rPr dirty="0" sz="4100" spc="-295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15">
                <a:solidFill>
                  <a:srgbClr val="C2132D"/>
                </a:solidFill>
                <a:latin typeface="Trebuchet MS"/>
                <a:cs typeface="Trebuchet MS"/>
              </a:rPr>
              <a:t>So</a:t>
            </a:r>
            <a:r>
              <a:rPr dirty="0" sz="4100" spc="-290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-254">
                <a:solidFill>
                  <a:srgbClr val="C2132D"/>
                </a:solidFill>
                <a:latin typeface="Trebuchet MS"/>
                <a:cs typeface="Trebuchet MS"/>
              </a:rPr>
              <a:t>Far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80819"/>
            <a:ext cx="9678035" cy="9874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35"/>
              </a:spcBef>
              <a:tabLst>
                <a:tab pos="4748530" algn="l"/>
              </a:tabLst>
            </a:pP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Let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go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Kahoot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compete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$10	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Starbucks </a:t>
            </a:r>
            <a:r>
              <a:rPr dirty="0" sz="1800" spc="65">
                <a:solidFill>
                  <a:srgbClr val="585D60"/>
                </a:solidFill>
                <a:latin typeface="Arial"/>
                <a:cs typeface="Arial"/>
              </a:rPr>
              <a:t>gift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card. 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evaluate your 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understanding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material,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please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answer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questions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correctly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quickly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possible 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get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most</a:t>
            </a:r>
            <a:r>
              <a:rPr dirty="0" sz="1800" spc="-29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points.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05424" y="1585912"/>
            <a:ext cx="285750" cy="200025"/>
          </a:xfrm>
          <a:custGeom>
            <a:avLst/>
            <a:gdLst/>
            <a:ahLst/>
            <a:cxnLst/>
            <a:rect l="l" t="t" r="r" b="b"/>
            <a:pathLst>
              <a:path w="285750" h="200025">
                <a:moveTo>
                  <a:pt x="171450" y="157162"/>
                </a:moveTo>
                <a:lnTo>
                  <a:pt x="85725" y="157162"/>
                </a:lnTo>
                <a:lnTo>
                  <a:pt x="69044" y="153792"/>
                </a:lnTo>
                <a:lnTo>
                  <a:pt x="55419" y="144605"/>
                </a:lnTo>
                <a:lnTo>
                  <a:pt x="46232" y="130980"/>
                </a:lnTo>
                <a:lnTo>
                  <a:pt x="42862" y="114300"/>
                </a:lnTo>
                <a:lnTo>
                  <a:pt x="42862" y="6384"/>
                </a:lnTo>
                <a:lnTo>
                  <a:pt x="49247" y="0"/>
                </a:lnTo>
                <a:lnTo>
                  <a:pt x="228600" y="0"/>
                </a:lnTo>
                <a:lnTo>
                  <a:pt x="250846" y="4490"/>
                </a:lnTo>
                <a:lnTo>
                  <a:pt x="269012" y="16737"/>
                </a:lnTo>
                <a:lnTo>
                  <a:pt x="276992" y="28575"/>
                </a:lnTo>
                <a:lnTo>
                  <a:pt x="214312" y="28575"/>
                </a:lnTo>
                <a:lnTo>
                  <a:pt x="214312" y="85725"/>
                </a:lnTo>
                <a:lnTo>
                  <a:pt x="276992" y="85725"/>
                </a:lnTo>
                <a:lnTo>
                  <a:pt x="269012" y="97562"/>
                </a:lnTo>
                <a:lnTo>
                  <a:pt x="250846" y="109809"/>
                </a:lnTo>
                <a:lnTo>
                  <a:pt x="228600" y="114300"/>
                </a:lnTo>
                <a:lnTo>
                  <a:pt x="214312" y="114300"/>
                </a:lnTo>
                <a:lnTo>
                  <a:pt x="210942" y="130980"/>
                </a:lnTo>
                <a:lnTo>
                  <a:pt x="201755" y="144605"/>
                </a:lnTo>
                <a:lnTo>
                  <a:pt x="188130" y="153792"/>
                </a:lnTo>
                <a:lnTo>
                  <a:pt x="171450" y="157162"/>
                </a:lnTo>
                <a:close/>
              </a:path>
              <a:path w="285750" h="200025">
                <a:moveTo>
                  <a:pt x="276992" y="85725"/>
                </a:moveTo>
                <a:lnTo>
                  <a:pt x="228600" y="85725"/>
                </a:lnTo>
                <a:lnTo>
                  <a:pt x="239713" y="83476"/>
                </a:lnTo>
                <a:lnTo>
                  <a:pt x="248797" y="77347"/>
                </a:lnTo>
                <a:lnTo>
                  <a:pt x="254926" y="68263"/>
                </a:lnTo>
                <a:lnTo>
                  <a:pt x="257175" y="57150"/>
                </a:lnTo>
                <a:lnTo>
                  <a:pt x="254926" y="46036"/>
                </a:lnTo>
                <a:lnTo>
                  <a:pt x="248797" y="36952"/>
                </a:lnTo>
                <a:lnTo>
                  <a:pt x="239713" y="30823"/>
                </a:lnTo>
                <a:lnTo>
                  <a:pt x="228600" y="28575"/>
                </a:lnTo>
                <a:lnTo>
                  <a:pt x="276992" y="28575"/>
                </a:lnTo>
                <a:lnTo>
                  <a:pt x="281259" y="34903"/>
                </a:lnTo>
                <a:lnTo>
                  <a:pt x="285750" y="57150"/>
                </a:lnTo>
                <a:lnTo>
                  <a:pt x="281259" y="79396"/>
                </a:lnTo>
                <a:lnTo>
                  <a:pt x="276992" y="85725"/>
                </a:lnTo>
                <a:close/>
              </a:path>
              <a:path w="285750" h="200025">
                <a:moveTo>
                  <a:pt x="250790" y="200025"/>
                </a:moveTo>
                <a:lnTo>
                  <a:pt x="6384" y="200025"/>
                </a:lnTo>
                <a:lnTo>
                  <a:pt x="0" y="193640"/>
                </a:lnTo>
                <a:lnTo>
                  <a:pt x="0" y="177834"/>
                </a:lnTo>
                <a:lnTo>
                  <a:pt x="6384" y="171450"/>
                </a:lnTo>
                <a:lnTo>
                  <a:pt x="250790" y="171450"/>
                </a:lnTo>
                <a:lnTo>
                  <a:pt x="257175" y="177834"/>
                </a:lnTo>
                <a:lnTo>
                  <a:pt x="257175" y="193640"/>
                </a:lnTo>
                <a:lnTo>
                  <a:pt x="250790" y="200025"/>
                </a:lnTo>
                <a:close/>
              </a:path>
            </a:pathLst>
          </a:custGeom>
          <a:solidFill>
            <a:srgbClr val="0064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7298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10"/>
              <a:t>Learning </a:t>
            </a:r>
            <a:r>
              <a:rPr dirty="0" spc="-254"/>
              <a:t>Objectives </a:t>
            </a:r>
            <a:r>
              <a:rPr dirty="0" spc="-229"/>
              <a:t>for </a:t>
            </a:r>
            <a:r>
              <a:rPr dirty="0" spc="-170"/>
              <a:t>Today's</a:t>
            </a:r>
            <a:r>
              <a:rPr dirty="0" spc="-550"/>
              <a:t> </a:t>
            </a:r>
            <a:r>
              <a:rPr dirty="0" spc="-25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5567045" cy="203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different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steps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-means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algorithm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Cluster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using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-means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(by</a:t>
            </a:r>
            <a:r>
              <a:rPr dirty="0" sz="1800" spc="-2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hand)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Cluster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using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-means</a:t>
            </a:r>
            <a:r>
              <a:rPr dirty="0" sz="1800" spc="-17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(software)</a:t>
            </a:r>
            <a:endParaRPr sz="1800">
              <a:latin typeface="Arial"/>
              <a:cs typeface="Arial"/>
            </a:endParaRPr>
          </a:p>
          <a:p>
            <a:pPr marL="393065">
              <a:lnSpc>
                <a:spcPct val="100000"/>
              </a:lnSpc>
              <a:spcBef>
                <a:spcPts val="1290"/>
              </a:spcBef>
            </a:pPr>
            <a:r>
              <a:rPr dirty="0" sz="1800" spc="-340">
                <a:solidFill>
                  <a:srgbClr val="C2132D"/>
                </a:solidFill>
                <a:latin typeface="Trebuchet MS"/>
                <a:cs typeface="Trebuchet MS"/>
              </a:rPr>
              <a:t>•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Tableau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6400" y="2891296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4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4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4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4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4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4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9344" y="2752344"/>
            <a:ext cx="8293734" cy="1045844"/>
          </a:xfrm>
          <a:prstGeom prst="rect"/>
          <a:solidFill>
            <a:srgbClr val="333333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55904">
              <a:lnSpc>
                <a:spcPct val="100000"/>
              </a:lnSpc>
              <a:spcBef>
                <a:spcPts val="1150"/>
              </a:spcBef>
            </a:pPr>
            <a:r>
              <a:rPr dirty="0" spc="-1240">
                <a:solidFill>
                  <a:srgbClr val="000000"/>
                </a:solidFill>
              </a:rPr>
              <a:t>A</a:t>
            </a:r>
            <a:r>
              <a:rPr dirty="0" spc="-1240">
                <a:solidFill>
                  <a:srgbClr val="FFFFFF"/>
                </a:solidFill>
              </a:rPr>
              <a:t>A</a:t>
            </a:r>
            <a:r>
              <a:rPr dirty="0" spc="-1240">
                <a:solidFill>
                  <a:srgbClr val="000000"/>
                </a:solidFill>
              </a:rPr>
              <a:t>n</a:t>
            </a:r>
            <a:r>
              <a:rPr dirty="0" spc="-1240">
                <a:solidFill>
                  <a:srgbClr val="FFFFFF"/>
                </a:solidFill>
              </a:rPr>
              <a:t>n</a:t>
            </a:r>
            <a:r>
              <a:rPr dirty="0" spc="-265">
                <a:solidFill>
                  <a:srgbClr val="FFFFFF"/>
                </a:solidFill>
              </a:rPr>
              <a:t> </a:t>
            </a:r>
            <a:r>
              <a:rPr dirty="0" spc="-1215">
                <a:solidFill>
                  <a:srgbClr val="000000"/>
                </a:solidFill>
              </a:rPr>
              <a:t>O</a:t>
            </a:r>
            <a:r>
              <a:rPr dirty="0" spc="-1215">
                <a:solidFill>
                  <a:srgbClr val="FFFFFF"/>
                </a:solidFill>
              </a:rPr>
              <a:t>O</a:t>
            </a:r>
            <a:r>
              <a:rPr dirty="0" spc="-1215">
                <a:solidFill>
                  <a:srgbClr val="000000"/>
                </a:solidFill>
              </a:rPr>
              <a:t>v</a:t>
            </a:r>
            <a:r>
              <a:rPr dirty="0" spc="-1215">
                <a:solidFill>
                  <a:srgbClr val="FFFFFF"/>
                </a:solidFill>
              </a:rPr>
              <a:t>v</a:t>
            </a:r>
            <a:r>
              <a:rPr dirty="0" spc="-1215">
                <a:solidFill>
                  <a:srgbClr val="000000"/>
                </a:solidFill>
              </a:rPr>
              <a:t>e</a:t>
            </a:r>
            <a:r>
              <a:rPr dirty="0" spc="-1215">
                <a:solidFill>
                  <a:srgbClr val="FFFFFF"/>
                </a:solidFill>
              </a:rPr>
              <a:t>e</a:t>
            </a:r>
            <a:r>
              <a:rPr dirty="0" spc="-1215">
                <a:solidFill>
                  <a:srgbClr val="000000"/>
                </a:solidFill>
              </a:rPr>
              <a:t>r</a:t>
            </a:r>
            <a:r>
              <a:rPr dirty="0" spc="-1215">
                <a:solidFill>
                  <a:srgbClr val="FFFFFF"/>
                </a:solidFill>
              </a:rPr>
              <a:t>r</a:t>
            </a:r>
            <a:r>
              <a:rPr dirty="0" spc="-1215">
                <a:solidFill>
                  <a:srgbClr val="000000"/>
                </a:solidFill>
              </a:rPr>
              <a:t>v</a:t>
            </a:r>
            <a:r>
              <a:rPr dirty="0" spc="-1215">
                <a:solidFill>
                  <a:srgbClr val="FFFFFF"/>
                </a:solidFill>
              </a:rPr>
              <a:t>v</a:t>
            </a:r>
            <a:r>
              <a:rPr dirty="0" spc="-1215">
                <a:solidFill>
                  <a:srgbClr val="000000"/>
                </a:solidFill>
              </a:rPr>
              <a:t>i</a:t>
            </a:r>
            <a:r>
              <a:rPr dirty="0" spc="-1215">
                <a:solidFill>
                  <a:srgbClr val="FFFFFF"/>
                </a:solidFill>
              </a:rPr>
              <a:t>i</a:t>
            </a:r>
            <a:r>
              <a:rPr dirty="0" spc="-1215">
                <a:solidFill>
                  <a:srgbClr val="000000"/>
                </a:solidFill>
              </a:rPr>
              <a:t>e</a:t>
            </a:r>
            <a:r>
              <a:rPr dirty="0" spc="-1215">
                <a:solidFill>
                  <a:srgbClr val="FFFFFF"/>
                </a:solidFill>
              </a:rPr>
              <a:t>e</a:t>
            </a:r>
            <a:r>
              <a:rPr dirty="0" spc="-1215">
                <a:solidFill>
                  <a:srgbClr val="000000"/>
                </a:solidFill>
              </a:rPr>
              <a:t>w</a:t>
            </a:r>
            <a:r>
              <a:rPr dirty="0" spc="-1215">
                <a:solidFill>
                  <a:srgbClr val="FFFFFF"/>
                </a:solidFill>
              </a:rPr>
              <a:t>w </a:t>
            </a:r>
            <a:r>
              <a:rPr dirty="0" spc="-1019">
                <a:solidFill>
                  <a:srgbClr val="000000"/>
                </a:solidFill>
              </a:rPr>
              <a:t>o</a:t>
            </a:r>
            <a:r>
              <a:rPr dirty="0" spc="-1019">
                <a:solidFill>
                  <a:srgbClr val="FFFFFF"/>
                </a:solidFill>
              </a:rPr>
              <a:t>o</a:t>
            </a:r>
            <a:r>
              <a:rPr dirty="0" spc="-1019">
                <a:solidFill>
                  <a:srgbClr val="000000"/>
                </a:solidFill>
              </a:rPr>
              <a:t>f</a:t>
            </a:r>
            <a:r>
              <a:rPr dirty="0" spc="-1019">
                <a:solidFill>
                  <a:srgbClr val="FFFFFF"/>
                </a:solidFill>
              </a:rPr>
              <a:t>f </a:t>
            </a:r>
            <a:r>
              <a:rPr dirty="0" spc="-1025">
                <a:solidFill>
                  <a:srgbClr val="000000"/>
                </a:solidFill>
              </a:rPr>
              <a:t>C</a:t>
            </a:r>
            <a:r>
              <a:rPr dirty="0" spc="-1025">
                <a:solidFill>
                  <a:srgbClr val="FFFFFF"/>
                </a:solidFill>
              </a:rPr>
              <a:t>C</a:t>
            </a:r>
            <a:r>
              <a:rPr dirty="0" spc="-1025">
                <a:solidFill>
                  <a:srgbClr val="000000"/>
                </a:solidFill>
              </a:rPr>
              <a:t>l</a:t>
            </a:r>
            <a:r>
              <a:rPr dirty="0" spc="-1025">
                <a:solidFill>
                  <a:srgbClr val="FFFFFF"/>
                </a:solidFill>
              </a:rPr>
              <a:t>l</a:t>
            </a:r>
            <a:r>
              <a:rPr dirty="0" spc="-1025">
                <a:solidFill>
                  <a:srgbClr val="000000"/>
                </a:solidFill>
              </a:rPr>
              <a:t>u</a:t>
            </a:r>
            <a:r>
              <a:rPr dirty="0" spc="-1025">
                <a:solidFill>
                  <a:srgbClr val="FFFFFF"/>
                </a:solidFill>
              </a:rPr>
              <a:t>u</a:t>
            </a:r>
            <a:r>
              <a:rPr dirty="0" spc="-1025">
                <a:solidFill>
                  <a:srgbClr val="000000"/>
                </a:solidFill>
              </a:rPr>
              <a:t>s</a:t>
            </a:r>
            <a:r>
              <a:rPr dirty="0" spc="-1025">
                <a:solidFill>
                  <a:srgbClr val="FFFFFF"/>
                </a:solidFill>
              </a:rPr>
              <a:t>s</a:t>
            </a:r>
            <a:r>
              <a:rPr dirty="0" spc="-1025">
                <a:solidFill>
                  <a:srgbClr val="000000"/>
                </a:solidFill>
              </a:rPr>
              <a:t>t</a:t>
            </a:r>
            <a:r>
              <a:rPr dirty="0" spc="-1025">
                <a:solidFill>
                  <a:srgbClr val="FFFFFF"/>
                </a:solidFill>
              </a:rPr>
              <a:t>t</a:t>
            </a:r>
            <a:r>
              <a:rPr dirty="0" spc="-1025">
                <a:solidFill>
                  <a:srgbClr val="000000"/>
                </a:solidFill>
              </a:rPr>
              <a:t>e</a:t>
            </a:r>
            <a:r>
              <a:rPr dirty="0" spc="-1025">
                <a:solidFill>
                  <a:srgbClr val="FFFFFF"/>
                </a:solidFill>
              </a:rPr>
              <a:t>e</a:t>
            </a:r>
            <a:r>
              <a:rPr dirty="0" spc="-1025">
                <a:solidFill>
                  <a:srgbClr val="000000"/>
                </a:solidFill>
              </a:rPr>
              <a:t>r</a:t>
            </a:r>
            <a:r>
              <a:rPr dirty="0" spc="-1025">
                <a:solidFill>
                  <a:srgbClr val="FFFFFF"/>
                </a:solidFill>
              </a:rPr>
              <a:t>r</a:t>
            </a:r>
            <a:r>
              <a:rPr dirty="0" spc="-1025">
                <a:solidFill>
                  <a:srgbClr val="000000"/>
                </a:solidFill>
              </a:rPr>
              <a:t>i</a:t>
            </a:r>
            <a:r>
              <a:rPr dirty="0" spc="-1025">
                <a:solidFill>
                  <a:srgbClr val="FFFFFF"/>
                </a:solidFill>
              </a:rPr>
              <a:t>i</a:t>
            </a:r>
            <a:r>
              <a:rPr dirty="0" spc="-1025">
                <a:solidFill>
                  <a:srgbClr val="000000"/>
                </a:solidFill>
              </a:rPr>
              <a:t>n</a:t>
            </a:r>
            <a:r>
              <a:rPr dirty="0" spc="-1025">
                <a:solidFill>
                  <a:srgbClr val="FFFFFF"/>
                </a:solidFill>
              </a:rPr>
              <a:t>n</a:t>
            </a:r>
            <a:r>
              <a:rPr dirty="0" spc="-1025">
                <a:solidFill>
                  <a:srgbClr val="000000"/>
                </a:solidFill>
              </a:rPr>
              <a:t>g</a:t>
            </a:r>
            <a:r>
              <a:rPr dirty="0" spc="-1025">
                <a:solidFill>
                  <a:srgbClr val="FFFFFF"/>
                </a:solidFill>
              </a:rPr>
              <a:t>g</a:t>
            </a:r>
            <a:r>
              <a:rPr dirty="0" spc="-865">
                <a:solidFill>
                  <a:srgbClr val="FFFFFF"/>
                </a:solidFill>
              </a:rPr>
              <a:t> </a:t>
            </a:r>
            <a:r>
              <a:rPr dirty="0" spc="-1145">
                <a:solidFill>
                  <a:srgbClr val="000000"/>
                </a:solidFill>
              </a:rPr>
              <a:t>T</a:t>
            </a:r>
            <a:r>
              <a:rPr dirty="0" spc="-1145">
                <a:solidFill>
                  <a:srgbClr val="FFFFFF"/>
                </a:solidFill>
              </a:rPr>
              <a:t>T</a:t>
            </a:r>
            <a:r>
              <a:rPr dirty="0" spc="-1145">
                <a:solidFill>
                  <a:srgbClr val="000000"/>
                </a:solidFill>
              </a:rPr>
              <a:t>e</a:t>
            </a:r>
            <a:r>
              <a:rPr dirty="0" spc="-1145">
                <a:solidFill>
                  <a:srgbClr val="FFFFFF"/>
                </a:solidFill>
              </a:rPr>
              <a:t>e</a:t>
            </a:r>
            <a:r>
              <a:rPr dirty="0" spc="-1145">
                <a:solidFill>
                  <a:srgbClr val="000000"/>
                </a:solidFill>
              </a:rPr>
              <a:t>c</a:t>
            </a:r>
            <a:r>
              <a:rPr dirty="0" spc="-1145">
                <a:solidFill>
                  <a:srgbClr val="FFFFFF"/>
                </a:solidFill>
              </a:rPr>
              <a:t>c</a:t>
            </a:r>
            <a:r>
              <a:rPr dirty="0" spc="-1145">
                <a:solidFill>
                  <a:srgbClr val="000000"/>
                </a:solidFill>
              </a:rPr>
              <a:t>h</a:t>
            </a:r>
            <a:r>
              <a:rPr dirty="0" spc="-1145">
                <a:solidFill>
                  <a:srgbClr val="FFFFFF"/>
                </a:solidFill>
              </a:rPr>
              <a:t>h</a:t>
            </a:r>
            <a:r>
              <a:rPr dirty="0" spc="-1145">
                <a:solidFill>
                  <a:srgbClr val="000000"/>
                </a:solidFill>
              </a:rPr>
              <a:t>n</a:t>
            </a:r>
            <a:r>
              <a:rPr dirty="0" spc="-1145">
                <a:solidFill>
                  <a:srgbClr val="FFFFFF"/>
                </a:solidFill>
              </a:rPr>
              <a:t>n</a:t>
            </a:r>
            <a:r>
              <a:rPr dirty="0" spc="-1145">
                <a:solidFill>
                  <a:srgbClr val="000000"/>
                </a:solidFill>
              </a:rPr>
              <a:t>i</a:t>
            </a:r>
            <a:r>
              <a:rPr dirty="0" spc="-1145">
                <a:solidFill>
                  <a:srgbClr val="FFFFFF"/>
                </a:solidFill>
              </a:rPr>
              <a:t>i</a:t>
            </a:r>
            <a:r>
              <a:rPr dirty="0" spc="-1145">
                <a:solidFill>
                  <a:srgbClr val="000000"/>
                </a:solidFill>
              </a:rPr>
              <a:t>q</a:t>
            </a:r>
            <a:r>
              <a:rPr dirty="0" spc="-1145">
                <a:solidFill>
                  <a:srgbClr val="FFFFFF"/>
                </a:solidFill>
              </a:rPr>
              <a:t>q</a:t>
            </a:r>
            <a:r>
              <a:rPr dirty="0" spc="-1145">
                <a:solidFill>
                  <a:srgbClr val="000000"/>
                </a:solidFill>
              </a:rPr>
              <a:t>u</a:t>
            </a:r>
            <a:r>
              <a:rPr dirty="0" spc="-1145">
                <a:solidFill>
                  <a:srgbClr val="FFFFFF"/>
                </a:solidFill>
              </a:rPr>
              <a:t>u</a:t>
            </a:r>
            <a:r>
              <a:rPr dirty="0" spc="-1145">
                <a:solidFill>
                  <a:srgbClr val="000000"/>
                </a:solidFill>
              </a:rPr>
              <a:t>e</a:t>
            </a:r>
            <a:r>
              <a:rPr dirty="0" spc="-1145">
                <a:solidFill>
                  <a:srgbClr val="FFFFFF"/>
                </a:solidFill>
              </a:rPr>
              <a:t>e</a:t>
            </a:r>
            <a:r>
              <a:rPr dirty="0" spc="-1145">
                <a:solidFill>
                  <a:srgbClr val="000000"/>
                </a:solidFill>
              </a:rPr>
              <a:t>s</a:t>
            </a:r>
            <a:r>
              <a:rPr dirty="0" spc="-1145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10719815" y="5995415"/>
            <a:ext cx="805815" cy="491490"/>
          </a:xfrm>
          <a:custGeom>
            <a:avLst/>
            <a:gdLst/>
            <a:ahLst/>
            <a:cxnLst/>
            <a:rect l="l" t="t" r="r" b="b"/>
            <a:pathLst>
              <a:path w="805815" h="491489">
                <a:moveTo>
                  <a:pt x="0" y="0"/>
                </a:moveTo>
                <a:lnTo>
                  <a:pt x="805433" y="0"/>
                </a:lnTo>
                <a:lnTo>
                  <a:pt x="805433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5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r>
              <a:rPr dirty="0" sz="12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41464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65"/>
              <a:t>The </a:t>
            </a:r>
            <a:r>
              <a:rPr dirty="0" spc="-235"/>
              <a:t>Problem </a:t>
            </a:r>
            <a:r>
              <a:rPr dirty="0" spc="-170"/>
              <a:t>of</a:t>
            </a:r>
            <a:r>
              <a:rPr dirty="0" spc="-420"/>
              <a:t> </a:t>
            </a:r>
            <a:r>
              <a:rPr dirty="0" spc="-195"/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480819"/>
            <a:ext cx="8485505" cy="3273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Given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-35" b="1">
                <a:solidFill>
                  <a:srgbClr val="C2132D"/>
                </a:solidFill>
                <a:latin typeface="Arial"/>
                <a:cs typeface="Arial"/>
              </a:rPr>
              <a:t>set </a:t>
            </a:r>
            <a:r>
              <a:rPr dirty="0" sz="1800" spc="-20" b="1">
                <a:solidFill>
                  <a:srgbClr val="C2132D"/>
                </a:solidFill>
                <a:latin typeface="Arial"/>
                <a:cs typeface="Arial"/>
              </a:rPr>
              <a:t>of </a:t>
            </a: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(high-dimensional) </a:t>
            </a: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observations</a:t>
            </a:r>
            <a:r>
              <a:rPr dirty="0" sz="1800" spc="-7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notion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3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distance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between  observations, </a:t>
            </a:r>
            <a:r>
              <a:rPr dirty="0" sz="1800" spc="-85" b="1">
                <a:solidFill>
                  <a:srgbClr val="C2132D"/>
                </a:solidFill>
                <a:latin typeface="Arial"/>
                <a:cs typeface="Arial"/>
              </a:rPr>
              <a:t>group </a:t>
            </a: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the </a:t>
            </a: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observations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into </a:t>
            </a: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some </a:t>
            </a: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number </a:t>
            </a:r>
            <a:r>
              <a:rPr dirty="0" sz="1800" spc="-20" b="1">
                <a:solidFill>
                  <a:srgbClr val="C2132D"/>
                </a:solidFill>
                <a:latin typeface="Arial"/>
                <a:cs typeface="Arial"/>
              </a:rPr>
              <a:t>of </a:t>
            </a: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clusters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so</a:t>
            </a:r>
            <a:r>
              <a:rPr dirty="0" sz="1800" spc="-2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that: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Members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cluster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close/similar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each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other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Members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different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clusters</a:t>
            </a:r>
            <a:r>
              <a:rPr dirty="0" sz="1800" spc="-3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dissimilar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Usually: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observations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high-dimensional</a:t>
            </a:r>
            <a:r>
              <a:rPr dirty="0" sz="1800" spc="-27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space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Similarity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37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defined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using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distance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measure, 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e.g.,</a:t>
            </a:r>
            <a:endParaRPr sz="1800">
              <a:latin typeface="Arial"/>
              <a:cs typeface="Arial"/>
            </a:endParaRPr>
          </a:p>
          <a:p>
            <a:pPr lvl="2" marL="908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908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Euclidean,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Cosine,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Jaccard,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edit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distance,</a:t>
            </a:r>
            <a:r>
              <a:rPr dirty="0" sz="1800" spc="-2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6205537"/>
            <a:ext cx="6867525" cy="0"/>
          </a:xfrm>
          <a:custGeom>
            <a:avLst/>
            <a:gdLst/>
            <a:ahLst/>
            <a:cxnLst/>
            <a:rect l="l" t="t" r="r" b="b"/>
            <a:pathLst>
              <a:path w="6867525" h="0">
                <a:moveTo>
                  <a:pt x="0" y="0"/>
                </a:moveTo>
                <a:lnTo>
                  <a:pt x="68675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215062"/>
            <a:ext cx="6867525" cy="0"/>
          </a:xfrm>
          <a:custGeom>
            <a:avLst/>
            <a:gdLst/>
            <a:ahLst/>
            <a:cxnLst/>
            <a:rect l="l" t="t" r="r" b="b"/>
            <a:pathLst>
              <a:path w="6867525" h="0">
                <a:moveTo>
                  <a:pt x="0" y="0"/>
                </a:moveTo>
                <a:lnTo>
                  <a:pt x="68675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72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6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22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6287356"/>
            <a:ext cx="6897370" cy="2133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50" spc="-5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1250" spc="-3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Leskovec,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A.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585D60"/>
                </a:solidFill>
                <a:latin typeface="Arial"/>
                <a:cs typeface="Arial"/>
              </a:rPr>
              <a:t>Rajaraman,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Ullman: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585D60"/>
                </a:solidFill>
                <a:latin typeface="Arial"/>
                <a:cs typeface="Arial"/>
              </a:rPr>
              <a:t>Massive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Datasets,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3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http://www.mmds.org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2012" y="1644650"/>
            <a:ext cx="27285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" b="1">
                <a:solidFill>
                  <a:srgbClr val="C2132D"/>
                </a:solidFill>
                <a:latin typeface="Arial"/>
                <a:cs typeface="Arial"/>
              </a:rPr>
              <a:t>Meet </a:t>
            </a: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the Palmer</a:t>
            </a:r>
            <a:r>
              <a:rPr dirty="0" sz="1800" spc="-19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penguins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085975"/>
            <a:ext cx="4362449" cy="2600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455965" y="1644650"/>
            <a:ext cx="3946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Anatomical description </a:t>
            </a:r>
            <a:r>
              <a:rPr dirty="0" sz="1800" spc="-20" b="1">
                <a:solidFill>
                  <a:srgbClr val="C2132D"/>
                </a:solidFill>
                <a:latin typeface="Arial"/>
                <a:cs typeface="Arial"/>
              </a:rPr>
              <a:t>of </a:t>
            </a: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the</a:t>
            </a:r>
            <a:r>
              <a:rPr dirty="0" sz="1800" spc="-13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dataset: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70618" y="2085975"/>
            <a:ext cx="4015653" cy="26223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468820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5"/>
              <a:t>Clustering </a:t>
            </a:r>
            <a:r>
              <a:rPr dirty="0" spc="-235"/>
              <a:t>in </a:t>
            </a:r>
            <a:r>
              <a:rPr dirty="0" spc="-140"/>
              <a:t>2D</a:t>
            </a:r>
            <a:r>
              <a:rPr dirty="0" spc="-500"/>
              <a:t> </a:t>
            </a:r>
            <a:r>
              <a:rPr dirty="0" spc="-140"/>
              <a:t>Space</a:t>
            </a:r>
          </a:p>
        </p:txBody>
      </p:sp>
      <p:sp>
        <p:nvSpPr>
          <p:cNvPr id="7" name="object 7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72250" y="6293686"/>
            <a:ext cx="126503" cy="975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01700" y="6112818"/>
            <a:ext cx="926719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3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CC-0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license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accordance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Palmer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Station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LTER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Data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Policy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and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 spc="-1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the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LTER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Data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 spc="6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Access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Policy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for</a:t>
            </a:r>
            <a:r>
              <a:rPr dirty="0" sz="850" spc="-4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Type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I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data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.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artwork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Allison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Horst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endParaRPr sz="85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10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01700" y="6274743"/>
            <a:ext cx="565658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at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">
                <a:solidFill>
                  <a:srgbClr val="83D5D3"/>
                </a:solidFill>
                <a:latin typeface="Trebuchet MS"/>
                <a:cs typeface="Trebuchet MS"/>
                <a:hlinkClick r:id="rId7"/>
              </a:rPr>
              <a:t>https://allisonhorst.github.io/palmerpenguins/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downloaded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using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83D5D3"/>
                </a:solidFill>
                <a:latin typeface="Trebuchet MS"/>
                <a:cs typeface="Trebuchet MS"/>
                <a:hlinkClick r:id="rId7"/>
              </a:rPr>
              <a:t>palmerpenguins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14410" y="6274743"/>
            <a:ext cx="47752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package.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411084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5"/>
              <a:t>Clustering </a:t>
            </a:r>
            <a:r>
              <a:rPr dirty="0" spc="-235"/>
              <a:t>in </a:t>
            </a:r>
            <a:r>
              <a:rPr dirty="0" spc="-140"/>
              <a:t>2D </a:t>
            </a:r>
            <a:r>
              <a:rPr dirty="0" spc="-210"/>
              <a:t>Space:</a:t>
            </a:r>
            <a:r>
              <a:rPr dirty="0" spc="-605"/>
              <a:t> </a:t>
            </a:r>
            <a:r>
              <a:rPr dirty="0" spc="-245"/>
              <a:t>Formulation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223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4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pc="-50" b="0">
                <a:solidFill>
                  <a:srgbClr val="585D60"/>
                </a:solidFill>
                <a:latin typeface="Arial"/>
                <a:cs typeface="Arial"/>
              </a:rPr>
              <a:t>Given </a:t>
            </a:r>
            <a:r>
              <a:rPr dirty="0" spc="-25" b="0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pc="-35"/>
              <a:t>set </a:t>
            </a:r>
            <a:r>
              <a:rPr dirty="0" spc="-20"/>
              <a:t>of </a:t>
            </a:r>
            <a:r>
              <a:rPr dirty="0" spc="-60"/>
              <a:t>observations </a:t>
            </a:r>
            <a:r>
              <a:rPr dirty="0" spc="-40"/>
              <a:t>(each </a:t>
            </a:r>
            <a:r>
              <a:rPr dirty="0" spc="-60"/>
              <a:t>containing </a:t>
            </a:r>
            <a:r>
              <a:rPr dirty="0" spc="-40"/>
              <a:t>bill </a:t>
            </a:r>
            <a:r>
              <a:rPr dirty="0" spc="-50"/>
              <a:t>length </a:t>
            </a:r>
            <a:r>
              <a:rPr dirty="0" spc="-75"/>
              <a:t>and </a:t>
            </a:r>
            <a:r>
              <a:rPr dirty="0" spc="-60"/>
              <a:t>depth)</a:t>
            </a:r>
            <a:r>
              <a:rPr dirty="0" spc="-60" b="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pc="40" b="0">
                <a:solidFill>
                  <a:srgbClr val="585D60"/>
                </a:solidFill>
                <a:latin typeface="Arial"/>
                <a:cs typeface="Arial"/>
              </a:rPr>
              <a:t>with </a:t>
            </a:r>
            <a:r>
              <a:rPr dirty="0" spc="-25" b="0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pc="25" b="0">
                <a:solidFill>
                  <a:srgbClr val="585D60"/>
                </a:solidFill>
                <a:latin typeface="Arial"/>
                <a:cs typeface="Arial"/>
              </a:rPr>
              <a:t>notion</a:t>
            </a:r>
            <a:r>
              <a:rPr dirty="0" spc="-24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pc="75" b="0">
                <a:solidFill>
                  <a:srgbClr val="585D60"/>
                </a:solidFill>
                <a:latin typeface="Arial"/>
                <a:cs typeface="Arial"/>
              </a:rPr>
              <a:t>of</a:t>
            </a:r>
          </a:p>
          <a:p>
            <a:pPr marL="146050">
              <a:lnSpc>
                <a:spcPct val="100000"/>
              </a:lnSpc>
              <a:spcBef>
                <a:spcPts val="390"/>
              </a:spcBef>
            </a:pPr>
            <a:r>
              <a:rPr dirty="0" spc="-75"/>
              <a:t>Euclidean </a:t>
            </a:r>
            <a:r>
              <a:rPr dirty="0" spc="-50"/>
              <a:t>distance </a:t>
            </a:r>
            <a:r>
              <a:rPr dirty="0" b="0">
                <a:solidFill>
                  <a:srgbClr val="585D60"/>
                </a:solidFill>
                <a:latin typeface="Arial"/>
                <a:cs typeface="Arial"/>
              </a:rPr>
              <a:t>between observations, </a:t>
            </a:r>
            <a:r>
              <a:rPr dirty="0" spc="-85"/>
              <a:t>group </a:t>
            </a:r>
            <a:r>
              <a:rPr dirty="0" spc="-40"/>
              <a:t>the </a:t>
            </a:r>
            <a:r>
              <a:rPr dirty="0" spc="-60"/>
              <a:t>observations </a:t>
            </a:r>
            <a:r>
              <a:rPr dirty="0" spc="30" b="0">
                <a:solidFill>
                  <a:srgbClr val="585D60"/>
                </a:solidFill>
                <a:latin typeface="Arial"/>
                <a:cs typeface="Arial"/>
              </a:rPr>
              <a:t>into </a:t>
            </a:r>
            <a:r>
              <a:rPr dirty="0" spc="30"/>
              <a:t>3 </a:t>
            </a:r>
            <a:r>
              <a:rPr dirty="0" spc="-60"/>
              <a:t>clusters</a:t>
            </a:r>
            <a:r>
              <a:rPr dirty="0" spc="-60" b="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pc="25" b="0">
                <a:solidFill>
                  <a:srgbClr val="585D60"/>
                </a:solidFill>
                <a:latin typeface="Arial"/>
                <a:cs typeface="Arial"/>
              </a:rPr>
              <a:t>so</a:t>
            </a:r>
            <a:r>
              <a:rPr dirty="0" spc="-29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pc="15" b="0">
                <a:solidFill>
                  <a:srgbClr val="585D60"/>
                </a:solidFill>
                <a:latin typeface="Arial"/>
                <a:cs typeface="Arial"/>
              </a:rPr>
              <a:t>that:</a:t>
            </a: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Members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cluster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close/similar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each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other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Members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different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clusters</a:t>
            </a:r>
            <a:r>
              <a:rPr dirty="0" sz="1800" spc="-3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dissimilar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pc="10" b="0">
                <a:solidFill>
                  <a:srgbClr val="585D60"/>
                </a:solidFill>
                <a:latin typeface="Arial"/>
                <a:cs typeface="Arial"/>
              </a:rPr>
              <a:t>Note</a:t>
            </a:r>
            <a:r>
              <a:rPr dirty="0" spc="-5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pc="-5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pc="-30" b="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pc="-5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pc="15" b="0">
                <a:solidFill>
                  <a:srgbClr val="585D60"/>
                </a:solidFill>
                <a:latin typeface="Arial"/>
                <a:cs typeface="Arial"/>
              </a:rPr>
              <a:t>assuming</a:t>
            </a:r>
            <a:r>
              <a:rPr dirty="0" spc="-5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pc="35" b="0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pc="-5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pc="-5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pc="20" b="0">
                <a:solidFill>
                  <a:srgbClr val="585D60"/>
                </a:solidFill>
                <a:latin typeface="Arial"/>
                <a:cs typeface="Arial"/>
              </a:rPr>
              <a:t>did</a:t>
            </a:r>
            <a:r>
              <a:rPr dirty="0" spc="-5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pc="35" b="0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pc="-5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pc="-35" b="0">
                <a:solidFill>
                  <a:srgbClr val="585D60"/>
                </a:solidFill>
                <a:latin typeface="Arial"/>
                <a:cs typeface="Arial"/>
              </a:rPr>
              <a:t>have</a:t>
            </a:r>
            <a:r>
              <a:rPr dirty="0" spc="-5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pc="-25" b="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pc="-5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pc="10" b="0">
                <a:solidFill>
                  <a:srgbClr val="585D60"/>
                </a:solidFill>
                <a:latin typeface="Arial"/>
                <a:cs typeface="Arial"/>
              </a:rPr>
              <a:t>"label/type"</a:t>
            </a:r>
            <a:r>
              <a:rPr dirty="0" spc="-5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pc="50" b="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pc="-5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pc="-10" b="0">
                <a:solidFill>
                  <a:srgbClr val="585D60"/>
                </a:solidFill>
                <a:latin typeface="Arial"/>
                <a:cs typeface="Arial"/>
              </a:rPr>
              <a:t>each</a:t>
            </a:r>
            <a:r>
              <a:rPr dirty="0" spc="-55" b="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pc="-5" b="0">
                <a:solidFill>
                  <a:srgbClr val="585D60"/>
                </a:solidFill>
                <a:latin typeface="Arial"/>
                <a:cs typeface="Arial"/>
              </a:rPr>
              <a:t>penguin.</a:t>
            </a:r>
          </a:p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72250" y="6293686"/>
            <a:ext cx="126503" cy="975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6112818"/>
            <a:ext cx="926719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3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CC-0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license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accordance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Palmer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Station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LTER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Data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Policy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and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-1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the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LTER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Data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6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Access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Policy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for</a:t>
            </a:r>
            <a:r>
              <a:rPr dirty="0" sz="850" spc="-4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Type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I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data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.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artwork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Allison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Horst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10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01700" y="6274743"/>
            <a:ext cx="565658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at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https://allisonhorst.github.io/palmerpenguins/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downloaded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using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palmerpenguins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14410" y="6274743"/>
            <a:ext cx="47752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package.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687641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5"/>
              <a:t>Clustering </a:t>
            </a:r>
            <a:r>
              <a:rPr dirty="0" spc="-235"/>
              <a:t>in </a:t>
            </a:r>
            <a:r>
              <a:rPr dirty="0" spc="-140"/>
              <a:t>2D </a:t>
            </a:r>
            <a:r>
              <a:rPr dirty="0" spc="-210"/>
              <a:t>Space: </a:t>
            </a:r>
            <a:r>
              <a:rPr dirty="0" spc="-250"/>
              <a:t>Raw</a:t>
            </a:r>
            <a:r>
              <a:rPr dirty="0" spc="-690"/>
              <a:t> </a:t>
            </a:r>
            <a:r>
              <a:rPr dirty="0" spc="-235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1011364" y="1630425"/>
            <a:ext cx="9493285" cy="3954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72250" y="6293686"/>
            <a:ext cx="126503" cy="975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6112818"/>
            <a:ext cx="926719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3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CC-0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license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accordance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Palmer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Station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LTER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Data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Policy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and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-1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the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LTER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Data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6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Access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Policy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for</a:t>
            </a:r>
            <a:r>
              <a:rPr dirty="0" sz="850" spc="-4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Type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I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data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.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artwork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Allison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Horst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10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01700" y="6274743"/>
            <a:ext cx="565658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at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https://allisonhorst.github.io/palmerpenguins/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downloaded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using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palmerpenguins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14410" y="6274743"/>
            <a:ext cx="47752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package.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62647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5"/>
              <a:t>Clustering </a:t>
            </a:r>
            <a:r>
              <a:rPr dirty="0" spc="-235"/>
              <a:t>in </a:t>
            </a:r>
            <a:r>
              <a:rPr dirty="0" spc="-140"/>
              <a:t>2D </a:t>
            </a:r>
            <a:r>
              <a:rPr dirty="0" spc="-210"/>
              <a:t>Space: </a:t>
            </a:r>
            <a:r>
              <a:rPr dirty="0" spc="-240"/>
              <a:t>Labeled </a:t>
            </a:r>
            <a:r>
              <a:rPr dirty="0" spc="-250"/>
              <a:t>Raw</a:t>
            </a:r>
            <a:r>
              <a:rPr dirty="0" spc="-710"/>
              <a:t> </a:t>
            </a:r>
            <a:r>
              <a:rPr dirty="0" spc="-235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1011364" y="1630425"/>
            <a:ext cx="9493285" cy="3954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72250" y="6293686"/>
            <a:ext cx="126503" cy="975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6112818"/>
            <a:ext cx="926719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3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CC-0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license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accordance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Palmer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Station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LTER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Data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Policy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and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-1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the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LTER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Data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6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Access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Policy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for</a:t>
            </a:r>
            <a:r>
              <a:rPr dirty="0" sz="850" spc="-4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Type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I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data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.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artwork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Allison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Horst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10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01700" y="6274743"/>
            <a:ext cx="565658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at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https://allisonhorst.github.io/palmerpenguins/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downloaded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using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palmerpenguins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14410" y="6274743"/>
            <a:ext cx="47752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package.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68299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5"/>
              <a:t>Clustering </a:t>
            </a:r>
            <a:r>
              <a:rPr dirty="0" spc="-235"/>
              <a:t>in </a:t>
            </a:r>
            <a:r>
              <a:rPr dirty="0" spc="-140"/>
              <a:t>2D </a:t>
            </a:r>
            <a:r>
              <a:rPr dirty="0" spc="-210"/>
              <a:t>Space: </a:t>
            </a:r>
            <a:r>
              <a:rPr dirty="0" spc="-195"/>
              <a:t>Clustering</a:t>
            </a:r>
            <a:r>
              <a:rPr dirty="0" spc="-690"/>
              <a:t> </a:t>
            </a:r>
            <a:r>
              <a:rPr dirty="0" spc="-140"/>
              <a:t>Results</a:t>
            </a:r>
          </a:p>
        </p:txBody>
      </p:sp>
      <p:sp>
        <p:nvSpPr>
          <p:cNvPr id="3" name="object 3"/>
          <p:cNvSpPr/>
          <p:nvPr/>
        </p:nvSpPr>
        <p:spPr>
          <a:xfrm>
            <a:off x="1011364" y="1630425"/>
            <a:ext cx="9493285" cy="3954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72250" y="6293686"/>
            <a:ext cx="126503" cy="975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6112818"/>
            <a:ext cx="926719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3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CC-0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license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accordance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Palmer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Station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LTER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Data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Policy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and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-1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the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LTER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Data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6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Access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Policy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for</a:t>
            </a:r>
            <a:r>
              <a:rPr dirty="0" sz="850" spc="-4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Type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I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data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.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artwork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Allison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Horst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10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01700" y="6274743"/>
            <a:ext cx="565658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at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https://allisonhorst.github.io/palmerpenguins/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downloaded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using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palmerpenguins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14410" y="6274743"/>
            <a:ext cx="47752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package.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42518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00"/>
              <a:t>Comments </a:t>
            </a:r>
            <a:r>
              <a:rPr dirty="0" spc="-190"/>
              <a:t>on </a:t>
            </a:r>
            <a:r>
              <a:rPr dirty="0" spc="-320"/>
              <a:t>the </a:t>
            </a:r>
            <a:r>
              <a:rPr dirty="0" spc="-140"/>
              <a:t>2D </a:t>
            </a:r>
            <a:r>
              <a:rPr dirty="0" spc="-195"/>
              <a:t>Clustering</a:t>
            </a:r>
            <a:r>
              <a:rPr dirty="0" spc="-615"/>
              <a:t> </a:t>
            </a:r>
            <a:r>
              <a:rPr dirty="0" spc="-235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480819"/>
            <a:ext cx="9305290" cy="414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0955">
              <a:lnSpc>
                <a:spcPct val="118100"/>
              </a:lnSpc>
              <a:spcBef>
                <a:spcPts val="100"/>
              </a:spcBef>
            </a:pPr>
            <a:r>
              <a:rPr dirty="0" sz="1800" spc="-75">
                <a:solidFill>
                  <a:srgbClr val="585D60"/>
                </a:solidFill>
                <a:latin typeface="Arial"/>
                <a:cs typeface="Arial"/>
              </a:rPr>
              <a:t>Even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though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2D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Space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clustering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problem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easiest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problem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"solve"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since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benefit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by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plotting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data,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clustering is</a:t>
            </a:r>
            <a:r>
              <a:rPr dirty="0" sz="1800" spc="-34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hard</a:t>
            </a: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Some </a:t>
            </a: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important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questions:</a:t>
            </a:r>
            <a:endParaRPr sz="1800">
              <a:latin typeface="Arial"/>
              <a:cs typeface="Arial"/>
            </a:endParaRPr>
          </a:p>
          <a:p>
            <a:pPr marL="393065" marR="5080" indent="-133985">
              <a:lnSpc>
                <a:spcPct val="114599"/>
              </a:lnSpc>
              <a:spcBef>
                <a:spcPts val="187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all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variables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being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numerical,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often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assume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5" b="1">
                <a:solidFill>
                  <a:srgbClr val="C2132D"/>
                </a:solidFill>
                <a:latin typeface="Arial"/>
                <a:cs typeface="Arial"/>
              </a:rPr>
              <a:t>Euclidean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distance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.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 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problematic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when:</a:t>
            </a:r>
            <a:endParaRPr sz="1800">
              <a:latin typeface="Arial"/>
              <a:cs typeface="Arial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variables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have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significantly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different</a:t>
            </a:r>
            <a:r>
              <a:rPr dirty="0" sz="1800" spc="-2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scales</a:t>
            </a:r>
            <a:endParaRPr sz="1800">
              <a:latin typeface="Arial"/>
              <a:cs typeface="Arial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including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information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pertinent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grouping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16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do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you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determine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number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clusters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(</a:t>
            </a:r>
            <a:r>
              <a:rPr dirty="0" sz="1850" spc="-30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)?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8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represent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cluster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many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points?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determine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"nearness"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clusters?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12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27964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45"/>
              <a:t>An </a:t>
            </a:r>
            <a:r>
              <a:rPr dirty="0" spc="-290"/>
              <a:t>Overview </a:t>
            </a:r>
            <a:r>
              <a:rPr dirty="0" spc="-170"/>
              <a:t>of </a:t>
            </a:r>
            <a:r>
              <a:rPr dirty="0" spc="-195"/>
              <a:t>Clustering</a:t>
            </a:r>
            <a:r>
              <a:rPr dirty="0" spc="-595"/>
              <a:t> </a:t>
            </a:r>
            <a:r>
              <a:rPr dirty="0" spc="-13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533525"/>
            <a:ext cx="9696448" cy="29622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077108"/>
            <a:ext cx="9326880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1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A.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Fahad,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et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30">
                <a:solidFill>
                  <a:srgbClr val="585D60"/>
                </a:solidFill>
                <a:latin typeface="Arial"/>
                <a:cs typeface="Arial"/>
              </a:rPr>
              <a:t>al.,"A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Survey </a:t>
            </a:r>
            <a:r>
              <a:rPr dirty="0" sz="850" spc="50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Clustering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Algorithms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Big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Data: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Taxonomy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Empirical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Analysis"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0">
                <a:solidFill>
                  <a:srgbClr val="585D60"/>
                </a:solidFill>
                <a:latin typeface="Arial"/>
                <a:cs typeface="Arial"/>
              </a:rPr>
              <a:t>IEEE</a:t>
            </a:r>
            <a:r>
              <a:rPr dirty="0" sz="8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Transactions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Emerging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Topics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Computing,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vol.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2,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no.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03,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pp.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267-279, 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2014.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https://doi.org/10.1109/TETC.2014.2330519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13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69109" y="2933458"/>
            <a:ext cx="130175" cy="614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645"/>
              </a:lnSpc>
            </a:pPr>
            <a:r>
              <a:rPr dirty="0" sz="4100" spc="-1510">
                <a:latin typeface="Trebuchet MS"/>
                <a:cs typeface="Trebuchet MS"/>
              </a:rPr>
              <a:t>-</a:t>
            </a:r>
            <a:r>
              <a:rPr dirty="0" sz="4100" spc="-484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3967" y="2758440"/>
            <a:ext cx="4407535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41935">
              <a:lnSpc>
                <a:spcPct val="100000"/>
              </a:lnSpc>
              <a:spcBef>
                <a:spcPts val="1105"/>
              </a:spcBef>
            </a:pPr>
            <a:r>
              <a:rPr dirty="0" sz="2900" spc="-440" i="1">
                <a:solidFill>
                  <a:srgbClr val="000000"/>
                </a:solidFill>
                <a:latin typeface="Garamond"/>
                <a:cs typeface="Garamond"/>
              </a:rPr>
              <a:t>k</a:t>
            </a:r>
            <a:r>
              <a:rPr dirty="0" sz="2900" spc="-440" i="1">
                <a:solidFill>
                  <a:srgbClr val="FFFFFF"/>
                </a:solidFill>
                <a:latin typeface="Garamond"/>
                <a:cs typeface="Garamond"/>
              </a:rPr>
              <a:t>k</a:t>
            </a:r>
            <a:r>
              <a:rPr dirty="0" sz="2900" spc="-260" i="1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pc="-1255">
                <a:solidFill>
                  <a:srgbClr val="000000"/>
                </a:solidFill>
              </a:rPr>
              <a:t>m</a:t>
            </a:r>
            <a:r>
              <a:rPr dirty="0" spc="-1255">
                <a:solidFill>
                  <a:srgbClr val="FFFFFF"/>
                </a:solidFill>
              </a:rPr>
              <a:t>m</a:t>
            </a:r>
            <a:r>
              <a:rPr dirty="0" spc="-1255">
                <a:solidFill>
                  <a:srgbClr val="000000"/>
                </a:solidFill>
              </a:rPr>
              <a:t>e</a:t>
            </a:r>
            <a:r>
              <a:rPr dirty="0" spc="-1255">
                <a:solidFill>
                  <a:srgbClr val="FFFFFF"/>
                </a:solidFill>
              </a:rPr>
              <a:t>e</a:t>
            </a:r>
            <a:r>
              <a:rPr dirty="0" spc="-1255">
                <a:solidFill>
                  <a:srgbClr val="000000"/>
                </a:solidFill>
              </a:rPr>
              <a:t>a</a:t>
            </a:r>
            <a:r>
              <a:rPr dirty="0" spc="-1255">
                <a:solidFill>
                  <a:srgbClr val="FFFFFF"/>
                </a:solidFill>
              </a:rPr>
              <a:t>a</a:t>
            </a:r>
            <a:r>
              <a:rPr dirty="0" spc="-1255">
                <a:solidFill>
                  <a:srgbClr val="000000"/>
                </a:solidFill>
              </a:rPr>
              <a:t>n</a:t>
            </a:r>
            <a:r>
              <a:rPr dirty="0" spc="-1255">
                <a:solidFill>
                  <a:srgbClr val="FFFFFF"/>
                </a:solidFill>
              </a:rPr>
              <a:t>n</a:t>
            </a:r>
            <a:r>
              <a:rPr dirty="0" spc="-1255">
                <a:solidFill>
                  <a:srgbClr val="000000"/>
                </a:solidFill>
              </a:rPr>
              <a:t>s</a:t>
            </a:r>
            <a:r>
              <a:rPr dirty="0" spc="-1255">
                <a:solidFill>
                  <a:srgbClr val="FFFFFF"/>
                </a:solidFill>
              </a:rPr>
              <a:t>s</a:t>
            </a:r>
            <a:r>
              <a:rPr dirty="0" spc="-275">
                <a:solidFill>
                  <a:srgbClr val="FFFFFF"/>
                </a:solidFill>
              </a:rPr>
              <a:t> </a:t>
            </a:r>
            <a:r>
              <a:rPr dirty="0" spc="-1110">
                <a:solidFill>
                  <a:srgbClr val="000000"/>
                </a:solidFill>
              </a:rPr>
              <a:t>A</a:t>
            </a:r>
            <a:r>
              <a:rPr dirty="0" spc="-1110">
                <a:solidFill>
                  <a:srgbClr val="FFFFFF"/>
                </a:solidFill>
              </a:rPr>
              <a:t>A</a:t>
            </a:r>
            <a:r>
              <a:rPr dirty="0" spc="-1110">
                <a:solidFill>
                  <a:srgbClr val="000000"/>
                </a:solidFill>
              </a:rPr>
              <a:t>l</a:t>
            </a:r>
            <a:r>
              <a:rPr dirty="0" spc="-1110">
                <a:solidFill>
                  <a:srgbClr val="FFFFFF"/>
                </a:solidFill>
              </a:rPr>
              <a:t>l</a:t>
            </a:r>
            <a:r>
              <a:rPr dirty="0" spc="-1110">
                <a:solidFill>
                  <a:srgbClr val="000000"/>
                </a:solidFill>
              </a:rPr>
              <a:t>g</a:t>
            </a:r>
            <a:r>
              <a:rPr dirty="0" spc="-1110">
                <a:solidFill>
                  <a:srgbClr val="FFFFFF"/>
                </a:solidFill>
              </a:rPr>
              <a:t>g</a:t>
            </a:r>
            <a:r>
              <a:rPr dirty="0" spc="-1110">
                <a:solidFill>
                  <a:srgbClr val="000000"/>
                </a:solidFill>
              </a:rPr>
              <a:t>o</a:t>
            </a:r>
            <a:r>
              <a:rPr dirty="0" spc="-1110">
                <a:solidFill>
                  <a:srgbClr val="FFFFFF"/>
                </a:solidFill>
              </a:rPr>
              <a:t>o</a:t>
            </a:r>
            <a:r>
              <a:rPr dirty="0" spc="-1110">
                <a:solidFill>
                  <a:srgbClr val="000000"/>
                </a:solidFill>
              </a:rPr>
              <a:t>r</a:t>
            </a:r>
            <a:r>
              <a:rPr dirty="0" spc="-1110">
                <a:solidFill>
                  <a:srgbClr val="FFFFFF"/>
                </a:solidFill>
              </a:rPr>
              <a:t>r</a:t>
            </a:r>
            <a:r>
              <a:rPr dirty="0" spc="-1110">
                <a:solidFill>
                  <a:srgbClr val="000000"/>
                </a:solidFill>
              </a:rPr>
              <a:t>i</a:t>
            </a:r>
            <a:r>
              <a:rPr dirty="0" spc="-1110">
                <a:solidFill>
                  <a:srgbClr val="FFFFFF"/>
                </a:solidFill>
              </a:rPr>
              <a:t>i</a:t>
            </a:r>
            <a:r>
              <a:rPr dirty="0" spc="-1110">
                <a:solidFill>
                  <a:srgbClr val="000000"/>
                </a:solidFill>
              </a:rPr>
              <a:t>t</a:t>
            </a:r>
            <a:r>
              <a:rPr dirty="0" spc="-1110">
                <a:solidFill>
                  <a:srgbClr val="FFFFFF"/>
                </a:solidFill>
              </a:rPr>
              <a:t>t</a:t>
            </a:r>
            <a:r>
              <a:rPr dirty="0" spc="-1110">
                <a:solidFill>
                  <a:srgbClr val="000000"/>
                </a:solidFill>
              </a:rPr>
              <a:t>h</a:t>
            </a:r>
            <a:r>
              <a:rPr dirty="0" spc="-1110">
                <a:solidFill>
                  <a:srgbClr val="FFFFFF"/>
                </a:solidFill>
              </a:rPr>
              <a:t>h</a:t>
            </a:r>
            <a:r>
              <a:rPr dirty="0" spc="-1110">
                <a:solidFill>
                  <a:srgbClr val="000000"/>
                </a:solidFill>
              </a:rPr>
              <a:t>m</a:t>
            </a:r>
            <a:r>
              <a:rPr dirty="0" spc="-1110">
                <a:solidFill>
                  <a:srgbClr val="FFFFFF"/>
                </a:solidFill>
              </a:rPr>
              <a:t>m</a:t>
            </a:r>
            <a:endParaRPr sz="29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4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4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260794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95"/>
              <a:t>General</a:t>
            </a:r>
            <a:r>
              <a:rPr dirty="0" spc="-355"/>
              <a:t> </a:t>
            </a:r>
            <a:r>
              <a:rPr dirty="0" spc="-210"/>
              <a:t>Idea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3004819"/>
            <a:ext cx="9588500" cy="2292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68910">
              <a:lnSpc>
                <a:spcPct val="1181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C2132D"/>
                </a:solidFill>
                <a:latin typeface="Arial"/>
                <a:cs typeface="Arial"/>
              </a:rPr>
              <a:t>Inertia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is </a:t>
            </a: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a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measure </a:t>
            </a:r>
            <a:r>
              <a:rPr dirty="0" sz="1800" spc="-20" b="1">
                <a:solidFill>
                  <a:srgbClr val="C2132D"/>
                </a:solidFill>
                <a:latin typeface="Arial"/>
                <a:cs typeface="Arial"/>
              </a:rPr>
              <a:t>of </a:t>
            </a:r>
            <a:r>
              <a:rPr dirty="0" sz="1800" spc="-85" b="1">
                <a:solidFill>
                  <a:srgbClr val="C2132D"/>
                </a:solidFill>
                <a:latin typeface="Arial"/>
                <a:cs typeface="Arial"/>
              </a:rPr>
              <a:t>how 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internally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coherent 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clusters </a:t>
            </a: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are; </a:t>
            </a:r>
            <a:r>
              <a:rPr dirty="0" sz="1800" spc="-85" b="1">
                <a:solidFill>
                  <a:srgbClr val="C2132D"/>
                </a:solidFill>
                <a:latin typeface="Arial"/>
                <a:cs typeface="Arial"/>
              </a:rPr>
              <a:t>however, </a:t>
            </a:r>
            <a:r>
              <a:rPr dirty="0" sz="1800" spc="-10" b="1">
                <a:solidFill>
                  <a:srgbClr val="C2132D"/>
                </a:solidFill>
                <a:latin typeface="Arial"/>
                <a:cs typeface="Arial"/>
              </a:rPr>
              <a:t>it </a:t>
            </a: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suffers from </a:t>
            </a: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various  drawbacks:</a:t>
            </a:r>
            <a:endParaRPr sz="1800">
              <a:latin typeface="Arial"/>
              <a:cs typeface="Arial"/>
            </a:endParaRPr>
          </a:p>
          <a:p>
            <a:pPr marL="393065" marR="231775" indent="-133985">
              <a:lnSpc>
                <a:spcPct val="118100"/>
              </a:lnSpc>
              <a:spcBef>
                <a:spcPts val="172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Inertia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makes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assumption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clusters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convex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isotropic,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which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always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case.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responds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poorly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elongated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clusters,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manifolds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irregular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shapes.</a:t>
            </a:r>
            <a:endParaRPr sz="1800">
              <a:latin typeface="Arial"/>
              <a:cs typeface="Arial"/>
            </a:endParaRPr>
          </a:p>
          <a:p>
            <a:pPr marL="393065" marR="508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Inertia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not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normalized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metric: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just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know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lower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values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better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zero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 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optimal.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But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very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high-dimensional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spaces,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Euclidean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distances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tend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become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inflated.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1480819"/>
            <a:ext cx="9251315" cy="9874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35"/>
              </a:spcBef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-means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algorithm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clusters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by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trying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separate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samples in </a:t>
            </a:r>
            <a:r>
              <a:rPr dirty="0" sz="1650" spc="160" i="1">
                <a:solidFill>
                  <a:srgbClr val="585D60"/>
                </a:solidFill>
                <a:latin typeface="Arial"/>
                <a:cs typeface="Arial"/>
              </a:rPr>
              <a:t>n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groups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equal 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variance,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minimizing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criterion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known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Arial"/>
                <a:cs typeface="Arial"/>
              </a:rPr>
              <a:t>inertia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within-cluster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Arial"/>
                <a:cs typeface="Arial"/>
              </a:rPr>
              <a:t>sum-of-squares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(see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below).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This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algorithm</a:t>
            </a:r>
            <a:r>
              <a:rPr dirty="0" sz="1800" spc="-3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requires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number </a:t>
            </a:r>
            <a:r>
              <a:rPr dirty="0" sz="1800" spc="-20" b="1">
                <a:solidFill>
                  <a:srgbClr val="C2132D"/>
                </a:solidFill>
                <a:latin typeface="Arial"/>
                <a:cs typeface="Arial"/>
              </a:rPr>
              <a:t>of 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clusters to </a:t>
            </a: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be 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specified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0556" y="2492375"/>
            <a:ext cx="415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7777" sz="2700" spc="555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sz="1150" spc="370" i="1">
                <a:solidFill>
                  <a:srgbClr val="585D60"/>
                </a:solidFill>
                <a:latin typeface="Arial"/>
                <a:cs typeface="Arial"/>
              </a:rPr>
              <a:t>n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17504" y="2740405"/>
            <a:ext cx="28829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80" i="1">
                <a:solidFill>
                  <a:srgbClr val="585D60"/>
                </a:solidFill>
                <a:latin typeface="Arial"/>
                <a:cs typeface="Arial"/>
              </a:rPr>
              <a:t>i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0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85196" y="2711830"/>
            <a:ext cx="45275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150" spc="80" i="1">
                <a:solidFill>
                  <a:srgbClr val="585D60"/>
                </a:solidFill>
                <a:latin typeface="Arial"/>
                <a:cs typeface="Arial"/>
              </a:rPr>
              <a:t>μ</a:t>
            </a:r>
            <a:r>
              <a:rPr dirty="0" baseline="-10416" sz="1200" spc="120" i="1">
                <a:solidFill>
                  <a:srgbClr val="585D60"/>
                </a:solidFill>
                <a:latin typeface="Arial"/>
                <a:cs typeface="Arial"/>
              </a:rPr>
              <a:t>j</a:t>
            </a:r>
            <a:r>
              <a:rPr dirty="0" sz="1250" spc="80">
                <a:solidFill>
                  <a:srgbClr val="585D60"/>
                </a:solidFill>
                <a:latin typeface="Lucida Sans Unicode"/>
                <a:cs typeface="Lucida Sans Unicode"/>
              </a:rPr>
              <a:t>∈</a:t>
            </a:r>
            <a:r>
              <a:rPr dirty="0" sz="1150" spc="80" i="1">
                <a:solidFill>
                  <a:srgbClr val="585D60"/>
                </a:solidFill>
                <a:latin typeface="Arial"/>
                <a:cs typeface="Arial"/>
              </a:rPr>
              <a:t>C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4048" y="2606675"/>
            <a:ext cx="2083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13435" algn="l"/>
              </a:tabLst>
            </a:pPr>
            <a:r>
              <a:rPr dirty="0" sz="1800" spc="-110">
                <a:solidFill>
                  <a:srgbClr val="585D60"/>
                </a:solidFill>
                <a:latin typeface="Lucida Sans Unicode"/>
                <a:cs typeface="Lucida Sans Unicode"/>
              </a:rPr>
              <a:t>min	</a:t>
            </a:r>
            <a:r>
              <a:rPr dirty="0" sz="1800" spc="30">
                <a:solidFill>
                  <a:srgbClr val="585D60"/>
                </a:solidFill>
                <a:latin typeface="Lucida Sans Unicode"/>
                <a:cs typeface="Lucida Sans Unicode"/>
              </a:rPr>
              <a:t>(||</a:t>
            </a:r>
            <a:r>
              <a:rPr dirty="0" sz="1650" spc="30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baseline="-12077" sz="1725" spc="44" i="1">
                <a:solidFill>
                  <a:srgbClr val="585D60"/>
                </a:solidFill>
                <a:latin typeface="Arial"/>
                <a:cs typeface="Arial"/>
              </a:rPr>
              <a:t>i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43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0" i="1">
                <a:solidFill>
                  <a:srgbClr val="585D60"/>
                </a:solidFill>
                <a:latin typeface="Arial"/>
                <a:cs typeface="Arial"/>
              </a:rPr>
              <a:t>μ</a:t>
            </a:r>
            <a:r>
              <a:rPr dirty="0" baseline="-12077" sz="1725" spc="60" i="1">
                <a:solidFill>
                  <a:srgbClr val="585D60"/>
                </a:solidFill>
                <a:latin typeface="Arial"/>
                <a:cs typeface="Arial"/>
              </a:rPr>
              <a:t>j</a:t>
            </a:r>
            <a:r>
              <a:rPr dirty="0" sz="1800" spc="40">
                <a:solidFill>
                  <a:srgbClr val="585D60"/>
                </a:solidFill>
                <a:latin typeface="Lucida Sans Unicode"/>
                <a:cs typeface="Lucida Sans Unicode"/>
              </a:rPr>
              <a:t>||</a:t>
            </a:r>
            <a:r>
              <a:rPr dirty="0" baseline="40000" sz="1875" spc="60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800" spc="4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6176962"/>
            <a:ext cx="6029325" cy="0"/>
          </a:xfrm>
          <a:custGeom>
            <a:avLst/>
            <a:gdLst/>
            <a:ahLst/>
            <a:cxnLst/>
            <a:rect l="l" t="t" r="r" b="b"/>
            <a:pathLst>
              <a:path w="6029325" h="0">
                <a:moveTo>
                  <a:pt x="0" y="0"/>
                </a:moveTo>
                <a:lnTo>
                  <a:pt x="60293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6186487"/>
            <a:ext cx="6029325" cy="0"/>
          </a:xfrm>
          <a:custGeom>
            <a:avLst/>
            <a:gdLst/>
            <a:ahLst/>
            <a:cxnLst/>
            <a:rect l="l" t="t" r="r" b="b"/>
            <a:pathLst>
              <a:path w="6029325" h="0">
                <a:moveTo>
                  <a:pt x="0" y="0"/>
                </a:moveTo>
                <a:lnTo>
                  <a:pt x="60293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342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15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01700" y="6274743"/>
            <a:ext cx="605028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Clustering </a:t>
            </a:r>
            <a:r>
              <a:rPr dirty="0" sz="850" spc="-165">
                <a:solidFill>
                  <a:srgbClr val="585D60"/>
                </a:solidFill>
                <a:latin typeface="Arial"/>
                <a:cs typeface="Arial"/>
              </a:rPr>
              <a:t>—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scikit-learn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1.0.2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documentation</a:t>
            </a:r>
            <a:r>
              <a:rPr dirty="0" sz="85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https://scikit-learn.org/stable/modules/clustering.html#$k$-means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46252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65"/>
              <a:t>The </a:t>
            </a:r>
            <a:r>
              <a:rPr dirty="0" spc="-114"/>
              <a:t>Steps </a:t>
            </a:r>
            <a:r>
              <a:rPr dirty="0" spc="-170"/>
              <a:t>of </a:t>
            </a:r>
            <a:r>
              <a:rPr dirty="0" spc="-320"/>
              <a:t>the </a:t>
            </a:r>
            <a:r>
              <a:rPr dirty="0" sz="2900" spc="-95" i="1">
                <a:latin typeface="Garamond"/>
                <a:cs typeface="Garamond"/>
              </a:rPr>
              <a:t>k</a:t>
            </a:r>
            <a:r>
              <a:rPr dirty="0" spc="-95"/>
              <a:t>-means</a:t>
            </a:r>
            <a:r>
              <a:rPr dirty="0" spc="-625"/>
              <a:t> </a:t>
            </a:r>
            <a:r>
              <a:rPr dirty="0" spc="-220"/>
              <a:t>Algorithm</a:t>
            </a:r>
            <a:endParaRPr sz="29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9646285" cy="3433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basic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terms,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algorithm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has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three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steps.</a:t>
            </a:r>
            <a:endParaRPr sz="1800">
              <a:latin typeface="Arial"/>
              <a:cs typeface="Arial"/>
            </a:endParaRPr>
          </a:p>
          <a:p>
            <a:pPr algn="just" marL="393065" marR="5080" indent="-133985">
              <a:lnSpc>
                <a:spcPct val="116300"/>
              </a:lnSpc>
              <a:spcBef>
                <a:spcPts val="183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Step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0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chooses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initial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centroids,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most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basic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method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being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choose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2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samples 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dataset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385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sz="1650" spc="4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.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After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initialization,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-means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consists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looping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between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remaining 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two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steps.</a:t>
            </a:r>
            <a:endParaRPr sz="1800">
              <a:latin typeface="Arial"/>
              <a:cs typeface="Arial"/>
            </a:endParaRPr>
          </a:p>
          <a:p>
            <a:pPr algn="just"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Step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1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assigns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each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sample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its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nearest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centroid.</a:t>
            </a:r>
            <a:endParaRPr sz="1800">
              <a:latin typeface="Arial"/>
              <a:cs typeface="Arial"/>
            </a:endParaRPr>
          </a:p>
          <a:p>
            <a:pPr marL="393065" marR="367030" indent="-133985">
              <a:lnSpc>
                <a:spcPct val="116300"/>
              </a:lnSpc>
              <a:spcBef>
                <a:spcPts val="94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Step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2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creates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new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centroids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taking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mean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value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all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samples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assigned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each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previous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centroid.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between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old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new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centroids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 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computed.</a:t>
            </a:r>
            <a:endParaRPr sz="1800">
              <a:latin typeface="Arial"/>
              <a:cs typeface="Arial"/>
            </a:endParaRPr>
          </a:p>
          <a:p>
            <a:pPr marL="393065">
              <a:lnSpc>
                <a:spcPct val="100000"/>
              </a:lnSpc>
              <a:spcBef>
                <a:spcPts val="1290"/>
              </a:spcBef>
            </a:pPr>
            <a:r>
              <a:rPr dirty="0" sz="1800" spc="-35" b="1">
                <a:solidFill>
                  <a:srgbClr val="C2132D"/>
                </a:solidFill>
                <a:latin typeface="Arial"/>
                <a:cs typeface="Arial"/>
              </a:rPr>
              <a:t>The 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algorithm repeats these </a:t>
            </a:r>
            <a:r>
              <a:rPr dirty="0" sz="1800" spc="-35" b="1">
                <a:solidFill>
                  <a:srgbClr val="C2132D"/>
                </a:solidFill>
                <a:latin typeface="Arial"/>
                <a:cs typeface="Arial"/>
              </a:rPr>
              <a:t>last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two steps </a:t>
            </a: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the </a:t>
            </a: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centroids </a:t>
            </a:r>
            <a:r>
              <a:rPr dirty="0" sz="1800" spc="-85" b="1">
                <a:solidFill>
                  <a:srgbClr val="C2132D"/>
                </a:solidFill>
                <a:latin typeface="Arial"/>
                <a:cs typeface="Arial"/>
              </a:rPr>
              <a:t>do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not </a:t>
            </a: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move</a:t>
            </a:r>
            <a:r>
              <a:rPr dirty="0" sz="1800" spc="-7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significantly.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6176962"/>
            <a:ext cx="6029325" cy="0"/>
          </a:xfrm>
          <a:custGeom>
            <a:avLst/>
            <a:gdLst/>
            <a:ahLst/>
            <a:cxnLst/>
            <a:rect l="l" t="t" r="r" b="b"/>
            <a:pathLst>
              <a:path w="6029325" h="0">
                <a:moveTo>
                  <a:pt x="0" y="0"/>
                </a:moveTo>
                <a:lnTo>
                  <a:pt x="60293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6029325" cy="0"/>
          </a:xfrm>
          <a:custGeom>
            <a:avLst/>
            <a:gdLst/>
            <a:ahLst/>
            <a:cxnLst/>
            <a:rect l="l" t="t" r="r" b="b"/>
            <a:pathLst>
              <a:path w="6029325" h="0">
                <a:moveTo>
                  <a:pt x="0" y="0"/>
                </a:moveTo>
                <a:lnTo>
                  <a:pt x="60293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342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15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605028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Clustering </a:t>
            </a:r>
            <a:r>
              <a:rPr dirty="0" sz="850" spc="-165">
                <a:solidFill>
                  <a:srgbClr val="585D60"/>
                </a:solidFill>
                <a:latin typeface="Arial"/>
                <a:cs typeface="Arial"/>
              </a:rPr>
              <a:t>—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scikit-learn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1.0.2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documentation</a:t>
            </a:r>
            <a:r>
              <a:rPr dirty="0" sz="85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https://scikit-learn.org/stable/modules/clustering.html#$k$-means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029199" y="2286000"/>
          <a:ext cx="1471930" cy="2838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6300"/>
                <a:gridCol w="295275"/>
                <a:gridCol w="285750"/>
              </a:tblGrid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Observation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X2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1.0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1.0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1.5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2.0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19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7.0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4.5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4.5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73747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10"/>
              <a:t>Out-Of-Class </a:t>
            </a:r>
            <a:r>
              <a:rPr dirty="0" spc="-280"/>
              <a:t>Activity: </a:t>
            </a:r>
            <a:r>
              <a:rPr dirty="0" spc="-150"/>
              <a:t>Finish </a:t>
            </a:r>
            <a:r>
              <a:rPr dirty="0" spc="-290"/>
              <a:t>by</a:t>
            </a:r>
            <a:r>
              <a:rPr dirty="0" spc="-555"/>
              <a:t> </a:t>
            </a:r>
            <a:r>
              <a:rPr dirty="0" spc="-260"/>
              <a:t>Friday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1700" y="1480819"/>
            <a:ext cx="932688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Use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-means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algorithm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cluster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following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observations. 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Use </a:t>
            </a:r>
            <a:r>
              <a:rPr dirty="0" sz="1650" spc="110" i="1">
                <a:solidFill>
                  <a:srgbClr val="585D60"/>
                </a:solidFill>
                <a:latin typeface="Arial"/>
                <a:cs typeface="Arial"/>
              </a:rPr>
              <a:t>k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2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Euclidean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distance. </a:t>
            </a:r>
            <a:r>
              <a:rPr dirty="0" sz="1800" spc="-75" b="1">
                <a:solidFill>
                  <a:srgbClr val="C2132D"/>
                </a:solidFill>
                <a:latin typeface="Arial"/>
                <a:cs typeface="Arial"/>
              </a:rPr>
              <a:t>Use </a:t>
            </a:r>
            <a:r>
              <a:rPr dirty="0" sz="1800" spc="-20" b="1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this </a:t>
            </a:r>
            <a:r>
              <a:rPr dirty="0" sz="1800" spc="-45" b="1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handout 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to </a:t>
            </a:r>
            <a:r>
              <a:rPr dirty="0" sz="1800" spc="-80" b="1">
                <a:solidFill>
                  <a:srgbClr val="C2132D"/>
                </a:solidFill>
                <a:latin typeface="Arial"/>
                <a:cs typeface="Arial"/>
              </a:rPr>
              <a:t>go </a:t>
            </a:r>
            <a:r>
              <a:rPr dirty="0" sz="1800" spc="-75" b="1">
                <a:solidFill>
                  <a:srgbClr val="C2132D"/>
                </a:solidFill>
                <a:latin typeface="Arial"/>
                <a:cs typeface="Arial"/>
              </a:rPr>
              <a:t>through </a:t>
            </a: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the </a:t>
            </a:r>
            <a:r>
              <a:rPr dirty="0" sz="1250" spc="15" i="1">
                <a:solidFill>
                  <a:srgbClr val="C2132D"/>
                </a:solidFill>
                <a:latin typeface="Garamond"/>
                <a:cs typeface="Garamond"/>
              </a:rPr>
              <a:t>k</a:t>
            </a:r>
            <a:r>
              <a:rPr dirty="0" sz="1800" spc="15" b="1">
                <a:solidFill>
                  <a:srgbClr val="C2132D"/>
                </a:solidFill>
                <a:latin typeface="Arial"/>
                <a:cs typeface="Arial"/>
              </a:rPr>
              <a:t>-means 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algorithm implementation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(by</a:t>
            </a:r>
            <a:r>
              <a:rPr dirty="0" sz="1800" spc="-21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hand).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6205537"/>
            <a:ext cx="8477250" cy="0"/>
          </a:xfrm>
          <a:custGeom>
            <a:avLst/>
            <a:gdLst/>
            <a:ahLst/>
            <a:cxnLst/>
            <a:rect l="l" t="t" r="r" b="b"/>
            <a:pathLst>
              <a:path w="8477250" h="0">
                <a:moveTo>
                  <a:pt x="0" y="0"/>
                </a:moveTo>
                <a:lnTo>
                  <a:pt x="847724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6215062"/>
            <a:ext cx="8477250" cy="0"/>
          </a:xfrm>
          <a:custGeom>
            <a:avLst/>
            <a:gdLst/>
            <a:ahLst/>
            <a:cxnLst/>
            <a:rect l="l" t="t" r="r" b="b"/>
            <a:pathLst>
              <a:path w="8477250" h="0">
                <a:moveTo>
                  <a:pt x="0" y="0"/>
                </a:moveTo>
                <a:lnTo>
                  <a:pt x="847724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382125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6287356"/>
            <a:ext cx="8505825" cy="2133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50" spc="-40" b="1">
                <a:solidFill>
                  <a:srgbClr val="C2132D"/>
                </a:solidFill>
                <a:latin typeface="Arial"/>
                <a:cs typeface="Arial"/>
              </a:rPr>
              <a:t>Solution:</a:t>
            </a:r>
            <a:r>
              <a:rPr dirty="0" sz="1250" spc="-3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585D60"/>
                </a:solidFill>
                <a:latin typeface="Arial"/>
                <a:cs typeface="Arial"/>
              </a:rPr>
              <a:t>Once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85D60"/>
                </a:solidFill>
                <a:latin typeface="Arial"/>
                <a:cs typeface="Arial"/>
              </a:rPr>
              <a:t>you</a:t>
            </a:r>
            <a:r>
              <a:rPr dirty="0" sz="12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585D60"/>
                </a:solidFill>
                <a:latin typeface="Arial"/>
                <a:cs typeface="Arial"/>
              </a:rPr>
              <a:t>complete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2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handout,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85D60"/>
                </a:solidFill>
                <a:latin typeface="Arial"/>
                <a:cs typeface="Arial"/>
              </a:rPr>
              <a:t>you</a:t>
            </a:r>
            <a:r>
              <a:rPr dirty="0" sz="12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5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585D60"/>
                </a:solidFill>
                <a:latin typeface="Arial"/>
                <a:cs typeface="Arial"/>
              </a:rPr>
              <a:t>check</a:t>
            </a:r>
            <a:r>
              <a:rPr dirty="0" sz="12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your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585D60"/>
                </a:solidFill>
                <a:latin typeface="Arial"/>
                <a:cs typeface="Arial"/>
              </a:rPr>
              <a:t>solution</a:t>
            </a:r>
            <a:r>
              <a:rPr dirty="0" sz="12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(starting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40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2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85D60"/>
                </a:solidFill>
                <a:latin typeface="Arial"/>
                <a:cs typeface="Arial"/>
              </a:rPr>
              <a:t>Saturday)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15">
                <a:solidFill>
                  <a:srgbClr val="585D60"/>
                </a:solidFill>
                <a:latin typeface="Arial"/>
                <a:cs typeface="Arial"/>
              </a:rPr>
              <a:t>downloading</a:t>
            </a:r>
            <a:r>
              <a:rPr dirty="0" sz="12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this</a:t>
            </a:r>
            <a:r>
              <a:rPr dirty="0" sz="1250" spc="-6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1250" spc="-4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file</a:t>
            </a:r>
            <a:r>
              <a:rPr dirty="0" sz="1250" spc="-4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43153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15"/>
              <a:t>Practical </a:t>
            </a:r>
            <a:r>
              <a:rPr dirty="0"/>
              <a:t>Issues </a:t>
            </a:r>
            <a:r>
              <a:rPr dirty="0" spc="-315"/>
              <a:t>with </a:t>
            </a:r>
            <a:r>
              <a:rPr dirty="0" sz="2900" spc="-95" i="1">
                <a:latin typeface="Garamond"/>
                <a:cs typeface="Garamond"/>
              </a:rPr>
              <a:t>k</a:t>
            </a:r>
            <a:r>
              <a:rPr dirty="0" spc="-95"/>
              <a:t>-means</a:t>
            </a:r>
            <a:r>
              <a:rPr dirty="0" spc="-655"/>
              <a:t> </a:t>
            </a:r>
            <a:r>
              <a:rPr dirty="0" spc="-195"/>
              <a:t>Clustering</a:t>
            </a:r>
            <a:endParaRPr sz="2900">
              <a:latin typeface="Garamond"/>
              <a:cs typeface="Garamon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228850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3276600"/>
            <a:ext cx="9696450" cy="2571750"/>
          </a:xfrm>
          <a:custGeom>
            <a:avLst/>
            <a:gdLst/>
            <a:ahLst/>
            <a:cxnLst/>
            <a:rect l="l" t="t" r="r" b="b"/>
            <a:pathLst>
              <a:path w="9696450" h="2571750">
                <a:moveTo>
                  <a:pt x="0" y="0"/>
                </a:moveTo>
                <a:lnTo>
                  <a:pt x="9696449" y="0"/>
                </a:lnTo>
                <a:lnTo>
                  <a:pt x="9696449" y="2571749"/>
                </a:lnTo>
                <a:lnTo>
                  <a:pt x="0" y="2571749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14400" y="2466975"/>
            <a:ext cx="9696450" cy="62865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69850" rIns="0" bIns="0" rtlCol="0" vert="horz">
            <a:spAutoFit/>
          </a:bodyPr>
          <a:lstStyle/>
          <a:p>
            <a:pPr marL="86360">
              <a:lnSpc>
                <a:spcPct val="100000"/>
              </a:lnSpc>
              <a:spcBef>
                <a:spcPts val="550"/>
              </a:spcBef>
            </a:pPr>
            <a:r>
              <a:rPr dirty="0" sz="1100" spc="-5">
                <a:latin typeface="Courier New"/>
                <a:cs typeface="Courier New"/>
              </a:rPr>
              <a:t>penguins_tbl = palmerpenguins::penguins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 our data for</a:t>
            </a:r>
            <a:r>
              <a:rPr dirty="0" sz="1100" spc="-1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today</a:t>
            </a:r>
            <a:endParaRPr sz="1100">
              <a:latin typeface="Courier New"/>
              <a:cs typeface="Courier New"/>
            </a:endParaRPr>
          </a:p>
          <a:p>
            <a:pPr marL="86360">
              <a:lnSpc>
                <a:spcPct val="100000"/>
              </a:lnSpc>
              <a:spcBef>
                <a:spcPts val="1005"/>
              </a:spcBef>
            </a:pPr>
            <a:r>
              <a:rPr dirty="0" sz="1100" spc="-5">
                <a:latin typeface="Courier New"/>
                <a:cs typeface="Courier New"/>
              </a:rPr>
              <a:t>penguins_tbl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 printing it</a:t>
            </a:r>
            <a:r>
              <a:rPr dirty="0" sz="1100" spc="-1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out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1166" y="3334480"/>
            <a:ext cx="1847214" cy="192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 # A tibble: 344 ×</a:t>
            </a:r>
            <a:r>
              <a:rPr dirty="0" sz="1100" spc="-8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8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1457" y="3496405"/>
            <a:ext cx="1180465" cy="192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species</a:t>
            </a:r>
            <a:r>
              <a:rPr dirty="0" sz="1100" spc="-8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island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2330" y="3496405"/>
            <a:ext cx="4848860" cy="192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bill_length_mm bill_depth_mm flipper_length_mm</a:t>
            </a:r>
            <a:r>
              <a:rPr dirty="0" sz="1100" spc="-2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body_mass_g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1166" y="3496405"/>
            <a:ext cx="1013460" cy="163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</a:t>
            </a:r>
            <a:endParaRPr sz="1100">
              <a:latin typeface="Courier New"/>
              <a:cs typeface="Courier New"/>
            </a:endParaRPr>
          </a:p>
          <a:p>
            <a:pPr marR="5080">
              <a:lnSpc>
                <a:spcPts val="1280"/>
              </a:lnSpc>
              <a:spcBef>
                <a:spcPts val="50"/>
              </a:spcBef>
              <a:tabLst>
                <a:tab pos="333375" algn="l"/>
                <a:tab pos="499745" algn="l"/>
              </a:tabLst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		&lt;fct&gt;  ##	1</a:t>
            </a:r>
            <a:r>
              <a:rPr dirty="0" sz="1100" spc="-9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Adelie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135"/>
              </a:lnSpc>
              <a:tabLst>
                <a:tab pos="333375" algn="l"/>
              </a:tabLst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	2</a:t>
            </a:r>
            <a:r>
              <a:rPr dirty="0" sz="1100" spc="-9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Adelie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75"/>
              </a:lnSpc>
              <a:tabLst>
                <a:tab pos="333375" algn="l"/>
              </a:tabLst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	3</a:t>
            </a:r>
            <a:r>
              <a:rPr dirty="0" sz="1100" spc="-9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Adelie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75"/>
              </a:lnSpc>
              <a:tabLst>
                <a:tab pos="333375" algn="l"/>
              </a:tabLst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	4</a:t>
            </a:r>
            <a:r>
              <a:rPr dirty="0" sz="1100" spc="-9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Adelie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40"/>
              </a:lnSpc>
              <a:tabLst>
                <a:tab pos="333375" algn="l"/>
              </a:tabLst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	5</a:t>
            </a:r>
            <a:r>
              <a:rPr dirty="0" sz="1100" spc="-9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Adelie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40"/>
              </a:lnSpc>
              <a:tabLst>
                <a:tab pos="333375" algn="l"/>
              </a:tabLst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	6</a:t>
            </a:r>
            <a:r>
              <a:rPr dirty="0" sz="1100" spc="-9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Adelie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75"/>
              </a:lnSpc>
              <a:tabLst>
                <a:tab pos="333375" algn="l"/>
              </a:tabLst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	7</a:t>
            </a:r>
            <a:r>
              <a:rPr dirty="0" sz="1100" spc="-9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Adelie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  <a:tabLst>
                <a:tab pos="333375" algn="l"/>
              </a:tabLst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	8</a:t>
            </a:r>
            <a:r>
              <a:rPr dirty="0" sz="1100" spc="-9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Adelie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1166" y="5096605"/>
            <a:ext cx="1013460" cy="192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33375" algn="l"/>
              </a:tabLst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	9</a:t>
            </a:r>
            <a:r>
              <a:rPr dirty="0" sz="1100" spc="-8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Adelie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68512" y="3658330"/>
            <a:ext cx="763270" cy="163068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R="5080">
              <a:lnSpc>
                <a:spcPct val="95300"/>
              </a:lnSpc>
              <a:spcBef>
                <a:spcPts val="155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&lt;fct&gt; 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Torgersen  Torgersen  Torgersen  Torgersen  Torgersen  Torgersen  Torgersen  Torgersen  Torgersen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1166" y="5258530"/>
            <a:ext cx="1931035" cy="192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167130" algn="l"/>
              </a:tabLst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10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Adelie</a:t>
            </a:r>
            <a:r>
              <a:rPr dirty="0" sz="1100">
                <a:solidFill>
                  <a:srgbClr val="777777"/>
                </a:solidFill>
                <a:latin typeface="Courier New"/>
                <a:cs typeface="Courier New"/>
              </a:rPr>
              <a:t>	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Torgersen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52767" y="3658330"/>
            <a:ext cx="429895" cy="179260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83185" marR="5080" indent="-83820">
              <a:lnSpc>
                <a:spcPts val="1280"/>
              </a:lnSpc>
              <a:spcBef>
                <a:spcPts val="170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&lt;dbl&gt;  39.1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13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39.5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40.3</a:t>
            </a:r>
            <a:endParaRPr sz="1100">
              <a:latin typeface="Courier New"/>
              <a:cs typeface="Courier New"/>
            </a:endParaRPr>
          </a:p>
          <a:p>
            <a:pPr marL="83185" marR="5080">
              <a:lnSpc>
                <a:spcPts val="1280"/>
              </a:lnSpc>
              <a:spcBef>
                <a:spcPts val="50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NA 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36.7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13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39.3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38.9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39.2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34.1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300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42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0112" y="3658330"/>
            <a:ext cx="429895" cy="179260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83185" marR="5080" indent="-83820">
              <a:lnSpc>
                <a:spcPts val="1280"/>
              </a:lnSpc>
              <a:spcBef>
                <a:spcPts val="170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&lt;dbl&gt;  18.7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13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17.4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18</a:t>
            </a:r>
            <a:endParaRPr sz="1100">
              <a:latin typeface="Courier New"/>
              <a:cs typeface="Courier New"/>
            </a:endParaRPr>
          </a:p>
          <a:p>
            <a:pPr marL="83185" marR="5080">
              <a:lnSpc>
                <a:spcPts val="1280"/>
              </a:lnSpc>
              <a:spcBef>
                <a:spcPts val="50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NA 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19.3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13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20.6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17.8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19.6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18.1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300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20.2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20985" y="3658330"/>
            <a:ext cx="429895" cy="1792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&lt;int&gt;</a:t>
            </a:r>
            <a:endParaRPr sz="1100">
              <a:latin typeface="Courier New"/>
              <a:cs typeface="Courier New"/>
            </a:endParaRPr>
          </a:p>
          <a:p>
            <a:pPr algn="r" marR="5080">
              <a:lnSpc>
                <a:spcPts val="1240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181</a:t>
            </a:r>
            <a:endParaRPr sz="1100">
              <a:latin typeface="Courier New"/>
              <a:cs typeface="Courier New"/>
            </a:endParaRPr>
          </a:p>
          <a:p>
            <a:pPr algn="r" marR="5080">
              <a:lnSpc>
                <a:spcPts val="1240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186</a:t>
            </a:r>
            <a:endParaRPr sz="1100">
              <a:latin typeface="Courier New"/>
              <a:cs typeface="Courier New"/>
            </a:endParaRPr>
          </a:p>
          <a:p>
            <a:pPr algn="r" marR="5080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195</a:t>
            </a:r>
            <a:endParaRPr sz="1100">
              <a:latin typeface="Courier New"/>
              <a:cs typeface="Courier New"/>
            </a:endParaRPr>
          </a:p>
          <a:p>
            <a:pPr marL="166370" marR="5080" indent="83185">
              <a:lnSpc>
                <a:spcPts val="1280"/>
              </a:lnSpc>
              <a:spcBef>
                <a:spcPts val="50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NA  193</a:t>
            </a:r>
            <a:endParaRPr sz="1100">
              <a:latin typeface="Courier New"/>
              <a:cs typeface="Courier New"/>
            </a:endParaRPr>
          </a:p>
          <a:p>
            <a:pPr marL="166370">
              <a:lnSpc>
                <a:spcPts val="113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190</a:t>
            </a:r>
            <a:endParaRPr sz="1100">
              <a:latin typeface="Courier New"/>
              <a:cs typeface="Courier New"/>
            </a:endParaRPr>
          </a:p>
          <a:p>
            <a:pPr marL="166370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181</a:t>
            </a:r>
            <a:endParaRPr sz="1100">
              <a:latin typeface="Courier New"/>
              <a:cs typeface="Courier New"/>
            </a:endParaRPr>
          </a:p>
          <a:p>
            <a:pPr marL="166370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195</a:t>
            </a:r>
            <a:endParaRPr sz="1100">
              <a:latin typeface="Courier New"/>
              <a:cs typeface="Courier New"/>
            </a:endParaRPr>
          </a:p>
          <a:p>
            <a:pPr marL="166370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193</a:t>
            </a:r>
            <a:endParaRPr sz="1100">
              <a:latin typeface="Courier New"/>
              <a:cs typeface="Courier New"/>
            </a:endParaRPr>
          </a:p>
          <a:p>
            <a:pPr marL="166370">
              <a:lnSpc>
                <a:spcPts val="1300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190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21567" y="3658330"/>
            <a:ext cx="429895" cy="179260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83185" marR="5080" indent="-83820">
              <a:lnSpc>
                <a:spcPts val="1280"/>
              </a:lnSpc>
              <a:spcBef>
                <a:spcPts val="170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&lt;int&gt;  3750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13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3800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3250</a:t>
            </a:r>
            <a:endParaRPr sz="1100">
              <a:latin typeface="Courier New"/>
              <a:cs typeface="Courier New"/>
            </a:endParaRPr>
          </a:p>
          <a:p>
            <a:pPr marL="83185" marR="5080" indent="166370">
              <a:lnSpc>
                <a:spcPts val="1280"/>
              </a:lnSpc>
              <a:spcBef>
                <a:spcPts val="50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NA  3450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13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3650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3625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4675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27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3475</a:t>
            </a:r>
            <a:endParaRPr sz="1100">
              <a:latin typeface="Courier New"/>
              <a:cs typeface="Courier New"/>
            </a:endParaRPr>
          </a:p>
          <a:p>
            <a:pPr marL="83185">
              <a:lnSpc>
                <a:spcPts val="1300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4250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1166" y="5410930"/>
            <a:ext cx="3810635" cy="354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 # </a:t>
            </a:r>
            <a:r>
              <a:rPr dirty="0" sz="1100" spc="-5">
                <a:solidFill>
                  <a:srgbClr val="777777"/>
                </a:solidFill>
                <a:latin typeface="Times New Roman"/>
                <a:cs typeface="Times New Roman"/>
              </a:rPr>
              <a:t>ℹ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334 more</a:t>
            </a:r>
            <a:r>
              <a:rPr dirty="0" sz="1100" spc="-17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rows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95"/>
              </a:lnSpc>
            </a:pP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## # </a:t>
            </a:r>
            <a:r>
              <a:rPr dirty="0" sz="1100" spc="-5">
                <a:solidFill>
                  <a:srgbClr val="777777"/>
                </a:solidFill>
                <a:latin typeface="Times New Roman"/>
                <a:cs typeface="Times New Roman"/>
              </a:rPr>
              <a:t>ℹ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2 more variables: sex &lt;fct&gt;, year</a:t>
            </a:r>
            <a:r>
              <a:rPr dirty="0" sz="1100" spc="-204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777777"/>
                </a:solidFill>
                <a:latin typeface="Courier New"/>
                <a:cs typeface="Courier New"/>
              </a:rPr>
              <a:t>&lt;int&gt;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14400" y="1657350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4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14400" y="2228850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4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130300" y="1778000"/>
            <a:ext cx="64312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2975" algn="l"/>
                <a:tab pos="1869439" algn="l"/>
                <a:tab pos="3780790" algn="l"/>
                <a:tab pos="5207000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  <a:hlinkClick r:id="rId2"/>
              </a:rPr>
              <a:t>Data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  <a:hlinkClick r:id="rId3"/>
              </a:rPr>
              <a:t>Prep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k-means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(k=3)	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  <a:hlinkClick r:id="rId4"/>
              </a:rPr>
              <a:t>Optimal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  <a:hlinkClick r:id="rId4"/>
              </a:rPr>
              <a:t>k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  <a:hlinkClick r:id="rId5"/>
              </a:rPr>
              <a:t>Viz</a:t>
            </a:r>
            <a:r>
              <a:rPr dirty="0" sz="1800" spc="-125">
                <a:solidFill>
                  <a:srgbClr val="585D60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  <a:hlinkClick r:id="rId5"/>
              </a:rPr>
              <a:t>Clusters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18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18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92963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10"/>
              <a:t>Summary </a:t>
            </a:r>
            <a:r>
              <a:rPr dirty="0" spc="-170"/>
              <a:t>of </a:t>
            </a:r>
            <a:r>
              <a:rPr dirty="0" spc="-215"/>
              <a:t>Practical</a:t>
            </a:r>
            <a:r>
              <a:rPr dirty="0" spc="-555"/>
              <a:t> </a:t>
            </a:r>
            <a:r>
              <a:rPr dirty="0"/>
              <a:t>Issues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9358630" cy="441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Rescale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numeric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prior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-means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implementation.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scaling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be: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z-transformation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similar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what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did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example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0-1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scaling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converting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count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into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percentage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counts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per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certain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number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population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Use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more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one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metric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determine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110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650" spc="-1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when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-means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Your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cluster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solution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end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result,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you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need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to:</a:t>
            </a:r>
            <a:endParaRPr sz="1800">
              <a:latin typeface="Arial"/>
              <a:cs typeface="Arial"/>
            </a:endParaRPr>
          </a:p>
          <a:p>
            <a:pPr lvl="1" marL="527050" marR="13716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visualize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appropriate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way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(simple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representation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previous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slide,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spatially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-4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1800" spc="-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time-based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etc.)</a:t>
            </a:r>
            <a:endParaRPr sz="1800">
              <a:latin typeface="Arial"/>
              <a:cs typeface="Arial"/>
            </a:endParaRPr>
          </a:p>
          <a:p>
            <a:pPr lvl="1" marL="527050" marR="121920" indent="-133985">
              <a:lnSpc>
                <a:spcPct val="118100"/>
              </a:lnSpc>
              <a:spcBef>
                <a:spcPts val="819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Attempt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explain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cluster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membership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using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appropriate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binomial/multinomial 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(e.g.,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see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this</a:t>
            </a:r>
            <a:r>
              <a:rPr dirty="0" sz="1800" spc="-22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1800" spc="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analysis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18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22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1700" y="520700"/>
            <a:ext cx="4039235" cy="654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00" spc="-95" i="1">
                <a:solidFill>
                  <a:srgbClr val="C2132D"/>
                </a:solidFill>
                <a:latin typeface="Garamond"/>
                <a:cs typeface="Garamond"/>
              </a:rPr>
              <a:t>k</a:t>
            </a:r>
            <a:r>
              <a:rPr dirty="0" sz="4100" spc="-95">
                <a:solidFill>
                  <a:srgbClr val="C2132D"/>
                </a:solidFill>
                <a:latin typeface="Trebuchet MS"/>
                <a:cs typeface="Trebuchet MS"/>
              </a:rPr>
              <a:t>-means </a:t>
            </a:r>
            <a:r>
              <a:rPr dirty="0" sz="4100" spc="-235">
                <a:solidFill>
                  <a:srgbClr val="C2132D"/>
                </a:solidFill>
                <a:latin typeface="Trebuchet MS"/>
                <a:cs typeface="Trebuchet MS"/>
              </a:rPr>
              <a:t>in</a:t>
            </a:r>
            <a:r>
              <a:rPr dirty="0" sz="4100" spc="-625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-270">
                <a:solidFill>
                  <a:srgbClr val="C2132D"/>
                </a:solidFill>
                <a:latin typeface="Trebuchet MS"/>
                <a:cs typeface="Trebuchet MS"/>
              </a:rPr>
              <a:t>Tableau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80819"/>
            <a:ext cx="915352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Let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use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Tableau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implement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-means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clustering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implementation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60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sample  observations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penguins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dataset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shown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Slide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11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presentation.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pc="-1220">
                <a:solidFill>
                  <a:srgbClr val="000000"/>
                </a:solidFill>
              </a:rPr>
              <a:t>R</a:t>
            </a:r>
            <a:r>
              <a:rPr dirty="0" spc="-1220">
                <a:solidFill>
                  <a:srgbClr val="FFFFFF"/>
                </a:solidFill>
              </a:rPr>
              <a:t>R</a:t>
            </a:r>
            <a:r>
              <a:rPr dirty="0" spc="-1220">
                <a:solidFill>
                  <a:srgbClr val="000000"/>
                </a:solidFill>
              </a:rPr>
              <a:t>e</a:t>
            </a:r>
            <a:r>
              <a:rPr dirty="0" spc="-1220">
                <a:solidFill>
                  <a:srgbClr val="FFFFFF"/>
                </a:solidFill>
              </a:rPr>
              <a:t>e</a:t>
            </a:r>
            <a:r>
              <a:rPr dirty="0" spc="-1220">
                <a:solidFill>
                  <a:srgbClr val="000000"/>
                </a:solidFill>
              </a:rPr>
              <a:t>c</a:t>
            </a:r>
            <a:r>
              <a:rPr dirty="0" spc="-1220">
                <a:solidFill>
                  <a:srgbClr val="FFFFFF"/>
                </a:solidFill>
              </a:rPr>
              <a:t>c</a:t>
            </a:r>
            <a:r>
              <a:rPr dirty="0" spc="-1220">
                <a:solidFill>
                  <a:srgbClr val="000000"/>
                </a:solidFill>
              </a:rPr>
              <a:t>a</a:t>
            </a:r>
            <a:r>
              <a:rPr dirty="0" spc="-1220">
                <a:solidFill>
                  <a:srgbClr val="FFFFFF"/>
                </a:solidFill>
              </a:rPr>
              <a:t>a</a:t>
            </a:r>
            <a:r>
              <a:rPr dirty="0" spc="-1220">
                <a:solidFill>
                  <a:srgbClr val="000000"/>
                </a:solidFill>
              </a:rPr>
              <a:t>p</a:t>
            </a:r>
            <a:r>
              <a:rPr dirty="0" spc="-122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1009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10"/>
              <a:t>Summary </a:t>
            </a:r>
            <a:r>
              <a:rPr dirty="0" spc="-170"/>
              <a:t>of </a:t>
            </a:r>
            <a:r>
              <a:rPr dirty="0" spc="-110"/>
              <a:t>Main</a:t>
            </a:r>
            <a:r>
              <a:rPr dirty="0" spc="-570"/>
              <a:t> </a:t>
            </a:r>
            <a:r>
              <a:rPr dirty="0" spc="-135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5567045" cy="203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different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steps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-means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algorithm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Cluster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using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-means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(by</a:t>
            </a:r>
            <a:r>
              <a:rPr dirty="0" sz="1800" spc="-2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hand)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Cluster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using </a:t>
            </a:r>
            <a:r>
              <a:rPr dirty="0" sz="1650" spc="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-means</a:t>
            </a:r>
            <a:r>
              <a:rPr dirty="0" sz="1800" spc="-17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(software)</a:t>
            </a:r>
            <a:endParaRPr sz="1800">
              <a:latin typeface="Arial"/>
              <a:cs typeface="Arial"/>
            </a:endParaRPr>
          </a:p>
          <a:p>
            <a:pPr marL="393065">
              <a:lnSpc>
                <a:spcPct val="100000"/>
              </a:lnSpc>
              <a:spcBef>
                <a:spcPts val="1290"/>
              </a:spcBef>
            </a:pPr>
            <a:r>
              <a:rPr dirty="0" sz="1800" spc="-340">
                <a:solidFill>
                  <a:srgbClr val="C2132D"/>
                </a:solidFill>
                <a:latin typeface="Trebuchet MS"/>
                <a:cs typeface="Trebuchet MS"/>
              </a:rPr>
              <a:t>•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Tableau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6400" y="2891296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4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4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4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4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4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4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22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401: Business Intelligence &amp; Data Visualization</dc:title>
  <dcterms:created xsi:type="dcterms:W3CDTF">2025-11-20T17:31:24Z</dcterms:created>
  <dcterms:modified xsi:type="dcterms:W3CDTF">2025-11-20T17:31:24Z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2025-11-20T00:00:00Z</vt:filetime>
  </property>
  <property fmtid="{D5CDD505-2E9C-101B-9397-08002B2CF9AE}" pid="3" name="Creator">
    <vt:lpwstr>Mozilla/5.0 (Windows NT 10.0; Win64; x64) AppleWebKit/537.36 (KHTML, like Gecko) Chrome/142.0.0.0 Safari/537.36</vt:lpwstr>
  </property>
  <property fmtid="{D5CDD505-2E9C-101B-9397-08002B2CF9AE}" pid="4" name="LastSaved">
    <vt:filetime>2025-11-20T00:00:00Z</vt:filetime>
  </property>
</Properties>
</file>